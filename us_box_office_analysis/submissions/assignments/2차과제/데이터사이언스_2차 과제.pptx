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0"/>
  </p:notesMasterIdLst>
  <p:sldIdLst>
    <p:sldId id="267" r:id="rId2"/>
    <p:sldId id="285" r:id="rId3"/>
    <p:sldId id="308" r:id="rId4"/>
    <p:sldId id="309" r:id="rId5"/>
    <p:sldId id="310" r:id="rId6"/>
    <p:sldId id="307" r:id="rId7"/>
    <p:sldId id="311" r:id="rId8"/>
    <p:sldId id="312" r:id="rId9"/>
    <p:sldId id="313" r:id="rId10"/>
    <p:sldId id="322" r:id="rId11"/>
    <p:sldId id="315" r:id="rId12"/>
    <p:sldId id="316" r:id="rId13"/>
    <p:sldId id="325" r:id="rId14"/>
    <p:sldId id="326" r:id="rId15"/>
    <p:sldId id="327" r:id="rId16"/>
    <p:sldId id="329" r:id="rId17"/>
    <p:sldId id="331" r:id="rId18"/>
    <p:sldId id="302" r:id="rId19"/>
  </p:sldIdLst>
  <p:sldSz cx="18288000" cy="10287000"/>
  <p:notesSz cx="6858000" cy="9144000"/>
  <p:embeddedFontLst>
    <p:embeddedFont>
      <p:font typeface="Garet" panose="020B0600000101010101" charset="0"/>
      <p:regular r:id="rId21"/>
    </p:embeddedFont>
    <p:embeddedFont>
      <p:font typeface="Garet Bold" panose="020B0600000101010101" charset="0"/>
      <p:regular r:id="rId22"/>
    </p:embeddedFont>
    <p:embeddedFont>
      <p:font typeface="맑은 고딕" panose="020B0503020000020004" pitchFamily="50" charset="-127"/>
      <p:regular r:id="rId23"/>
      <p:bold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378" y="3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DB0EBA-193F-475B-9B78-35E031011B72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3E6B7B-5CF6-4256-862F-3321EFBB62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6448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3E6B7B-5CF6-4256-862F-3321EFBB62F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35631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855166"/>
            <a:chOff x="0" y="0"/>
            <a:chExt cx="5460189" cy="25532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460189" cy="255324"/>
            </a:xfrm>
            <a:custGeom>
              <a:avLst/>
              <a:gdLst/>
              <a:ahLst/>
              <a:cxnLst/>
              <a:rect l="l" t="t" r="r" b="b"/>
              <a:pathLst>
                <a:path w="5460189" h="255324">
                  <a:moveTo>
                    <a:pt x="0" y="0"/>
                  </a:moveTo>
                  <a:lnTo>
                    <a:pt x="5460189" y="0"/>
                  </a:lnTo>
                  <a:lnTo>
                    <a:pt x="5460189" y="255324"/>
                  </a:lnTo>
                  <a:lnTo>
                    <a:pt x="0" y="255324"/>
                  </a:lnTo>
                  <a:close/>
                </a:path>
              </a:pathLst>
            </a:custGeom>
            <a:solidFill>
              <a:srgbClr val="645D5D"/>
            </a:solidFill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460189" cy="2934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7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024650" y="383147"/>
            <a:ext cx="2448783" cy="561110"/>
            <a:chOff x="0" y="0"/>
            <a:chExt cx="3655232" cy="837553"/>
          </a:xfrm>
        </p:grpSpPr>
        <p:sp>
          <p:nvSpPr>
            <p:cNvPr id="6" name="Freeform 6"/>
            <p:cNvSpPr/>
            <p:nvPr/>
          </p:nvSpPr>
          <p:spPr>
            <a:xfrm>
              <a:off x="6078" y="0"/>
              <a:ext cx="3643076" cy="837553"/>
            </a:xfrm>
            <a:custGeom>
              <a:avLst/>
              <a:gdLst/>
              <a:ahLst/>
              <a:cxnLst/>
              <a:rect l="l" t="t" r="r" b="b"/>
              <a:pathLst>
                <a:path w="3643076" h="837553">
                  <a:moveTo>
                    <a:pt x="225576" y="0"/>
                  </a:moveTo>
                  <a:lnTo>
                    <a:pt x="3417500" y="0"/>
                  </a:lnTo>
                  <a:cubicBezTo>
                    <a:pt x="3434197" y="0"/>
                    <a:pt x="3448725" y="11425"/>
                    <a:pt x="3452662" y="27652"/>
                  </a:cubicBezTo>
                  <a:lnTo>
                    <a:pt x="3642445" y="809902"/>
                  </a:lnTo>
                  <a:cubicBezTo>
                    <a:pt x="3644063" y="816571"/>
                    <a:pt x="3642531" y="823614"/>
                    <a:pt x="3638289" y="829009"/>
                  </a:cubicBezTo>
                  <a:cubicBezTo>
                    <a:pt x="3634046" y="834404"/>
                    <a:pt x="3627563" y="837553"/>
                    <a:pt x="3620700" y="837553"/>
                  </a:cubicBezTo>
                  <a:lnTo>
                    <a:pt x="22376" y="837553"/>
                  </a:lnTo>
                  <a:cubicBezTo>
                    <a:pt x="15513" y="837553"/>
                    <a:pt x="9029" y="834404"/>
                    <a:pt x="4787" y="829009"/>
                  </a:cubicBezTo>
                  <a:cubicBezTo>
                    <a:pt x="545" y="823614"/>
                    <a:pt x="-987" y="816571"/>
                    <a:pt x="631" y="809902"/>
                  </a:cubicBezTo>
                  <a:lnTo>
                    <a:pt x="190413" y="27652"/>
                  </a:lnTo>
                  <a:cubicBezTo>
                    <a:pt x="194350" y="11425"/>
                    <a:pt x="208879" y="0"/>
                    <a:pt x="225576" y="0"/>
                  </a:cubicBezTo>
                  <a:close/>
                </a:path>
              </a:pathLst>
            </a:custGeom>
            <a:solidFill>
              <a:srgbClr val="645D5D"/>
            </a:solidFill>
            <a:ln w="19050" cap="sq">
              <a:solidFill>
                <a:srgbClr val="AAA2A2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27000" y="-38100"/>
              <a:ext cx="3401232" cy="8756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27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692666" y="383147"/>
            <a:ext cx="2448783" cy="561110"/>
            <a:chOff x="0" y="0"/>
            <a:chExt cx="3655232" cy="837553"/>
          </a:xfrm>
        </p:grpSpPr>
        <p:sp>
          <p:nvSpPr>
            <p:cNvPr id="9" name="Freeform 9"/>
            <p:cNvSpPr/>
            <p:nvPr/>
          </p:nvSpPr>
          <p:spPr>
            <a:xfrm>
              <a:off x="6078" y="0"/>
              <a:ext cx="3643076" cy="837553"/>
            </a:xfrm>
            <a:custGeom>
              <a:avLst/>
              <a:gdLst/>
              <a:ahLst/>
              <a:cxnLst/>
              <a:rect l="l" t="t" r="r" b="b"/>
              <a:pathLst>
                <a:path w="3643076" h="837553">
                  <a:moveTo>
                    <a:pt x="225576" y="0"/>
                  </a:moveTo>
                  <a:lnTo>
                    <a:pt x="3417500" y="0"/>
                  </a:lnTo>
                  <a:cubicBezTo>
                    <a:pt x="3434197" y="0"/>
                    <a:pt x="3448725" y="11425"/>
                    <a:pt x="3452662" y="27652"/>
                  </a:cubicBezTo>
                  <a:lnTo>
                    <a:pt x="3642445" y="809902"/>
                  </a:lnTo>
                  <a:cubicBezTo>
                    <a:pt x="3644063" y="816571"/>
                    <a:pt x="3642531" y="823614"/>
                    <a:pt x="3638289" y="829009"/>
                  </a:cubicBezTo>
                  <a:cubicBezTo>
                    <a:pt x="3634046" y="834404"/>
                    <a:pt x="3627563" y="837553"/>
                    <a:pt x="3620700" y="837553"/>
                  </a:cubicBezTo>
                  <a:lnTo>
                    <a:pt x="22376" y="837553"/>
                  </a:lnTo>
                  <a:cubicBezTo>
                    <a:pt x="15513" y="837553"/>
                    <a:pt x="9029" y="834404"/>
                    <a:pt x="4787" y="829009"/>
                  </a:cubicBezTo>
                  <a:cubicBezTo>
                    <a:pt x="545" y="823614"/>
                    <a:pt x="-987" y="816571"/>
                    <a:pt x="631" y="809902"/>
                  </a:cubicBezTo>
                  <a:lnTo>
                    <a:pt x="190413" y="27652"/>
                  </a:lnTo>
                  <a:cubicBezTo>
                    <a:pt x="194350" y="11425"/>
                    <a:pt x="208879" y="0"/>
                    <a:pt x="225576" y="0"/>
                  </a:cubicBezTo>
                  <a:close/>
                </a:path>
              </a:pathLst>
            </a:custGeom>
            <a:solidFill>
              <a:srgbClr val="645D5D"/>
            </a:solidFill>
            <a:ln w="19050" cap="sq">
              <a:solidFill>
                <a:srgbClr val="AAA2A2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7000" y="-38100"/>
              <a:ext cx="3401232" cy="8756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27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360683" y="383147"/>
            <a:ext cx="2448783" cy="561110"/>
            <a:chOff x="0" y="0"/>
            <a:chExt cx="3655232" cy="837553"/>
          </a:xfrm>
        </p:grpSpPr>
        <p:sp>
          <p:nvSpPr>
            <p:cNvPr id="13" name="Freeform 13"/>
            <p:cNvSpPr/>
            <p:nvPr/>
          </p:nvSpPr>
          <p:spPr>
            <a:xfrm>
              <a:off x="6078" y="0"/>
              <a:ext cx="3643076" cy="837553"/>
            </a:xfrm>
            <a:custGeom>
              <a:avLst/>
              <a:gdLst/>
              <a:ahLst/>
              <a:cxnLst/>
              <a:rect l="l" t="t" r="r" b="b"/>
              <a:pathLst>
                <a:path w="3643076" h="837553">
                  <a:moveTo>
                    <a:pt x="225576" y="0"/>
                  </a:moveTo>
                  <a:lnTo>
                    <a:pt x="3417500" y="0"/>
                  </a:lnTo>
                  <a:cubicBezTo>
                    <a:pt x="3434197" y="0"/>
                    <a:pt x="3448725" y="11425"/>
                    <a:pt x="3452662" y="27652"/>
                  </a:cubicBezTo>
                  <a:lnTo>
                    <a:pt x="3642445" y="809902"/>
                  </a:lnTo>
                  <a:cubicBezTo>
                    <a:pt x="3644063" y="816571"/>
                    <a:pt x="3642531" y="823614"/>
                    <a:pt x="3638289" y="829009"/>
                  </a:cubicBezTo>
                  <a:cubicBezTo>
                    <a:pt x="3634046" y="834404"/>
                    <a:pt x="3627563" y="837553"/>
                    <a:pt x="3620700" y="837553"/>
                  </a:cubicBezTo>
                  <a:lnTo>
                    <a:pt x="22376" y="837553"/>
                  </a:lnTo>
                  <a:cubicBezTo>
                    <a:pt x="15513" y="837553"/>
                    <a:pt x="9029" y="834404"/>
                    <a:pt x="4787" y="829009"/>
                  </a:cubicBezTo>
                  <a:cubicBezTo>
                    <a:pt x="545" y="823614"/>
                    <a:pt x="-987" y="816571"/>
                    <a:pt x="631" y="809902"/>
                  </a:cubicBezTo>
                  <a:lnTo>
                    <a:pt x="190413" y="27652"/>
                  </a:lnTo>
                  <a:cubicBezTo>
                    <a:pt x="194350" y="11425"/>
                    <a:pt x="208879" y="0"/>
                    <a:pt x="225576" y="0"/>
                  </a:cubicBezTo>
                  <a:close/>
                </a:path>
              </a:pathLst>
            </a:custGeom>
            <a:solidFill>
              <a:srgbClr val="645D5D"/>
            </a:solidFill>
            <a:ln w="19050" cap="sq">
              <a:solidFill>
                <a:srgbClr val="AAA2A2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7000" y="-38100"/>
              <a:ext cx="3401232" cy="8756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27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28700" y="383147"/>
            <a:ext cx="2448783" cy="561110"/>
            <a:chOff x="0" y="0"/>
            <a:chExt cx="3655232" cy="837553"/>
          </a:xfrm>
        </p:grpSpPr>
        <p:sp>
          <p:nvSpPr>
            <p:cNvPr id="16" name="Freeform 16"/>
            <p:cNvSpPr/>
            <p:nvPr/>
          </p:nvSpPr>
          <p:spPr>
            <a:xfrm>
              <a:off x="6078" y="0"/>
              <a:ext cx="3643076" cy="837553"/>
            </a:xfrm>
            <a:custGeom>
              <a:avLst/>
              <a:gdLst/>
              <a:ahLst/>
              <a:cxnLst/>
              <a:rect l="l" t="t" r="r" b="b"/>
              <a:pathLst>
                <a:path w="3643076" h="837553">
                  <a:moveTo>
                    <a:pt x="225576" y="0"/>
                  </a:moveTo>
                  <a:lnTo>
                    <a:pt x="3417500" y="0"/>
                  </a:lnTo>
                  <a:cubicBezTo>
                    <a:pt x="3434197" y="0"/>
                    <a:pt x="3448725" y="11425"/>
                    <a:pt x="3452662" y="27652"/>
                  </a:cubicBezTo>
                  <a:lnTo>
                    <a:pt x="3642445" y="809902"/>
                  </a:lnTo>
                  <a:cubicBezTo>
                    <a:pt x="3644063" y="816571"/>
                    <a:pt x="3642531" y="823614"/>
                    <a:pt x="3638289" y="829009"/>
                  </a:cubicBezTo>
                  <a:cubicBezTo>
                    <a:pt x="3634046" y="834404"/>
                    <a:pt x="3627563" y="837553"/>
                    <a:pt x="3620700" y="837553"/>
                  </a:cubicBezTo>
                  <a:lnTo>
                    <a:pt x="22376" y="837553"/>
                  </a:lnTo>
                  <a:cubicBezTo>
                    <a:pt x="15513" y="837553"/>
                    <a:pt x="9029" y="834404"/>
                    <a:pt x="4787" y="829009"/>
                  </a:cubicBezTo>
                  <a:cubicBezTo>
                    <a:pt x="545" y="823614"/>
                    <a:pt x="-987" y="816571"/>
                    <a:pt x="631" y="809902"/>
                  </a:cubicBezTo>
                  <a:lnTo>
                    <a:pt x="190413" y="27652"/>
                  </a:lnTo>
                  <a:cubicBezTo>
                    <a:pt x="194350" y="11425"/>
                    <a:pt x="208879" y="0"/>
                    <a:pt x="225576" y="0"/>
                  </a:cubicBezTo>
                  <a:close/>
                </a:path>
              </a:pathLst>
            </a:custGeom>
            <a:solidFill>
              <a:srgbClr val="F3F2F2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7000" y="-38100"/>
              <a:ext cx="3401232" cy="8756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7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0" y="855166"/>
            <a:ext cx="18288000" cy="271879"/>
            <a:chOff x="0" y="0"/>
            <a:chExt cx="5460189" cy="8117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460189" cy="81174"/>
            </a:xfrm>
            <a:custGeom>
              <a:avLst/>
              <a:gdLst/>
              <a:ahLst/>
              <a:cxnLst/>
              <a:rect l="l" t="t" r="r" b="b"/>
              <a:pathLst>
                <a:path w="5460189" h="81174">
                  <a:moveTo>
                    <a:pt x="0" y="0"/>
                  </a:moveTo>
                  <a:lnTo>
                    <a:pt x="5460189" y="0"/>
                  </a:lnTo>
                  <a:lnTo>
                    <a:pt x="5460189" y="81174"/>
                  </a:lnTo>
                  <a:lnTo>
                    <a:pt x="0" y="81174"/>
                  </a:lnTo>
                  <a:close/>
                </a:path>
              </a:pathLst>
            </a:custGeom>
            <a:solidFill>
              <a:srgbClr val="F3F2F2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5460189" cy="1192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7"/>
                </a:lnSpc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>
            <a:off x="14740978" y="9160278"/>
            <a:ext cx="2851494" cy="196044"/>
          </a:xfrm>
          <a:custGeom>
            <a:avLst/>
            <a:gdLst/>
            <a:ahLst/>
            <a:cxnLst/>
            <a:rect l="l" t="t" r="r" b="b"/>
            <a:pathLst>
              <a:path w="2851494" h="196044">
                <a:moveTo>
                  <a:pt x="0" y="0"/>
                </a:moveTo>
                <a:lnTo>
                  <a:pt x="2851495" y="0"/>
                </a:lnTo>
                <a:lnTo>
                  <a:pt x="2851495" y="196044"/>
                </a:lnTo>
                <a:lnTo>
                  <a:pt x="0" y="1960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9324" r="-26" b="-85079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2" name="TextBox 22"/>
          <p:cNvSpPr txBox="1"/>
          <p:nvPr/>
        </p:nvSpPr>
        <p:spPr>
          <a:xfrm>
            <a:off x="1447800" y="5884623"/>
            <a:ext cx="7227213" cy="86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4"/>
              </a:lnSpc>
            </a:pPr>
            <a:r>
              <a:rPr lang="ko-KR" altLang="en-US" sz="2800" spc="-85" dirty="0">
                <a:solidFill>
                  <a:srgbClr val="808080"/>
                </a:solidFill>
                <a:latin typeface="Garet"/>
                <a:ea typeface="Garet"/>
              </a:rPr>
              <a:t>９조</a:t>
            </a:r>
            <a:endParaRPr lang="en-US" altLang="ko-KR" sz="2800" spc="-85" dirty="0">
              <a:solidFill>
                <a:srgbClr val="808080"/>
              </a:solidFill>
              <a:latin typeface="Garet"/>
              <a:ea typeface="Garet"/>
            </a:endParaRPr>
          </a:p>
          <a:p>
            <a:pPr>
              <a:lnSpc>
                <a:spcPts val="3424"/>
              </a:lnSpc>
            </a:pPr>
            <a:r>
              <a:rPr lang="en-US" altLang="ko-KR" sz="2800" spc="-85" dirty="0">
                <a:solidFill>
                  <a:srgbClr val="808080"/>
                </a:solidFill>
                <a:latin typeface="Garet"/>
                <a:ea typeface="Garet"/>
              </a:rPr>
              <a:t>2025158026</a:t>
            </a:r>
            <a:r>
              <a:rPr lang="ko-KR" altLang="en-US" sz="2800" spc="-85" dirty="0">
                <a:solidFill>
                  <a:srgbClr val="808080"/>
                </a:solidFill>
                <a:latin typeface="Garet"/>
                <a:ea typeface="Garet"/>
              </a:rPr>
              <a:t> 황건하</a:t>
            </a:r>
            <a:r>
              <a:rPr lang="ko-KR" altLang="ko-KR" sz="2800" spc="-85" dirty="0">
                <a:solidFill>
                  <a:srgbClr val="808080"/>
                </a:solidFill>
                <a:latin typeface="Garet"/>
                <a:ea typeface="Garet"/>
              </a:rPr>
              <a:t> |</a:t>
            </a:r>
            <a:r>
              <a:rPr lang="en-US" altLang="ko-KR" sz="2800" spc="-85" dirty="0">
                <a:solidFill>
                  <a:srgbClr val="808080"/>
                </a:solidFill>
                <a:latin typeface="Garet"/>
                <a:ea typeface="Garet"/>
              </a:rPr>
              <a:t> 2025158009 </a:t>
            </a:r>
            <a:r>
              <a:rPr lang="ko-KR" altLang="en-US" sz="2800" spc="-85" dirty="0" err="1">
                <a:solidFill>
                  <a:srgbClr val="808080"/>
                </a:solidFill>
                <a:latin typeface="Garet"/>
                <a:ea typeface="Garet"/>
              </a:rPr>
              <a:t>류지민</a:t>
            </a:r>
            <a:endParaRPr lang="ko-KR" sz="2800" spc="-85" dirty="0">
              <a:solidFill>
                <a:srgbClr val="808080"/>
              </a:solidFill>
              <a:latin typeface="Garet"/>
              <a:ea typeface="Garet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3283308" y="402197"/>
            <a:ext cx="4434800" cy="209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83"/>
              </a:lnSpc>
            </a:pPr>
            <a:r>
              <a:rPr lang="ko-KR" sz="1200" dirty="0">
                <a:solidFill>
                  <a:srgbClr val="909090"/>
                </a:solidFill>
                <a:latin typeface="Garet"/>
                <a:ea typeface="Garet"/>
              </a:rPr>
              <a:t>2016 – 2025 | 미국</a:t>
            </a:r>
            <a:r>
              <a:rPr lang="en-US" altLang="ko-KR" sz="1200" dirty="0">
                <a:solidFill>
                  <a:srgbClr val="909090"/>
                </a:solidFill>
                <a:latin typeface="Garet"/>
                <a:ea typeface="Garet"/>
              </a:rPr>
              <a:t> box</a:t>
            </a:r>
            <a:r>
              <a:rPr lang="ko-KR" altLang="en-US" sz="1200" dirty="0">
                <a:solidFill>
                  <a:srgbClr val="909090"/>
                </a:solidFill>
                <a:latin typeface="Garet"/>
                <a:ea typeface="Garet"/>
              </a:rPr>
              <a:t> </a:t>
            </a:r>
            <a:r>
              <a:rPr lang="en-US" altLang="ko-KR" sz="1200" dirty="0">
                <a:solidFill>
                  <a:srgbClr val="909090"/>
                </a:solidFill>
                <a:latin typeface="Garet"/>
                <a:ea typeface="Garet"/>
              </a:rPr>
              <a:t>office</a:t>
            </a:r>
            <a:endParaRPr lang="ko-KR" sz="1200" dirty="0">
              <a:solidFill>
                <a:srgbClr val="909090"/>
              </a:solidFill>
              <a:latin typeface="Garet"/>
              <a:ea typeface="Garet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491080" y="512650"/>
            <a:ext cx="1428737" cy="215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3"/>
              </a:lnSpc>
            </a:pPr>
            <a:r>
              <a:rPr lang="ko-KR" altLang="en-US" sz="1402" dirty="0" err="1">
                <a:solidFill>
                  <a:srgbClr val="645D5D"/>
                </a:solidFill>
                <a:latin typeface="Garet"/>
                <a:ea typeface="Garet"/>
              </a:rPr>
              <a:t>데이터사이언스</a:t>
            </a:r>
            <a:endParaRPr lang="ko-KR" sz="1402" dirty="0">
              <a:solidFill>
                <a:srgbClr val="645D5D"/>
              </a:solidFill>
              <a:latin typeface="Garet"/>
              <a:ea typeface="Garet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3781458" y="512650"/>
            <a:ext cx="1428737" cy="207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3"/>
              </a:lnSpc>
            </a:pPr>
            <a:r>
              <a:rPr lang="ko-KR" sz="1402" dirty="0">
                <a:solidFill>
                  <a:srgbClr val="645D5D"/>
                </a:solidFill>
                <a:latin typeface="Garet"/>
                <a:ea typeface="Garet"/>
              </a:rPr>
              <a:t>데이터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96620" y="3227566"/>
            <a:ext cx="10947408" cy="229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ko-KR" sz="7200" b="1" spc="-124" dirty="0">
                <a:solidFill>
                  <a:srgbClr val="202020"/>
                </a:solidFill>
                <a:latin typeface="Garet Bold"/>
                <a:ea typeface="Garet Bold"/>
              </a:rPr>
              <a:t>미국 극장 개봉 영화</a:t>
            </a:r>
            <a:endParaRPr lang="en-US" altLang="ko-KR" sz="500" b="1" spc="-124" dirty="0">
              <a:solidFill>
                <a:srgbClr val="202020"/>
              </a:solidFill>
              <a:latin typeface="Garet Bold"/>
              <a:ea typeface="Garet Bold"/>
            </a:endParaRPr>
          </a:p>
          <a:p>
            <a:pPr algn="l"/>
            <a:endParaRPr lang="ko-KR" sz="500" b="1" spc="-124" dirty="0">
              <a:solidFill>
                <a:srgbClr val="202020"/>
              </a:solidFill>
              <a:latin typeface="Garet Bold"/>
              <a:ea typeface="Garet Bold"/>
            </a:endParaRPr>
          </a:p>
          <a:p>
            <a:pPr algn="l"/>
            <a:r>
              <a:rPr lang="ko-KR" sz="7200" b="1" spc="-124" dirty="0">
                <a:solidFill>
                  <a:srgbClr val="202020"/>
                </a:solidFill>
                <a:latin typeface="Garet Bold"/>
                <a:ea typeface="Garet Bold"/>
              </a:rPr>
              <a:t>흥행수익 분석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371881" y="512650"/>
            <a:ext cx="1428737" cy="207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3"/>
              </a:lnSpc>
            </a:pPr>
            <a:r>
              <a:rPr lang="ko-KR" sz="1402" dirty="0">
                <a:solidFill>
                  <a:srgbClr val="645D5D"/>
                </a:solidFill>
                <a:latin typeface="Garet"/>
                <a:ea typeface="Garet"/>
              </a:rPr>
              <a:t>분석</a:t>
            </a:r>
          </a:p>
        </p:txBody>
      </p:sp>
      <p:sp>
        <p:nvSpPr>
          <p:cNvPr id="28" name="TextBox 22">
            <a:extLst>
              <a:ext uri="{FF2B5EF4-FFF2-40B4-BE49-F238E27FC236}">
                <a16:creationId xmlns:a16="http://schemas.microsoft.com/office/drawing/2014/main" id="{751463BC-56AE-2C6E-DC34-0E00331584F0}"/>
              </a:ext>
            </a:extLst>
          </p:cNvPr>
          <p:cNvSpPr txBox="1"/>
          <p:nvPr/>
        </p:nvSpPr>
        <p:spPr>
          <a:xfrm>
            <a:off x="1491080" y="7161156"/>
            <a:ext cx="7227213" cy="401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4"/>
              </a:lnSpc>
            </a:pPr>
            <a:r>
              <a:rPr lang="ko-KR" sz="2000" spc="-85" dirty="0">
                <a:solidFill>
                  <a:srgbClr val="808080"/>
                </a:solidFill>
                <a:latin typeface="Garet"/>
                <a:ea typeface="Garet"/>
              </a:rPr>
              <a:t>데이터사이언스 PBL </a:t>
            </a:r>
            <a:r>
              <a:rPr lang="en-US" altLang="ko-KR" sz="2000" spc="-85" dirty="0">
                <a:solidFill>
                  <a:srgbClr val="808080"/>
                </a:solidFill>
                <a:latin typeface="Garet"/>
                <a:ea typeface="Garet"/>
              </a:rPr>
              <a:t> </a:t>
            </a:r>
            <a:r>
              <a:rPr lang="ko-KR" sz="2000" spc="-85" dirty="0">
                <a:solidFill>
                  <a:srgbClr val="808080"/>
                </a:solidFill>
                <a:latin typeface="Garet"/>
                <a:ea typeface="Garet"/>
              </a:rPr>
              <a:t>|</a:t>
            </a:r>
            <a:r>
              <a:rPr lang="en-US" altLang="ko-KR" sz="2000" spc="-85" dirty="0">
                <a:solidFill>
                  <a:srgbClr val="808080"/>
                </a:solidFill>
                <a:latin typeface="Garet"/>
                <a:ea typeface="Garet"/>
              </a:rPr>
              <a:t> </a:t>
            </a:r>
            <a:r>
              <a:rPr lang="ko-KR" sz="2000" spc="-85" dirty="0">
                <a:solidFill>
                  <a:srgbClr val="808080"/>
                </a:solidFill>
                <a:latin typeface="Garet"/>
                <a:ea typeface="Garet"/>
              </a:rPr>
              <a:t> 2차 과제 발표자료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810000" y="505892"/>
            <a:ext cx="1428737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83"/>
              </a:lnSpc>
              <a:spcBef>
                <a:spcPct val="0"/>
              </a:spcBef>
            </a:pPr>
            <a:r>
              <a:rPr lang="en-US" sz="1402" u="none" strike="noStrike" dirty="0">
                <a:solidFill>
                  <a:srgbClr val="C1B8B8"/>
                </a:solidFill>
                <a:latin typeface="Garet"/>
                <a:ea typeface="Garet"/>
                <a:cs typeface="Garet"/>
                <a:sym typeface="Garet"/>
              </a:rPr>
              <a:t>2</a:t>
            </a:r>
            <a:r>
              <a:rPr lang="ko-KR" altLang="en-US" sz="1402" u="none" strike="noStrike" dirty="0" err="1">
                <a:solidFill>
                  <a:srgbClr val="C1B8B8"/>
                </a:solidFill>
                <a:latin typeface="Garet"/>
                <a:ea typeface="Garet"/>
                <a:cs typeface="Garet"/>
                <a:sym typeface="Garet"/>
              </a:rPr>
              <a:t>차과제</a:t>
            </a:r>
            <a:endParaRPr lang="en-US" sz="1402" u="none" strike="noStrike" dirty="0">
              <a:solidFill>
                <a:srgbClr val="C1B8B8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  <p:extLst>
      <p:ext uri="{BB962C8B-B14F-4D97-AF65-F5344CB8AC3E}">
        <p14:creationId xmlns:p14="http://schemas.microsoft.com/office/powerpoint/2010/main" val="3378562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opBar"/>
          <p:cNvSpPr>
            <a:spLocks noGrp="1"/>
          </p:cNvSpPr>
          <p:nvPr/>
        </p:nvSpPr>
        <p:spPr>
          <a:xfrm>
            <a:off x="0" y="0"/>
            <a:ext cx="18288000" cy="7620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AccentBar"/>
          <p:cNvSpPr>
            <a:spLocks noGrp="1"/>
          </p:cNvSpPr>
          <p:nvPr/>
        </p:nvSpPr>
        <p:spPr>
          <a:xfrm>
            <a:off x="812800" y="800100"/>
            <a:ext cx="50800" cy="88392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Title"/>
          <p:cNvSpPr>
            <a:spLocks noGrp="1"/>
          </p:cNvSpPr>
          <p:nvPr/>
        </p:nvSpPr>
        <p:spPr>
          <a:xfrm>
            <a:off x="1016000" y="1016000"/>
            <a:ext cx="5080000" cy="762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lnSpc>
                <a:spcPts val="3600"/>
              </a:lnSpc>
            </a:pPr>
            <a:r>
              <a:rPr lang="ko-KR" sz="5400" b="1" dirty="0">
                <a:solidFill>
                  <a:srgbClr val="202020"/>
                </a:solidFill>
                <a:latin typeface="Garet Bold"/>
                <a:ea typeface="Garet Bold"/>
              </a:rPr>
              <a:t>목차</a:t>
            </a:r>
            <a:endParaRPr lang="ko-KR" sz="4000" b="1" dirty="0">
              <a:solidFill>
                <a:srgbClr val="202020"/>
              </a:solidFill>
              <a:latin typeface="Garet Bold"/>
              <a:ea typeface="Garet Bold"/>
            </a:endParaRPr>
          </a:p>
        </p:txBody>
      </p:sp>
      <p:sp>
        <p:nvSpPr>
          <p:cNvPr id="21" name="Subtitle"/>
          <p:cNvSpPr>
            <a:spLocks noGrp="1"/>
          </p:cNvSpPr>
          <p:nvPr/>
        </p:nvSpPr>
        <p:spPr>
          <a:xfrm>
            <a:off x="1016000" y="1803400"/>
            <a:ext cx="5080000" cy="355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lnSpc>
                <a:spcPts val="2000"/>
              </a:lnSpc>
            </a:pPr>
            <a:r>
              <a:rPr lang="en-US" sz="1600" dirty="0">
                <a:solidFill>
                  <a:srgbClr val="888888"/>
                </a:solidFill>
                <a:latin typeface="Garet"/>
                <a:ea typeface="Garet"/>
              </a:rPr>
              <a:t>Table of Contents</a:t>
            </a:r>
          </a:p>
        </p:txBody>
      </p:sp>
      <p:sp>
        <p:nvSpPr>
          <p:cNvPr id="12" name="Divider"/>
          <p:cNvSpPr>
            <a:spLocks noGrp="1"/>
          </p:cNvSpPr>
          <p:nvPr/>
        </p:nvSpPr>
        <p:spPr>
          <a:xfrm>
            <a:off x="762000" y="2260600"/>
            <a:ext cx="16764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" name="Row0"/>
          <p:cNvSpPr>
            <a:spLocks noGrp="1"/>
          </p:cNvSpPr>
          <p:nvPr/>
        </p:nvSpPr>
        <p:spPr>
          <a:xfrm>
            <a:off x="863600" y="2540000"/>
            <a:ext cx="16560800" cy="1143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0" name="Num0"/>
          <p:cNvSpPr>
            <a:spLocks noGrp="1"/>
          </p:cNvSpPr>
          <p:nvPr/>
        </p:nvSpPr>
        <p:spPr>
          <a:xfrm>
            <a:off x="1016000" y="2717800"/>
            <a:ext cx="660400" cy="660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tr">
              <a:lnSpc>
                <a:spcPts val="2000"/>
              </a:lnSpc>
            </a:pPr>
            <a:r>
              <a:rPr lang="en-US" sz="2000" b="1" dirty="0">
                <a:solidFill>
                  <a:srgbClr val="303030"/>
                </a:solidFill>
                <a:latin typeface="Garet Bold"/>
                <a:ea typeface="Garet Bold"/>
              </a:rPr>
              <a:t>01</a:t>
            </a:r>
          </a:p>
        </p:txBody>
      </p:sp>
      <p:sp>
        <p:nvSpPr>
          <p:cNvPr id="201" name="ItemTitle0"/>
          <p:cNvSpPr>
            <a:spLocks noGrp="1"/>
          </p:cNvSpPr>
          <p:nvPr/>
        </p:nvSpPr>
        <p:spPr>
          <a:xfrm>
            <a:off x="1879600" y="2641600"/>
            <a:ext cx="13335000" cy="533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lnSpc>
                <a:spcPts val="2200"/>
              </a:lnSpc>
            </a:pPr>
            <a:r>
              <a:rPr lang="ko-KR" sz="2200" b="1" dirty="0">
                <a:solidFill>
                  <a:srgbClr val="202020"/>
                </a:solidFill>
                <a:latin typeface="Garet Bold"/>
                <a:ea typeface="Garet Bold"/>
              </a:rPr>
              <a:t>분석 배경 및 목적</a:t>
            </a:r>
          </a:p>
        </p:txBody>
      </p:sp>
      <p:sp>
        <p:nvSpPr>
          <p:cNvPr id="202" name="ItemSub0"/>
          <p:cNvSpPr>
            <a:spLocks noGrp="1"/>
          </p:cNvSpPr>
          <p:nvPr/>
        </p:nvSpPr>
        <p:spPr>
          <a:xfrm>
            <a:off x="1879600" y="3200400"/>
            <a:ext cx="13335000" cy="406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lnSpc>
                <a:spcPts val="1800"/>
              </a:lnSpc>
            </a:pPr>
            <a:r>
              <a:rPr lang="ko-KR" sz="1500" dirty="0">
                <a:solidFill>
                  <a:srgbClr val="888888"/>
                </a:solidFill>
                <a:latin typeface="Garet"/>
                <a:ea typeface="Garet"/>
              </a:rPr>
              <a:t>프로젝트 개요 · 1차 분석 요약</a:t>
            </a:r>
          </a:p>
        </p:txBody>
      </p:sp>
      <p:sp>
        <p:nvSpPr>
          <p:cNvPr id="203" name="Page0"/>
          <p:cNvSpPr>
            <a:spLocks noGrp="1"/>
          </p:cNvSpPr>
          <p:nvPr/>
        </p:nvSpPr>
        <p:spPr>
          <a:xfrm>
            <a:off x="15494000" y="2844800"/>
            <a:ext cx="1524000" cy="406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r">
              <a:lnSpc>
                <a:spcPts val="2000"/>
              </a:lnSpc>
            </a:pPr>
            <a:r>
              <a:rPr lang="en-US" sz="1600" dirty="0">
                <a:solidFill>
                  <a:srgbClr val="AAAAAA"/>
                </a:solidFill>
                <a:latin typeface="Garet"/>
                <a:ea typeface="Garet"/>
              </a:rPr>
              <a:t>03</a:t>
            </a:r>
          </a:p>
        </p:txBody>
      </p:sp>
      <p:sp>
        <p:nvSpPr>
          <p:cNvPr id="210" name="Num1"/>
          <p:cNvSpPr>
            <a:spLocks noGrp="1"/>
          </p:cNvSpPr>
          <p:nvPr/>
        </p:nvSpPr>
        <p:spPr>
          <a:xfrm>
            <a:off x="1016000" y="3937000"/>
            <a:ext cx="660400" cy="660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tr">
              <a:lnSpc>
                <a:spcPts val="2000"/>
              </a:lnSpc>
            </a:pPr>
            <a:r>
              <a:rPr lang="en-US" sz="2000" b="1" dirty="0">
                <a:solidFill>
                  <a:srgbClr val="303030"/>
                </a:solidFill>
                <a:latin typeface="Garet Bold"/>
                <a:ea typeface="Garet Bold"/>
              </a:rPr>
              <a:t>02</a:t>
            </a:r>
          </a:p>
        </p:txBody>
      </p:sp>
      <p:sp>
        <p:nvSpPr>
          <p:cNvPr id="211" name="ItemTitle1"/>
          <p:cNvSpPr>
            <a:spLocks noGrp="1"/>
          </p:cNvSpPr>
          <p:nvPr/>
        </p:nvSpPr>
        <p:spPr>
          <a:xfrm>
            <a:off x="1879600" y="3860800"/>
            <a:ext cx="13335000" cy="533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lnSpc>
                <a:spcPts val="2200"/>
              </a:lnSpc>
            </a:pPr>
            <a:r>
              <a:rPr lang="ko-KR" sz="2200" b="1" dirty="0">
                <a:solidFill>
                  <a:srgbClr val="202020"/>
                </a:solidFill>
                <a:latin typeface="Garet Bold"/>
                <a:ea typeface="Garet Bold"/>
              </a:rPr>
              <a:t>데이터셋 및 전처리</a:t>
            </a:r>
          </a:p>
        </p:txBody>
      </p:sp>
      <p:sp>
        <p:nvSpPr>
          <p:cNvPr id="212" name="ItemSub1"/>
          <p:cNvSpPr>
            <a:spLocks noGrp="1"/>
          </p:cNvSpPr>
          <p:nvPr/>
        </p:nvSpPr>
        <p:spPr>
          <a:xfrm>
            <a:off x="1879600" y="4419600"/>
            <a:ext cx="13335000" cy="406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lnSpc>
                <a:spcPts val="1800"/>
              </a:lnSpc>
            </a:pPr>
            <a:r>
              <a:rPr lang="ko-KR" sz="1500" dirty="0">
                <a:solidFill>
                  <a:srgbClr val="888888"/>
                </a:solidFill>
                <a:latin typeface="Garet"/>
                <a:ea typeface="Garet"/>
              </a:rPr>
              <a:t>출처 · 변수 정의 · 전처리 방법</a:t>
            </a:r>
          </a:p>
        </p:txBody>
      </p:sp>
      <p:sp>
        <p:nvSpPr>
          <p:cNvPr id="213" name="Page1"/>
          <p:cNvSpPr>
            <a:spLocks noGrp="1"/>
          </p:cNvSpPr>
          <p:nvPr/>
        </p:nvSpPr>
        <p:spPr>
          <a:xfrm>
            <a:off x="15494000" y="4064000"/>
            <a:ext cx="1524000" cy="406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r">
              <a:lnSpc>
                <a:spcPts val="2000"/>
              </a:lnSpc>
            </a:pPr>
            <a:r>
              <a:rPr lang="en-US" sz="1600" dirty="0">
                <a:solidFill>
                  <a:srgbClr val="AAAAAA"/>
                </a:solidFill>
                <a:latin typeface="Garet"/>
                <a:ea typeface="Garet"/>
              </a:rPr>
              <a:t>04</a:t>
            </a:r>
          </a:p>
        </p:txBody>
      </p:sp>
      <p:sp>
        <p:nvSpPr>
          <p:cNvPr id="102" name="Row2"/>
          <p:cNvSpPr>
            <a:spLocks noGrp="1"/>
          </p:cNvSpPr>
          <p:nvPr/>
        </p:nvSpPr>
        <p:spPr>
          <a:xfrm>
            <a:off x="863600" y="4978400"/>
            <a:ext cx="16560800" cy="1143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0" name="Num2"/>
          <p:cNvSpPr>
            <a:spLocks noGrp="1"/>
          </p:cNvSpPr>
          <p:nvPr/>
        </p:nvSpPr>
        <p:spPr>
          <a:xfrm>
            <a:off x="1016000" y="5156200"/>
            <a:ext cx="660400" cy="660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tr">
              <a:lnSpc>
                <a:spcPts val="2000"/>
              </a:lnSpc>
            </a:pPr>
            <a:r>
              <a:rPr lang="en-US" sz="2000" b="1" dirty="0">
                <a:solidFill>
                  <a:srgbClr val="303030"/>
                </a:solidFill>
                <a:latin typeface="Garet Bold"/>
                <a:ea typeface="Garet Bold"/>
              </a:rPr>
              <a:t>03</a:t>
            </a:r>
          </a:p>
        </p:txBody>
      </p:sp>
      <p:sp>
        <p:nvSpPr>
          <p:cNvPr id="221" name="ItemTitle2"/>
          <p:cNvSpPr>
            <a:spLocks noGrp="1"/>
          </p:cNvSpPr>
          <p:nvPr/>
        </p:nvSpPr>
        <p:spPr>
          <a:xfrm>
            <a:off x="1879600" y="5080000"/>
            <a:ext cx="13335000" cy="533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lnSpc>
                <a:spcPts val="2200"/>
              </a:lnSpc>
            </a:pPr>
            <a:r>
              <a:rPr lang="ko-KR" sz="2200" b="1" dirty="0">
                <a:solidFill>
                  <a:srgbClr val="202020"/>
                </a:solidFill>
                <a:latin typeface="Garet Bold"/>
                <a:ea typeface="Garet Bold"/>
              </a:rPr>
              <a:t>수치형 피처 분포 및 상관분석</a:t>
            </a:r>
          </a:p>
        </p:txBody>
      </p:sp>
      <p:sp>
        <p:nvSpPr>
          <p:cNvPr id="222" name="ItemSub2"/>
          <p:cNvSpPr>
            <a:spLocks noGrp="1"/>
          </p:cNvSpPr>
          <p:nvPr/>
        </p:nvSpPr>
        <p:spPr>
          <a:xfrm>
            <a:off x="1879600" y="5638800"/>
            <a:ext cx="13335000" cy="406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lnSpc>
                <a:spcPts val="1800"/>
              </a:lnSpc>
            </a:pPr>
            <a:r>
              <a:rPr lang="ko-KR" sz="1500" dirty="0">
                <a:solidFill>
                  <a:srgbClr val="888888"/>
                </a:solidFill>
                <a:latin typeface="Garet"/>
                <a:ea typeface="Garet"/>
              </a:rPr>
              <a:t>분포도 · 산점도 · 피어슨 r</a:t>
            </a:r>
          </a:p>
        </p:txBody>
      </p:sp>
      <p:sp>
        <p:nvSpPr>
          <p:cNvPr id="223" name="Page2"/>
          <p:cNvSpPr>
            <a:spLocks noGrp="1"/>
          </p:cNvSpPr>
          <p:nvPr/>
        </p:nvSpPr>
        <p:spPr>
          <a:xfrm>
            <a:off x="15494000" y="5283200"/>
            <a:ext cx="1524000" cy="406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r">
              <a:lnSpc>
                <a:spcPts val="2000"/>
              </a:lnSpc>
            </a:pPr>
            <a:r>
              <a:rPr lang="en-US" sz="1600" dirty="0">
                <a:solidFill>
                  <a:srgbClr val="AAAAAA"/>
                </a:solidFill>
                <a:latin typeface="Garet"/>
                <a:ea typeface="Garet"/>
              </a:rPr>
              <a:t>07</a:t>
            </a:r>
          </a:p>
        </p:txBody>
      </p:sp>
      <p:sp>
        <p:nvSpPr>
          <p:cNvPr id="230" name="Num3"/>
          <p:cNvSpPr>
            <a:spLocks noGrp="1"/>
          </p:cNvSpPr>
          <p:nvPr/>
        </p:nvSpPr>
        <p:spPr>
          <a:xfrm>
            <a:off x="1016000" y="6375400"/>
            <a:ext cx="660400" cy="660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tr">
              <a:lnSpc>
                <a:spcPts val="2000"/>
              </a:lnSpc>
            </a:pPr>
            <a:r>
              <a:rPr lang="en-US" sz="2000" b="1" dirty="0">
                <a:solidFill>
                  <a:srgbClr val="303030"/>
                </a:solidFill>
                <a:latin typeface="Garet Bold"/>
                <a:ea typeface="Garet Bold"/>
              </a:rPr>
              <a:t>04</a:t>
            </a:r>
          </a:p>
        </p:txBody>
      </p:sp>
      <p:sp>
        <p:nvSpPr>
          <p:cNvPr id="231" name="ItemTitle3"/>
          <p:cNvSpPr>
            <a:spLocks noGrp="1"/>
          </p:cNvSpPr>
          <p:nvPr/>
        </p:nvSpPr>
        <p:spPr>
          <a:xfrm>
            <a:off x="1879600" y="6299200"/>
            <a:ext cx="13335000" cy="533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lnSpc>
                <a:spcPts val="2200"/>
              </a:lnSpc>
            </a:pPr>
            <a:r>
              <a:rPr lang="ko-KR" sz="2200" b="1" dirty="0">
                <a:solidFill>
                  <a:srgbClr val="202020"/>
                </a:solidFill>
                <a:latin typeface="Garet Bold"/>
                <a:ea typeface="Garet Bold"/>
              </a:rPr>
              <a:t>범주형 피처 분석</a:t>
            </a:r>
          </a:p>
        </p:txBody>
      </p:sp>
      <p:sp>
        <p:nvSpPr>
          <p:cNvPr id="232" name="ItemSub3"/>
          <p:cNvSpPr>
            <a:spLocks noGrp="1"/>
          </p:cNvSpPr>
          <p:nvPr/>
        </p:nvSpPr>
        <p:spPr>
          <a:xfrm>
            <a:off x="1879600" y="6858000"/>
            <a:ext cx="13335000" cy="406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lnSpc>
                <a:spcPts val="1800"/>
              </a:lnSpc>
            </a:pPr>
            <a:r>
              <a:rPr lang="ko-KR" sz="1500" dirty="0">
                <a:solidFill>
                  <a:srgbClr val="888888"/>
                </a:solidFill>
                <a:latin typeface="Garet"/>
                <a:ea typeface="Garet"/>
              </a:rPr>
              <a:t>장르별 · 개봉시기별 흥행수익 분포</a:t>
            </a:r>
          </a:p>
        </p:txBody>
      </p:sp>
      <p:sp>
        <p:nvSpPr>
          <p:cNvPr id="233" name="Page3"/>
          <p:cNvSpPr>
            <a:spLocks noGrp="1"/>
          </p:cNvSpPr>
          <p:nvPr/>
        </p:nvSpPr>
        <p:spPr>
          <a:xfrm>
            <a:off x="15494000" y="6502400"/>
            <a:ext cx="1524000" cy="406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r">
              <a:lnSpc>
                <a:spcPts val="2000"/>
              </a:lnSpc>
            </a:pPr>
            <a:r>
              <a:rPr lang="en-US" sz="1600" dirty="0">
                <a:solidFill>
                  <a:srgbClr val="AAAAAA"/>
                </a:solidFill>
                <a:latin typeface="Garet"/>
                <a:ea typeface="Garet"/>
              </a:rPr>
              <a:t>12</a:t>
            </a:r>
          </a:p>
        </p:txBody>
      </p:sp>
      <p:sp>
        <p:nvSpPr>
          <p:cNvPr id="104" name="Row4"/>
          <p:cNvSpPr>
            <a:spLocks noGrp="1"/>
          </p:cNvSpPr>
          <p:nvPr/>
        </p:nvSpPr>
        <p:spPr>
          <a:xfrm>
            <a:off x="863600" y="7416800"/>
            <a:ext cx="16560800" cy="1143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0" name="Num4"/>
          <p:cNvSpPr>
            <a:spLocks noGrp="1"/>
          </p:cNvSpPr>
          <p:nvPr/>
        </p:nvSpPr>
        <p:spPr>
          <a:xfrm>
            <a:off x="1016000" y="7594600"/>
            <a:ext cx="660400" cy="660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tr">
              <a:lnSpc>
                <a:spcPts val="2000"/>
              </a:lnSpc>
            </a:pPr>
            <a:r>
              <a:rPr lang="en-US" sz="2000" b="1" dirty="0">
                <a:solidFill>
                  <a:srgbClr val="303030"/>
                </a:solidFill>
                <a:latin typeface="Garet Bold"/>
                <a:ea typeface="Garet Bold"/>
              </a:rPr>
              <a:t>05</a:t>
            </a:r>
          </a:p>
        </p:txBody>
      </p:sp>
      <p:sp>
        <p:nvSpPr>
          <p:cNvPr id="241" name="ItemTitle4"/>
          <p:cNvSpPr>
            <a:spLocks noGrp="1"/>
          </p:cNvSpPr>
          <p:nvPr/>
        </p:nvSpPr>
        <p:spPr>
          <a:xfrm>
            <a:off x="1879600" y="7518400"/>
            <a:ext cx="13335000" cy="533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lnSpc>
                <a:spcPts val="2200"/>
              </a:lnSpc>
            </a:pPr>
            <a:r>
              <a:rPr lang="ko-KR" sz="2200" b="1" dirty="0">
                <a:solidFill>
                  <a:srgbClr val="202020"/>
                </a:solidFill>
                <a:latin typeface="Garet Bold"/>
                <a:ea typeface="Garet Bold"/>
              </a:rPr>
              <a:t>피처 선택 결과</a:t>
            </a:r>
          </a:p>
        </p:txBody>
      </p:sp>
      <p:sp>
        <p:nvSpPr>
          <p:cNvPr id="242" name="ItemSub4"/>
          <p:cNvSpPr>
            <a:spLocks noGrp="1"/>
          </p:cNvSpPr>
          <p:nvPr/>
        </p:nvSpPr>
        <p:spPr>
          <a:xfrm>
            <a:off x="1879600" y="8077200"/>
            <a:ext cx="13335000" cy="406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lnSpc>
                <a:spcPts val="1800"/>
              </a:lnSpc>
            </a:pPr>
            <a:r>
              <a:rPr lang="ko-KR" sz="1500" dirty="0">
                <a:solidFill>
                  <a:srgbClr val="888888"/>
                </a:solidFill>
                <a:latin typeface="Garet"/>
                <a:ea typeface="Garet"/>
              </a:rPr>
              <a:t>최종 선택 4개 피처 근거 정리</a:t>
            </a:r>
          </a:p>
        </p:txBody>
      </p:sp>
      <p:sp>
        <p:nvSpPr>
          <p:cNvPr id="243" name="Page4"/>
          <p:cNvSpPr>
            <a:spLocks noGrp="1"/>
          </p:cNvSpPr>
          <p:nvPr/>
        </p:nvSpPr>
        <p:spPr>
          <a:xfrm>
            <a:off x="15494000" y="7721600"/>
            <a:ext cx="1524000" cy="406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r">
              <a:lnSpc>
                <a:spcPts val="2000"/>
              </a:lnSpc>
            </a:pPr>
            <a:r>
              <a:rPr lang="en-US" sz="1600" dirty="0">
                <a:solidFill>
                  <a:srgbClr val="AAAAAA"/>
                </a:solidFill>
                <a:latin typeface="Garet"/>
                <a:ea typeface="Garet"/>
              </a:rPr>
              <a:t>16</a:t>
            </a:r>
          </a:p>
        </p:txBody>
      </p:sp>
      <p:sp>
        <p:nvSpPr>
          <p:cNvPr id="250" name="Num5"/>
          <p:cNvSpPr>
            <a:spLocks noGrp="1"/>
          </p:cNvSpPr>
          <p:nvPr/>
        </p:nvSpPr>
        <p:spPr>
          <a:xfrm>
            <a:off x="1016000" y="8813800"/>
            <a:ext cx="660400" cy="660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tr">
              <a:lnSpc>
                <a:spcPts val="2000"/>
              </a:lnSpc>
            </a:pPr>
            <a:r>
              <a:rPr lang="en-US" sz="2000" b="1" dirty="0">
                <a:solidFill>
                  <a:srgbClr val="303030"/>
                </a:solidFill>
                <a:latin typeface="Garet Bold"/>
                <a:ea typeface="Garet Bold"/>
              </a:rPr>
              <a:t>06</a:t>
            </a:r>
          </a:p>
        </p:txBody>
      </p:sp>
      <p:sp>
        <p:nvSpPr>
          <p:cNvPr id="251" name="ItemTitle5"/>
          <p:cNvSpPr>
            <a:spLocks noGrp="1"/>
          </p:cNvSpPr>
          <p:nvPr/>
        </p:nvSpPr>
        <p:spPr>
          <a:xfrm>
            <a:off x="1879600" y="8737600"/>
            <a:ext cx="13335000" cy="533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lnSpc>
                <a:spcPts val="2200"/>
              </a:lnSpc>
            </a:pPr>
            <a:r>
              <a:rPr lang="ko-KR" sz="2200" b="1" dirty="0">
                <a:solidFill>
                  <a:srgbClr val="202020"/>
                </a:solidFill>
                <a:latin typeface="Garet Bold"/>
                <a:ea typeface="Garet Bold"/>
              </a:rPr>
              <a:t>한계 및 결론</a:t>
            </a:r>
          </a:p>
        </p:txBody>
      </p:sp>
      <p:sp>
        <p:nvSpPr>
          <p:cNvPr id="252" name="ItemSub5"/>
          <p:cNvSpPr>
            <a:spLocks noGrp="1"/>
          </p:cNvSpPr>
          <p:nvPr/>
        </p:nvSpPr>
        <p:spPr>
          <a:xfrm>
            <a:off x="1879600" y="9296400"/>
            <a:ext cx="13335000" cy="406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lnSpc>
                <a:spcPts val="1800"/>
              </a:lnSpc>
            </a:pPr>
            <a:r>
              <a:rPr lang="ko-KR" sz="1500" dirty="0">
                <a:solidFill>
                  <a:srgbClr val="888888"/>
                </a:solidFill>
                <a:latin typeface="Garet"/>
                <a:ea typeface="Garet"/>
              </a:rPr>
              <a:t>분석 한계 · 종합 결론</a:t>
            </a:r>
          </a:p>
        </p:txBody>
      </p:sp>
      <p:sp>
        <p:nvSpPr>
          <p:cNvPr id="253" name="Page5"/>
          <p:cNvSpPr>
            <a:spLocks noGrp="1"/>
          </p:cNvSpPr>
          <p:nvPr/>
        </p:nvSpPr>
        <p:spPr>
          <a:xfrm>
            <a:off x="15494000" y="8940800"/>
            <a:ext cx="1524000" cy="406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r">
              <a:lnSpc>
                <a:spcPts val="2000"/>
              </a:lnSpc>
            </a:pPr>
            <a:r>
              <a:rPr lang="en-US" sz="1600" dirty="0">
                <a:solidFill>
                  <a:srgbClr val="AAAAAA"/>
                </a:solidFill>
                <a:latin typeface="Garet"/>
                <a:ea typeface="Garet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524801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Bg"/>
          <p:cNvSpPr>
            <a:spLocks noGrp="1"/>
          </p:cNvSpPr>
          <p:nvPr/>
        </p:nvSpPr>
        <p:spPr>
          <a:xfrm>
            <a:off x="0" y="0"/>
            <a:ext cx="18288000" cy="111760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SlideTitle"/>
          <p:cNvSpPr>
            <a:spLocks noGrp="1"/>
          </p:cNvSpPr>
          <p:nvPr/>
        </p:nvSpPr>
        <p:spPr>
          <a:xfrm>
            <a:off x="762000" y="482600"/>
            <a:ext cx="11430000" cy="660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lnSpc>
                <a:spcPts val="3200"/>
              </a:lnSpc>
            </a:pPr>
            <a:r>
              <a:rPr lang="ko-KR" sz="4000" b="1" dirty="0">
                <a:solidFill>
                  <a:srgbClr val="FFFFFF"/>
                </a:solidFill>
                <a:latin typeface="Garet Bold"/>
                <a:ea typeface="Garet Bold"/>
              </a:rPr>
              <a:t>분석 배경 및 목적</a:t>
            </a:r>
          </a:p>
        </p:txBody>
      </p:sp>
      <p:sp>
        <p:nvSpPr>
          <p:cNvPr id="20" name="LeftCard"/>
          <p:cNvSpPr>
            <a:spLocks noGrp="1"/>
          </p:cNvSpPr>
          <p:nvPr/>
        </p:nvSpPr>
        <p:spPr>
          <a:xfrm>
            <a:off x="812800" y="1412240"/>
            <a:ext cx="7874000" cy="8382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/>
          <a:lstStyle/>
          <a:p>
            <a:endParaRPr dirty="0"/>
          </a:p>
        </p:txBody>
      </p:sp>
      <p:sp>
        <p:nvSpPr>
          <p:cNvPr id="21" name="LeftCardAccent"/>
          <p:cNvSpPr>
            <a:spLocks noGrp="1"/>
          </p:cNvSpPr>
          <p:nvPr/>
        </p:nvSpPr>
        <p:spPr>
          <a:xfrm>
            <a:off x="762000" y="1397000"/>
            <a:ext cx="50800" cy="8382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LeftTitle"/>
          <p:cNvSpPr>
            <a:spLocks noGrp="1"/>
          </p:cNvSpPr>
          <p:nvPr/>
        </p:nvSpPr>
        <p:spPr>
          <a:xfrm>
            <a:off x="1016000" y="1549400"/>
            <a:ext cx="7366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lnSpc>
                <a:spcPts val="2600"/>
              </a:lnSpc>
            </a:pPr>
            <a:r>
              <a:rPr lang="ko-KR" sz="2200" b="1" dirty="0">
                <a:solidFill>
                  <a:srgbClr val="202020"/>
                </a:solidFill>
                <a:latin typeface="Garet Bold"/>
                <a:ea typeface="Garet Bold"/>
              </a:rPr>
              <a:t>프로젝트 배경</a:t>
            </a:r>
          </a:p>
        </p:txBody>
      </p:sp>
      <p:sp>
        <p:nvSpPr>
          <p:cNvPr id="23" name="LeftDivider"/>
          <p:cNvSpPr>
            <a:spLocks noGrp="1"/>
          </p:cNvSpPr>
          <p:nvPr/>
        </p:nvSpPr>
        <p:spPr>
          <a:xfrm>
            <a:off x="1016000" y="2159000"/>
            <a:ext cx="736600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LeftBody"/>
          <p:cNvSpPr>
            <a:spLocks noGrp="1"/>
          </p:cNvSpPr>
          <p:nvPr/>
        </p:nvSpPr>
        <p:spPr>
          <a:xfrm>
            <a:off x="1016000" y="2311400"/>
            <a:ext cx="73660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228600" indent="-228600">
              <a:lnSpc>
                <a:spcPts val="2200"/>
              </a:lnSpc>
              <a:spcBef>
                <a:spcPts val="200"/>
              </a:spcBef>
              <a:buFont typeface="Arial"/>
              <a:buChar char="▸"/>
            </a:pPr>
            <a:r>
              <a:rPr lang="en-US" altLang="ko-KR" sz="2000" dirty="0">
                <a:solidFill>
                  <a:srgbClr val="404040"/>
                </a:solidFill>
                <a:latin typeface="Garet"/>
                <a:ea typeface="Garet"/>
              </a:rPr>
              <a:t>2016~2025</a:t>
            </a:r>
            <a:r>
              <a:rPr lang="ko-KR" altLang="en-US" sz="2000" dirty="0">
                <a:solidFill>
                  <a:srgbClr val="404040"/>
                </a:solidFill>
                <a:latin typeface="Garet"/>
                <a:ea typeface="Garet"/>
              </a:rPr>
              <a:t>년 미국 극장 개봉 영화 데이터를 바탕으로</a:t>
            </a:r>
            <a:endParaRPr lang="en-US" altLang="ko-KR" sz="2000" dirty="0">
              <a:solidFill>
                <a:srgbClr val="404040"/>
              </a:solidFill>
              <a:latin typeface="Garet"/>
              <a:ea typeface="Garet"/>
            </a:endParaRPr>
          </a:p>
          <a:p>
            <a:pPr marL="228600" indent="-228600">
              <a:lnSpc>
                <a:spcPts val="2200"/>
              </a:lnSpc>
              <a:spcBef>
                <a:spcPts val="200"/>
              </a:spcBef>
              <a:buFont typeface="Arial"/>
              <a:buChar char="▸"/>
            </a:pPr>
            <a:endParaRPr lang="ko-KR" altLang="en-US" sz="2000" dirty="0">
              <a:solidFill>
                <a:srgbClr val="404040"/>
              </a:solidFill>
              <a:latin typeface="Garet"/>
              <a:ea typeface="Garet"/>
            </a:endParaRPr>
          </a:p>
          <a:p>
            <a:pPr marL="228600" indent="-228600">
              <a:lnSpc>
                <a:spcPts val="2200"/>
              </a:lnSpc>
              <a:spcBef>
                <a:spcPts val="200"/>
              </a:spcBef>
              <a:buFont typeface="Arial"/>
              <a:buChar char="▸"/>
            </a:pPr>
            <a:r>
              <a:rPr lang="ko-KR" altLang="en-US" sz="2000" dirty="0">
                <a:solidFill>
                  <a:srgbClr val="404040"/>
                </a:solidFill>
                <a:latin typeface="Garet"/>
                <a:ea typeface="Garet"/>
              </a:rPr>
              <a:t>흥행 성과와 관련된 요인을 분석</a:t>
            </a:r>
            <a:r>
              <a:rPr lang="en-US" altLang="ko-KR" sz="2000" dirty="0">
                <a:solidFill>
                  <a:srgbClr val="404040"/>
                </a:solidFill>
                <a:latin typeface="Garet"/>
                <a:ea typeface="Garet"/>
              </a:rPr>
              <a:t>.</a:t>
            </a:r>
          </a:p>
          <a:p>
            <a:pPr marL="228600" indent="-228600">
              <a:lnSpc>
                <a:spcPts val="2200"/>
              </a:lnSpc>
              <a:spcBef>
                <a:spcPts val="200"/>
              </a:spcBef>
              <a:buFont typeface="Arial"/>
              <a:buChar char="▸"/>
            </a:pPr>
            <a:endParaRPr lang="en-US" altLang="ko-KR" sz="2000" dirty="0">
              <a:solidFill>
                <a:srgbClr val="404040"/>
              </a:solidFill>
              <a:latin typeface="Garet"/>
              <a:ea typeface="Garet"/>
            </a:endParaRPr>
          </a:p>
          <a:p>
            <a:pPr marL="228600" indent="-228600">
              <a:lnSpc>
                <a:spcPts val="2200"/>
              </a:lnSpc>
              <a:spcBef>
                <a:spcPts val="200"/>
              </a:spcBef>
              <a:buFont typeface="Arial"/>
              <a:buChar char="▸"/>
            </a:pPr>
            <a:r>
              <a:rPr lang="ko-KR" sz="2000" dirty="0">
                <a:solidFill>
                  <a:srgbClr val="404040"/>
                </a:solidFill>
                <a:latin typeface="Garet"/>
                <a:ea typeface="Garet"/>
              </a:rPr>
              <a:t>7,368개 영화</a:t>
            </a:r>
            <a:r>
              <a:rPr lang="ko-KR" altLang="en-US" sz="2000" dirty="0">
                <a:solidFill>
                  <a:srgbClr val="404040"/>
                </a:solidFill>
                <a:latin typeface="Garet"/>
                <a:ea typeface="Garet"/>
              </a:rPr>
              <a:t>에 대해 분석을 실시</a:t>
            </a:r>
            <a:endParaRPr lang="en-US" altLang="ko-KR" sz="2000" dirty="0">
              <a:solidFill>
                <a:srgbClr val="404040"/>
              </a:solidFill>
              <a:latin typeface="Garet"/>
              <a:ea typeface="Garet"/>
            </a:endParaRPr>
          </a:p>
          <a:p>
            <a:pPr marL="228600" indent="-228600">
              <a:lnSpc>
                <a:spcPts val="2200"/>
              </a:lnSpc>
              <a:spcBef>
                <a:spcPts val="200"/>
              </a:spcBef>
              <a:buFont typeface="Arial"/>
              <a:buChar char="▸"/>
            </a:pPr>
            <a:endParaRPr lang="en-US" altLang="ko-KR" sz="2000" dirty="0">
              <a:solidFill>
                <a:srgbClr val="404040"/>
              </a:solidFill>
              <a:latin typeface="Garet"/>
              <a:ea typeface="Garet"/>
            </a:endParaRPr>
          </a:p>
          <a:p>
            <a:pPr marL="228600" indent="-228600">
              <a:lnSpc>
                <a:spcPts val="2200"/>
              </a:lnSpc>
              <a:spcBef>
                <a:spcPts val="200"/>
              </a:spcBef>
              <a:buFont typeface="Arial"/>
              <a:buChar char="▸"/>
            </a:pPr>
            <a:r>
              <a:rPr lang="ko-KR" sz="2000" dirty="0">
                <a:solidFill>
                  <a:srgbClr val="404040"/>
                </a:solidFill>
                <a:latin typeface="Garet"/>
                <a:ea typeface="Garet"/>
              </a:rPr>
              <a:t>일반 극장 영화만 포함 (재개봉·이벤트 상영 제외</a:t>
            </a:r>
            <a:r>
              <a:rPr lang="en-US" altLang="ko-KR" sz="2000" dirty="0">
                <a:solidFill>
                  <a:srgbClr val="404040"/>
                </a:solidFill>
                <a:latin typeface="Garet"/>
                <a:ea typeface="Garet"/>
              </a:rPr>
              <a:t>)</a:t>
            </a:r>
            <a:endParaRPr lang="ko-KR" sz="2000" dirty="0">
              <a:solidFill>
                <a:srgbClr val="404040"/>
              </a:solidFill>
              <a:latin typeface="Garet"/>
              <a:ea typeface="Garet"/>
            </a:endParaRPr>
          </a:p>
        </p:txBody>
      </p:sp>
      <p:sp>
        <p:nvSpPr>
          <p:cNvPr id="25" name="SummaryBg"/>
          <p:cNvSpPr>
            <a:spLocks noGrp="1"/>
          </p:cNvSpPr>
          <p:nvPr/>
        </p:nvSpPr>
        <p:spPr>
          <a:xfrm>
            <a:off x="1041400" y="5461000"/>
            <a:ext cx="7366000" cy="6096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" name="SummaryLabel"/>
          <p:cNvSpPr>
            <a:spLocks noGrp="1"/>
          </p:cNvSpPr>
          <p:nvPr/>
        </p:nvSpPr>
        <p:spPr>
          <a:xfrm>
            <a:off x="1143000" y="5588000"/>
            <a:ext cx="2540000" cy="355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2000" b="1" dirty="0">
                <a:solidFill>
                  <a:srgbClr val="FFFFFF"/>
                </a:solidFill>
                <a:latin typeface="Garet Bold"/>
                <a:ea typeface="Garet Bold"/>
              </a:rPr>
              <a:t>1차 분석 결과 요약</a:t>
            </a:r>
          </a:p>
        </p:txBody>
      </p:sp>
      <p:sp>
        <p:nvSpPr>
          <p:cNvPr id="27" name="SummaryBody"/>
          <p:cNvSpPr>
            <a:spLocks noGrp="1"/>
          </p:cNvSpPr>
          <p:nvPr/>
        </p:nvSpPr>
        <p:spPr>
          <a:xfrm>
            <a:off x="1016000" y="6350000"/>
            <a:ext cx="7366000" cy="3302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228600" indent="-228600">
              <a:lnSpc>
                <a:spcPts val="2200"/>
              </a:lnSpc>
              <a:spcBef>
                <a:spcPts val="200"/>
              </a:spcBef>
              <a:buFont typeface="Arial"/>
              <a:buChar char="✓"/>
            </a:pPr>
            <a:r>
              <a:rPr lang="ko-KR" altLang="en-US" sz="2000" dirty="0">
                <a:solidFill>
                  <a:srgbClr val="505050"/>
                </a:solidFill>
                <a:latin typeface="Garet"/>
                <a:ea typeface="Garet"/>
              </a:rPr>
              <a:t>전체 데이터를 이해하기 위해 기본 </a:t>
            </a:r>
            <a:r>
              <a:rPr lang="ko-KR" altLang="en-US" sz="2000" dirty="0" err="1">
                <a:solidFill>
                  <a:srgbClr val="505050"/>
                </a:solidFill>
                <a:latin typeface="Garet"/>
                <a:ea typeface="Garet"/>
              </a:rPr>
              <a:t>통계값</a:t>
            </a:r>
            <a:r>
              <a:rPr lang="en-US" altLang="ko-KR" sz="2000" dirty="0">
                <a:solidFill>
                  <a:srgbClr val="505050"/>
                </a:solidFill>
                <a:latin typeface="Garet"/>
                <a:ea typeface="Garet"/>
              </a:rPr>
              <a:t>, </a:t>
            </a:r>
            <a:r>
              <a:rPr lang="ko-KR" altLang="en-US" sz="2000" dirty="0">
                <a:solidFill>
                  <a:srgbClr val="505050"/>
                </a:solidFill>
                <a:latin typeface="Garet"/>
                <a:ea typeface="Garet"/>
              </a:rPr>
              <a:t>결측 현황</a:t>
            </a:r>
            <a:r>
              <a:rPr lang="en-US" altLang="ko-KR" sz="2000" dirty="0">
                <a:solidFill>
                  <a:srgbClr val="505050"/>
                </a:solidFill>
                <a:latin typeface="Garet"/>
                <a:ea typeface="Garet"/>
              </a:rPr>
              <a:t>, </a:t>
            </a:r>
          </a:p>
          <a:p>
            <a:pPr>
              <a:lnSpc>
                <a:spcPts val="2200"/>
              </a:lnSpc>
              <a:spcBef>
                <a:spcPts val="200"/>
              </a:spcBef>
            </a:pPr>
            <a:r>
              <a:rPr lang="en-US" altLang="ko-KR" sz="2000" dirty="0">
                <a:solidFill>
                  <a:srgbClr val="505050"/>
                </a:solidFill>
                <a:latin typeface="Garet"/>
                <a:ea typeface="Garet"/>
              </a:rPr>
              <a:t>   </a:t>
            </a:r>
            <a:r>
              <a:rPr lang="en-US" altLang="ko-KR" sz="100" dirty="0">
                <a:solidFill>
                  <a:srgbClr val="505050"/>
                </a:solidFill>
                <a:latin typeface="Garet"/>
                <a:ea typeface="Garet"/>
              </a:rPr>
              <a:t>           </a:t>
            </a:r>
            <a:r>
              <a:rPr lang="ko-KR" altLang="en-US" sz="2000" dirty="0">
                <a:solidFill>
                  <a:srgbClr val="505050"/>
                </a:solidFill>
                <a:latin typeface="Garet"/>
                <a:ea typeface="Garet"/>
              </a:rPr>
              <a:t>분포를 확인하였다</a:t>
            </a:r>
            <a:r>
              <a:rPr lang="en-US" altLang="ko-KR" sz="2000" dirty="0">
                <a:solidFill>
                  <a:srgbClr val="505050"/>
                </a:solidFill>
                <a:latin typeface="Garet"/>
                <a:ea typeface="Garet"/>
              </a:rPr>
              <a:t>.</a:t>
            </a:r>
          </a:p>
          <a:p>
            <a:pPr marL="228600" indent="-228600">
              <a:lnSpc>
                <a:spcPts val="2200"/>
              </a:lnSpc>
              <a:spcBef>
                <a:spcPts val="200"/>
              </a:spcBef>
              <a:buFont typeface="Arial"/>
              <a:buChar char="✓"/>
            </a:pPr>
            <a:endParaRPr lang="en-US" altLang="ko-KR" sz="2000" dirty="0">
              <a:solidFill>
                <a:srgbClr val="505050"/>
              </a:solidFill>
              <a:latin typeface="Garet"/>
              <a:ea typeface="Garet"/>
            </a:endParaRPr>
          </a:p>
          <a:p>
            <a:pPr marL="228600" indent="-228600">
              <a:lnSpc>
                <a:spcPts val="2200"/>
              </a:lnSpc>
              <a:spcBef>
                <a:spcPts val="200"/>
              </a:spcBef>
              <a:buFont typeface="Arial"/>
              <a:buChar char="✓"/>
            </a:pPr>
            <a:endParaRPr lang="en-US" altLang="ko-KR" sz="2000" dirty="0">
              <a:solidFill>
                <a:srgbClr val="505050"/>
              </a:solidFill>
              <a:latin typeface="Garet"/>
              <a:ea typeface="Garet"/>
            </a:endParaRPr>
          </a:p>
          <a:p>
            <a:pPr marL="228600" indent="-228600">
              <a:lnSpc>
                <a:spcPts val="2200"/>
              </a:lnSpc>
              <a:spcBef>
                <a:spcPts val="200"/>
              </a:spcBef>
              <a:buFont typeface="Arial"/>
              <a:buChar char="✓"/>
            </a:pPr>
            <a:r>
              <a:rPr lang="ko-KR" altLang="en-US" sz="2000" dirty="0">
                <a:solidFill>
                  <a:srgbClr val="505050"/>
                </a:solidFill>
                <a:latin typeface="Garet"/>
                <a:ea typeface="Garet"/>
              </a:rPr>
              <a:t>핵심 결과</a:t>
            </a:r>
          </a:p>
          <a:p>
            <a:pPr>
              <a:lnSpc>
                <a:spcPts val="2200"/>
              </a:lnSpc>
              <a:spcBef>
                <a:spcPts val="200"/>
              </a:spcBef>
            </a:pPr>
            <a:r>
              <a:rPr lang="en-US" altLang="ko-KR" sz="2000" dirty="0">
                <a:solidFill>
                  <a:srgbClr val="505050"/>
                </a:solidFill>
                <a:latin typeface="Garet"/>
                <a:ea typeface="Garet"/>
              </a:rPr>
              <a:t>- </a:t>
            </a:r>
            <a:r>
              <a:rPr lang="ko-KR" altLang="en-US" sz="2000" dirty="0">
                <a:solidFill>
                  <a:srgbClr val="505050"/>
                </a:solidFill>
                <a:latin typeface="Garet"/>
                <a:ea typeface="Garet"/>
              </a:rPr>
              <a:t>데이터 수</a:t>
            </a:r>
            <a:r>
              <a:rPr lang="en-US" altLang="ko-KR" sz="2000" dirty="0">
                <a:solidFill>
                  <a:srgbClr val="505050"/>
                </a:solidFill>
                <a:latin typeface="Garet"/>
                <a:ea typeface="Garet"/>
              </a:rPr>
              <a:t>: 7,368</a:t>
            </a:r>
            <a:r>
              <a:rPr lang="ko-KR" altLang="en-US" sz="2000" dirty="0">
                <a:solidFill>
                  <a:srgbClr val="505050"/>
                </a:solidFill>
                <a:latin typeface="Garet"/>
                <a:ea typeface="Garet"/>
              </a:rPr>
              <a:t>개</a:t>
            </a:r>
          </a:p>
          <a:p>
            <a:pPr>
              <a:lnSpc>
                <a:spcPts val="2200"/>
              </a:lnSpc>
              <a:spcBef>
                <a:spcPts val="200"/>
              </a:spcBef>
            </a:pPr>
            <a:r>
              <a:rPr lang="en-US" altLang="ko-KR" sz="2000" dirty="0">
                <a:solidFill>
                  <a:srgbClr val="505050"/>
                </a:solidFill>
                <a:latin typeface="Garet"/>
                <a:ea typeface="Garet"/>
              </a:rPr>
              <a:t>- </a:t>
            </a:r>
            <a:r>
              <a:rPr lang="ko-KR" altLang="en-US" sz="2000" dirty="0">
                <a:solidFill>
                  <a:srgbClr val="505050"/>
                </a:solidFill>
                <a:latin typeface="Garet"/>
                <a:ea typeface="Garet"/>
              </a:rPr>
              <a:t>흥행수익은 강한 오른쪽 치우침을 보였다</a:t>
            </a:r>
            <a:r>
              <a:rPr lang="en-US" altLang="ko-KR" sz="2000" dirty="0">
                <a:solidFill>
                  <a:srgbClr val="505050"/>
                </a:solidFill>
                <a:latin typeface="Garet"/>
                <a:ea typeface="Garet"/>
              </a:rPr>
              <a:t>.</a:t>
            </a:r>
          </a:p>
          <a:p>
            <a:pPr>
              <a:lnSpc>
                <a:spcPts val="2200"/>
              </a:lnSpc>
              <a:spcBef>
                <a:spcPts val="200"/>
              </a:spcBef>
            </a:pPr>
            <a:r>
              <a:rPr lang="en-US" altLang="ko-KR" sz="2000" dirty="0">
                <a:solidFill>
                  <a:srgbClr val="505050"/>
                </a:solidFill>
                <a:latin typeface="Garet"/>
                <a:ea typeface="Garet"/>
              </a:rPr>
              <a:t>- rating, </a:t>
            </a:r>
            <a:r>
              <a:rPr lang="en-US" altLang="ko-KR" sz="2000" dirty="0" err="1">
                <a:solidFill>
                  <a:srgbClr val="505050"/>
                </a:solidFill>
                <a:latin typeface="Garet"/>
                <a:ea typeface="Garet"/>
              </a:rPr>
              <a:t>budget_usd</a:t>
            </a:r>
            <a:r>
              <a:rPr lang="ko-KR" altLang="en-US" sz="2000" dirty="0">
                <a:solidFill>
                  <a:srgbClr val="505050"/>
                </a:solidFill>
                <a:latin typeface="Garet"/>
                <a:ea typeface="Garet"/>
              </a:rPr>
              <a:t>는 </a:t>
            </a:r>
            <a:r>
              <a:rPr lang="ko-KR" altLang="en-US" sz="2000" dirty="0" err="1">
                <a:solidFill>
                  <a:srgbClr val="505050"/>
                </a:solidFill>
                <a:latin typeface="Garet"/>
                <a:ea typeface="Garet"/>
              </a:rPr>
              <a:t>결측이</a:t>
            </a:r>
            <a:r>
              <a:rPr lang="ko-KR" altLang="en-US" sz="2000" dirty="0">
                <a:solidFill>
                  <a:srgbClr val="505050"/>
                </a:solidFill>
                <a:latin typeface="Garet"/>
                <a:ea typeface="Garet"/>
              </a:rPr>
              <a:t> 많았다</a:t>
            </a:r>
            <a:r>
              <a:rPr lang="en-US" altLang="ko-KR" sz="2000" dirty="0">
                <a:solidFill>
                  <a:srgbClr val="505050"/>
                </a:solidFill>
                <a:latin typeface="Garet"/>
                <a:ea typeface="Garet"/>
              </a:rPr>
              <a:t>.</a:t>
            </a:r>
          </a:p>
        </p:txBody>
      </p:sp>
      <p:sp>
        <p:nvSpPr>
          <p:cNvPr id="30" name="RightCard"/>
          <p:cNvSpPr>
            <a:spLocks noGrp="1"/>
          </p:cNvSpPr>
          <p:nvPr/>
        </p:nvSpPr>
        <p:spPr>
          <a:xfrm>
            <a:off x="8890000" y="1397000"/>
            <a:ext cx="8636000" cy="838200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RightTitle"/>
          <p:cNvSpPr>
            <a:spLocks noGrp="1"/>
          </p:cNvSpPr>
          <p:nvPr/>
        </p:nvSpPr>
        <p:spPr>
          <a:xfrm>
            <a:off x="9144000" y="1676400"/>
            <a:ext cx="8128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lnSpc>
                <a:spcPts val="2600"/>
              </a:lnSpc>
            </a:pPr>
            <a:r>
              <a:rPr lang="ko-KR" sz="2800" b="1" dirty="0">
                <a:solidFill>
                  <a:srgbClr val="FFFFFF"/>
                </a:solidFill>
                <a:latin typeface="Garet Bold"/>
                <a:ea typeface="Garet Bold"/>
              </a:rPr>
              <a:t>2차 분석 목적</a:t>
            </a:r>
          </a:p>
        </p:txBody>
      </p:sp>
      <p:sp>
        <p:nvSpPr>
          <p:cNvPr id="32" name="RightDivider"/>
          <p:cNvSpPr>
            <a:spLocks noGrp="1"/>
          </p:cNvSpPr>
          <p:nvPr/>
        </p:nvSpPr>
        <p:spPr>
          <a:xfrm>
            <a:off x="9144000" y="2159000"/>
            <a:ext cx="8128000" cy="127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" name="RightBody"/>
          <p:cNvSpPr>
            <a:spLocks noGrp="1"/>
          </p:cNvSpPr>
          <p:nvPr/>
        </p:nvSpPr>
        <p:spPr>
          <a:xfrm>
            <a:off x="9120499" y="2502375"/>
            <a:ext cx="8128000" cy="127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lnSpc>
                <a:spcPts val="2200"/>
              </a:lnSpc>
            </a:pPr>
            <a:r>
              <a:rPr lang="ko-KR" altLang="en-US" sz="2200" dirty="0">
                <a:solidFill>
                  <a:srgbClr val="BBBBBB"/>
                </a:solidFill>
                <a:latin typeface="Garet"/>
                <a:ea typeface="Garet"/>
              </a:rPr>
              <a:t>전세계</a:t>
            </a:r>
            <a:r>
              <a:rPr lang="en-US" altLang="ko-KR" sz="2200" dirty="0">
                <a:solidFill>
                  <a:srgbClr val="BBBBBB"/>
                </a:solidFill>
                <a:latin typeface="Garet"/>
                <a:ea typeface="Garet"/>
              </a:rPr>
              <a:t>_</a:t>
            </a:r>
            <a:r>
              <a:rPr lang="ko-KR" altLang="en-US" sz="2200" dirty="0">
                <a:solidFill>
                  <a:srgbClr val="BBBBBB"/>
                </a:solidFill>
                <a:latin typeface="Garet"/>
                <a:ea typeface="Garet"/>
              </a:rPr>
              <a:t>흥행수익</a:t>
            </a:r>
            <a:r>
              <a:rPr lang="en-US" altLang="ko-KR" sz="2200" dirty="0">
                <a:solidFill>
                  <a:srgbClr val="BBBBBB"/>
                </a:solidFill>
                <a:latin typeface="Garet"/>
                <a:ea typeface="Garet"/>
              </a:rPr>
              <a:t>_USD</a:t>
            </a:r>
            <a:r>
              <a:rPr lang="ko-KR" altLang="en-US" sz="2200" dirty="0">
                <a:solidFill>
                  <a:srgbClr val="BBBBBB"/>
                </a:solidFill>
                <a:latin typeface="Garet"/>
                <a:ea typeface="Garet"/>
              </a:rPr>
              <a:t>를 종속변수로 두고</a:t>
            </a:r>
            <a:endParaRPr lang="en-US" altLang="ko-KR" sz="2200" dirty="0">
              <a:solidFill>
                <a:srgbClr val="BBBBBB"/>
              </a:solidFill>
              <a:latin typeface="Garet"/>
              <a:ea typeface="Garet"/>
            </a:endParaRPr>
          </a:p>
          <a:p>
            <a:pPr>
              <a:lnSpc>
                <a:spcPts val="2200"/>
              </a:lnSpc>
            </a:pPr>
            <a:endParaRPr lang="en-US" altLang="ko-KR" sz="2200" dirty="0">
              <a:solidFill>
                <a:srgbClr val="BBBBBB"/>
              </a:solidFill>
              <a:latin typeface="Garet"/>
              <a:ea typeface="Garet"/>
            </a:endParaRPr>
          </a:p>
          <a:p>
            <a:pPr>
              <a:lnSpc>
                <a:spcPts val="2200"/>
              </a:lnSpc>
            </a:pPr>
            <a:r>
              <a:rPr lang="ko-KR" altLang="en-US" sz="2200" dirty="0">
                <a:solidFill>
                  <a:srgbClr val="BBBBBB"/>
                </a:solidFill>
                <a:latin typeface="Garet"/>
                <a:ea typeface="Garet"/>
              </a:rPr>
              <a:t>주요 피처와의 관계를 분포도와 상관계수로 분석하였다</a:t>
            </a:r>
            <a:r>
              <a:rPr lang="en-US" altLang="ko-KR" sz="2200" dirty="0">
                <a:solidFill>
                  <a:srgbClr val="BBBBBB"/>
                </a:solidFill>
                <a:latin typeface="Garet"/>
                <a:ea typeface="Garet"/>
              </a:rPr>
              <a:t>.</a:t>
            </a:r>
            <a:endParaRPr lang="ko-KR" sz="2200" dirty="0">
              <a:solidFill>
                <a:srgbClr val="BBBBBB"/>
              </a:solidFill>
              <a:latin typeface="Garet"/>
              <a:ea typeface="Garet"/>
            </a:endParaRPr>
          </a:p>
        </p:txBody>
      </p:sp>
      <p:sp>
        <p:nvSpPr>
          <p:cNvPr id="40" name="PBox0"/>
          <p:cNvSpPr>
            <a:spLocks noGrp="1"/>
          </p:cNvSpPr>
          <p:nvPr/>
        </p:nvSpPr>
        <p:spPr>
          <a:xfrm>
            <a:off x="9144000" y="3937000"/>
            <a:ext cx="3810000" cy="25400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" name="PBoxAccent0"/>
          <p:cNvSpPr>
            <a:spLocks noGrp="1"/>
          </p:cNvSpPr>
          <p:nvPr/>
        </p:nvSpPr>
        <p:spPr>
          <a:xfrm>
            <a:off x="9144000" y="3937000"/>
            <a:ext cx="3810000" cy="508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PBoxText0"/>
          <p:cNvSpPr>
            <a:spLocks noGrp="1"/>
          </p:cNvSpPr>
          <p:nvPr/>
        </p:nvSpPr>
        <p:spPr>
          <a:xfrm>
            <a:off x="9271000" y="4191000"/>
            <a:ext cx="3556000" cy="2159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tr">
              <a:lnSpc>
                <a:spcPts val="2600"/>
              </a:lnSpc>
            </a:pPr>
            <a:r>
              <a:rPr lang="ko-KR" sz="3200" b="1" dirty="0">
                <a:solidFill>
                  <a:srgbClr val="CCCCCC"/>
                </a:solidFill>
                <a:latin typeface="Garet Bold"/>
                <a:ea typeface="Garet Bold"/>
              </a:rPr>
              <a:t>①</a:t>
            </a:r>
            <a:endParaRPr lang="en-US" altLang="ko-KR" sz="3200" b="1" dirty="0">
              <a:solidFill>
                <a:srgbClr val="CCCCCC"/>
              </a:solidFill>
              <a:latin typeface="Garet Bold"/>
              <a:ea typeface="Garet Bold"/>
            </a:endParaRPr>
          </a:p>
          <a:p>
            <a:pPr algn="ctr">
              <a:lnSpc>
                <a:spcPts val="2600"/>
              </a:lnSpc>
            </a:pPr>
            <a:endParaRPr lang="ko-KR" sz="3200" b="1" dirty="0">
              <a:solidFill>
                <a:srgbClr val="CCCCCC"/>
              </a:solidFill>
              <a:latin typeface="Garet Bold"/>
              <a:ea typeface="Garet Bold"/>
            </a:endParaRPr>
          </a:p>
          <a:p>
            <a:pPr algn="ctr">
              <a:lnSpc>
                <a:spcPts val="2000"/>
              </a:lnSpc>
            </a:pPr>
            <a:r>
              <a:rPr lang="ko-KR" altLang="en-US" sz="2400" dirty="0">
                <a:solidFill>
                  <a:srgbClr val="AAAAAA"/>
                </a:solidFill>
                <a:latin typeface="Garet"/>
                <a:ea typeface="Garet"/>
              </a:rPr>
              <a:t>종속변수 정의</a:t>
            </a:r>
            <a:endParaRPr lang="en-US" altLang="ko-KR" sz="2400" dirty="0">
              <a:solidFill>
                <a:srgbClr val="AAAAAA"/>
              </a:solidFill>
              <a:latin typeface="Garet"/>
              <a:ea typeface="Garet"/>
            </a:endParaRPr>
          </a:p>
          <a:p>
            <a:pPr algn="ctr">
              <a:lnSpc>
                <a:spcPts val="2000"/>
              </a:lnSpc>
            </a:pPr>
            <a:endParaRPr lang="ko-KR" altLang="en-US" sz="1600" dirty="0">
              <a:solidFill>
                <a:srgbClr val="AAAAAA"/>
              </a:solidFill>
              <a:latin typeface="Garet"/>
              <a:ea typeface="Garet"/>
            </a:endParaRPr>
          </a:p>
          <a:p>
            <a:pPr algn="ctr">
              <a:lnSpc>
                <a:spcPts val="2000"/>
              </a:lnSpc>
            </a:pPr>
            <a:r>
              <a:rPr lang="ko-KR" altLang="en-US" sz="1600" dirty="0">
                <a:solidFill>
                  <a:srgbClr val="AAAAAA"/>
                </a:solidFill>
                <a:latin typeface="Garet"/>
                <a:ea typeface="Garet"/>
              </a:rPr>
              <a:t>전세계 흥행 성과를 설명하기 위해</a:t>
            </a:r>
          </a:p>
          <a:p>
            <a:pPr algn="ctr">
              <a:lnSpc>
                <a:spcPts val="2000"/>
              </a:lnSpc>
            </a:pPr>
            <a:r>
              <a:rPr lang="ko-KR" altLang="en-US" sz="1600" dirty="0">
                <a:solidFill>
                  <a:srgbClr val="AAAAAA"/>
                </a:solidFill>
                <a:latin typeface="Garet"/>
                <a:ea typeface="Garet"/>
              </a:rPr>
              <a:t>전세계</a:t>
            </a:r>
            <a:r>
              <a:rPr lang="en-US" altLang="ko-KR" sz="1600" dirty="0">
                <a:solidFill>
                  <a:srgbClr val="AAAAAA"/>
                </a:solidFill>
                <a:latin typeface="Garet"/>
                <a:ea typeface="Garet"/>
              </a:rPr>
              <a:t>_</a:t>
            </a:r>
            <a:r>
              <a:rPr lang="ko-KR" altLang="en-US" sz="1600" dirty="0">
                <a:solidFill>
                  <a:srgbClr val="AAAAAA"/>
                </a:solidFill>
                <a:latin typeface="Garet"/>
                <a:ea typeface="Garet"/>
              </a:rPr>
              <a:t>흥행수익</a:t>
            </a:r>
            <a:r>
              <a:rPr lang="en-US" altLang="ko-KR" sz="1600" dirty="0">
                <a:solidFill>
                  <a:srgbClr val="AAAAAA"/>
                </a:solidFill>
                <a:latin typeface="Garet"/>
                <a:ea typeface="Garet"/>
              </a:rPr>
              <a:t>_USD</a:t>
            </a:r>
            <a:r>
              <a:rPr lang="ko-KR" altLang="en-US" sz="1600" dirty="0">
                <a:solidFill>
                  <a:srgbClr val="AAAAAA"/>
                </a:solidFill>
                <a:latin typeface="Garet"/>
                <a:ea typeface="Garet"/>
              </a:rPr>
              <a:t>를 종속변수로 설정하였다</a:t>
            </a:r>
            <a:r>
              <a:rPr lang="en-US" altLang="ko-KR" sz="1600" dirty="0">
                <a:solidFill>
                  <a:srgbClr val="AAAAAA"/>
                </a:solidFill>
                <a:latin typeface="Garet"/>
                <a:ea typeface="Garet"/>
              </a:rPr>
              <a:t>.</a:t>
            </a:r>
            <a:endParaRPr lang="ko-KR" sz="1600" dirty="0">
              <a:solidFill>
                <a:srgbClr val="AAAAAA"/>
              </a:solidFill>
              <a:latin typeface="Garet"/>
              <a:ea typeface="Garet"/>
            </a:endParaRPr>
          </a:p>
        </p:txBody>
      </p:sp>
      <p:sp>
        <p:nvSpPr>
          <p:cNvPr id="43" name="PBox1"/>
          <p:cNvSpPr>
            <a:spLocks noGrp="1"/>
          </p:cNvSpPr>
          <p:nvPr/>
        </p:nvSpPr>
        <p:spPr>
          <a:xfrm>
            <a:off x="13208000" y="3937000"/>
            <a:ext cx="3810000" cy="25400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4" name="PBoxAccent1"/>
          <p:cNvSpPr>
            <a:spLocks noGrp="1"/>
          </p:cNvSpPr>
          <p:nvPr/>
        </p:nvSpPr>
        <p:spPr>
          <a:xfrm>
            <a:off x="13208000" y="3937000"/>
            <a:ext cx="3810000" cy="508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5" name="PBoxText1"/>
          <p:cNvSpPr>
            <a:spLocks noGrp="1"/>
          </p:cNvSpPr>
          <p:nvPr/>
        </p:nvSpPr>
        <p:spPr>
          <a:xfrm>
            <a:off x="13335000" y="4191000"/>
            <a:ext cx="3556000" cy="2159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tr">
              <a:lnSpc>
                <a:spcPts val="2600"/>
              </a:lnSpc>
            </a:pPr>
            <a:r>
              <a:rPr lang="ko-KR" sz="3200" b="1" dirty="0">
                <a:solidFill>
                  <a:srgbClr val="CCCCCC"/>
                </a:solidFill>
                <a:latin typeface="Garet Bold"/>
                <a:ea typeface="Garet Bold"/>
              </a:rPr>
              <a:t>②</a:t>
            </a:r>
            <a:endParaRPr lang="en-US" altLang="ko-KR" sz="3200" b="1" dirty="0">
              <a:solidFill>
                <a:srgbClr val="CCCCCC"/>
              </a:solidFill>
              <a:latin typeface="Garet Bold"/>
              <a:ea typeface="Garet Bold"/>
            </a:endParaRPr>
          </a:p>
          <a:p>
            <a:pPr algn="ctr">
              <a:lnSpc>
                <a:spcPts val="2600"/>
              </a:lnSpc>
            </a:pPr>
            <a:endParaRPr lang="ko-KR" sz="3200" b="1" dirty="0">
              <a:solidFill>
                <a:srgbClr val="CCCCCC"/>
              </a:solidFill>
              <a:latin typeface="Garet Bold"/>
              <a:ea typeface="Garet Bold"/>
            </a:endParaRPr>
          </a:p>
          <a:p>
            <a:pPr algn="ctr">
              <a:lnSpc>
                <a:spcPts val="2000"/>
              </a:lnSpc>
            </a:pPr>
            <a:r>
              <a:rPr lang="ko-KR" altLang="en-US" sz="2400" dirty="0">
                <a:solidFill>
                  <a:srgbClr val="AAAAAA"/>
                </a:solidFill>
                <a:latin typeface="Garet"/>
                <a:ea typeface="Garet"/>
              </a:rPr>
              <a:t>수치형 관계 확인</a:t>
            </a:r>
            <a:endParaRPr lang="en-US" altLang="ko-KR" sz="2400" dirty="0">
              <a:solidFill>
                <a:srgbClr val="AAAAAA"/>
              </a:solidFill>
              <a:latin typeface="Garet"/>
              <a:ea typeface="Garet"/>
            </a:endParaRPr>
          </a:p>
          <a:p>
            <a:pPr algn="ctr">
              <a:lnSpc>
                <a:spcPts val="2000"/>
              </a:lnSpc>
            </a:pPr>
            <a:endParaRPr lang="ko-KR" altLang="en-US" sz="1600" dirty="0">
              <a:solidFill>
                <a:srgbClr val="AAAAAA"/>
              </a:solidFill>
              <a:latin typeface="Garet"/>
              <a:ea typeface="Garet"/>
            </a:endParaRPr>
          </a:p>
          <a:p>
            <a:pPr algn="ctr">
              <a:lnSpc>
                <a:spcPts val="2000"/>
              </a:lnSpc>
            </a:pPr>
            <a:r>
              <a:rPr lang="ko-KR" altLang="en-US" sz="1600" dirty="0">
                <a:solidFill>
                  <a:srgbClr val="AAAAAA"/>
                </a:solidFill>
                <a:latin typeface="Garet"/>
                <a:ea typeface="Garet"/>
              </a:rPr>
              <a:t>최대</a:t>
            </a:r>
            <a:r>
              <a:rPr lang="en-US" altLang="ko-KR" sz="1600" dirty="0">
                <a:solidFill>
                  <a:srgbClr val="AAAAAA"/>
                </a:solidFill>
                <a:latin typeface="Garet"/>
                <a:ea typeface="Garet"/>
              </a:rPr>
              <a:t>_</a:t>
            </a:r>
            <a:r>
              <a:rPr lang="ko-KR" altLang="en-US" sz="1600" dirty="0" err="1">
                <a:solidFill>
                  <a:srgbClr val="AAAAAA"/>
                </a:solidFill>
                <a:latin typeface="Garet"/>
                <a:ea typeface="Garet"/>
              </a:rPr>
              <a:t>상영극장수와</a:t>
            </a:r>
            <a:r>
              <a:rPr lang="ko-KR" altLang="en-US" sz="1600" dirty="0">
                <a:solidFill>
                  <a:srgbClr val="AAAAAA"/>
                </a:solidFill>
                <a:latin typeface="Garet"/>
                <a:ea typeface="Garet"/>
              </a:rPr>
              <a:t> 오픈</a:t>
            </a:r>
            <a:r>
              <a:rPr lang="en-US" altLang="ko-KR" sz="1600" dirty="0">
                <a:solidFill>
                  <a:srgbClr val="AAAAAA"/>
                </a:solidFill>
                <a:latin typeface="Garet"/>
                <a:ea typeface="Garet"/>
              </a:rPr>
              <a:t>_</a:t>
            </a:r>
            <a:r>
              <a:rPr lang="ko-KR" altLang="en-US" sz="1600" dirty="0">
                <a:solidFill>
                  <a:srgbClr val="AAAAAA"/>
                </a:solidFill>
                <a:latin typeface="Garet"/>
                <a:ea typeface="Garet"/>
              </a:rPr>
              <a:t>극장수에 대해 분포도와 상관계수를 통해 </a:t>
            </a:r>
            <a:endParaRPr lang="en-US" altLang="ko-KR" sz="1600" dirty="0">
              <a:solidFill>
                <a:srgbClr val="AAAAAA"/>
              </a:solidFill>
              <a:latin typeface="Garet"/>
              <a:ea typeface="Garet"/>
            </a:endParaRPr>
          </a:p>
          <a:p>
            <a:pPr algn="ctr">
              <a:lnSpc>
                <a:spcPts val="2000"/>
              </a:lnSpc>
            </a:pPr>
            <a:r>
              <a:rPr lang="ko-KR" altLang="en-US" sz="1600" dirty="0">
                <a:solidFill>
                  <a:srgbClr val="AAAAAA"/>
                </a:solidFill>
                <a:latin typeface="Garet"/>
                <a:ea typeface="Garet"/>
              </a:rPr>
              <a:t>선형 관계를 검토하였다</a:t>
            </a:r>
            <a:r>
              <a:rPr lang="en-US" altLang="ko-KR" sz="1600" dirty="0">
                <a:solidFill>
                  <a:srgbClr val="AAAAAA"/>
                </a:solidFill>
                <a:latin typeface="Garet"/>
                <a:ea typeface="Garet"/>
              </a:rPr>
              <a:t>.</a:t>
            </a:r>
            <a:endParaRPr lang="ko-KR" sz="1600" dirty="0">
              <a:solidFill>
                <a:srgbClr val="AAAAAA"/>
              </a:solidFill>
              <a:latin typeface="Garet"/>
              <a:ea typeface="Garet"/>
            </a:endParaRPr>
          </a:p>
        </p:txBody>
      </p:sp>
      <p:sp>
        <p:nvSpPr>
          <p:cNvPr id="46" name="PBox2"/>
          <p:cNvSpPr>
            <a:spLocks noGrp="1"/>
          </p:cNvSpPr>
          <p:nvPr/>
        </p:nvSpPr>
        <p:spPr>
          <a:xfrm>
            <a:off x="9144000" y="6731000"/>
            <a:ext cx="3810000" cy="25400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7" name="PBoxAccent2"/>
          <p:cNvSpPr>
            <a:spLocks noGrp="1"/>
          </p:cNvSpPr>
          <p:nvPr/>
        </p:nvSpPr>
        <p:spPr>
          <a:xfrm>
            <a:off x="9144000" y="6731000"/>
            <a:ext cx="3810000" cy="508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8" name="PBoxText2"/>
          <p:cNvSpPr>
            <a:spLocks noGrp="1"/>
          </p:cNvSpPr>
          <p:nvPr/>
        </p:nvSpPr>
        <p:spPr>
          <a:xfrm>
            <a:off x="9271000" y="6985000"/>
            <a:ext cx="3556000" cy="2159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tr">
              <a:lnSpc>
                <a:spcPts val="2600"/>
              </a:lnSpc>
            </a:pPr>
            <a:r>
              <a:rPr lang="ko-KR" sz="3200" b="1" dirty="0">
                <a:solidFill>
                  <a:srgbClr val="CCCCCC"/>
                </a:solidFill>
                <a:latin typeface="Garet Bold"/>
                <a:ea typeface="Garet Bold"/>
              </a:rPr>
              <a:t>③</a:t>
            </a:r>
            <a:endParaRPr lang="en-US" altLang="ko-KR" sz="3200" b="1" dirty="0">
              <a:solidFill>
                <a:srgbClr val="CCCCCC"/>
              </a:solidFill>
              <a:latin typeface="Garet Bold"/>
              <a:ea typeface="Garet Bold"/>
            </a:endParaRPr>
          </a:p>
          <a:p>
            <a:pPr algn="ctr">
              <a:lnSpc>
                <a:spcPts val="2600"/>
              </a:lnSpc>
            </a:pPr>
            <a:endParaRPr lang="ko-KR" sz="3200" b="1" dirty="0">
              <a:solidFill>
                <a:srgbClr val="CCCCCC"/>
              </a:solidFill>
              <a:latin typeface="Garet Bold"/>
              <a:ea typeface="Garet Bold"/>
            </a:endParaRPr>
          </a:p>
          <a:p>
            <a:pPr algn="ctr">
              <a:lnSpc>
                <a:spcPts val="2000"/>
              </a:lnSpc>
            </a:pPr>
            <a:r>
              <a:rPr lang="ko-KR" altLang="en-US" sz="2400" dirty="0">
                <a:solidFill>
                  <a:srgbClr val="AAAAAA"/>
                </a:solidFill>
                <a:latin typeface="Garet"/>
                <a:ea typeface="Garet"/>
              </a:rPr>
              <a:t>범주형 분포 비교</a:t>
            </a:r>
            <a:endParaRPr lang="en-US" altLang="ko-KR" sz="2400" dirty="0">
              <a:solidFill>
                <a:srgbClr val="AAAAAA"/>
              </a:solidFill>
              <a:latin typeface="Garet"/>
              <a:ea typeface="Garet"/>
            </a:endParaRPr>
          </a:p>
          <a:p>
            <a:pPr algn="ctr">
              <a:lnSpc>
                <a:spcPts val="2000"/>
              </a:lnSpc>
            </a:pPr>
            <a:endParaRPr lang="ko-KR" altLang="en-US" sz="1600" dirty="0">
              <a:solidFill>
                <a:srgbClr val="AAAAAA"/>
              </a:solidFill>
              <a:latin typeface="Garet"/>
              <a:ea typeface="Garet"/>
            </a:endParaRPr>
          </a:p>
          <a:p>
            <a:pPr algn="ctr">
              <a:lnSpc>
                <a:spcPts val="2000"/>
              </a:lnSpc>
            </a:pPr>
            <a:r>
              <a:rPr lang="ko-KR" altLang="en-US" sz="1600" dirty="0">
                <a:solidFill>
                  <a:srgbClr val="AAAAAA"/>
                </a:solidFill>
                <a:latin typeface="Garet"/>
                <a:ea typeface="Garet"/>
              </a:rPr>
              <a:t>대표장르와 개봉시기별로</a:t>
            </a:r>
          </a:p>
          <a:p>
            <a:pPr algn="ctr">
              <a:lnSpc>
                <a:spcPts val="2000"/>
              </a:lnSpc>
            </a:pPr>
            <a:r>
              <a:rPr lang="ko-KR" altLang="en-US" sz="1600" dirty="0">
                <a:solidFill>
                  <a:srgbClr val="AAAAAA"/>
                </a:solidFill>
                <a:latin typeface="Garet"/>
                <a:ea typeface="Garet"/>
              </a:rPr>
              <a:t>전세계 흥행수익의 그룹별 분포 차이를 비교하였다</a:t>
            </a:r>
            <a:r>
              <a:rPr lang="en-US" altLang="ko-KR" sz="1600" dirty="0">
                <a:solidFill>
                  <a:srgbClr val="AAAAAA"/>
                </a:solidFill>
                <a:latin typeface="Garet"/>
                <a:ea typeface="Garet"/>
              </a:rPr>
              <a:t>.</a:t>
            </a:r>
            <a:endParaRPr lang="ko-KR" sz="1600" dirty="0">
              <a:solidFill>
                <a:srgbClr val="AAAAAA"/>
              </a:solidFill>
              <a:latin typeface="Garet"/>
              <a:ea typeface="Garet"/>
            </a:endParaRPr>
          </a:p>
        </p:txBody>
      </p:sp>
      <p:sp>
        <p:nvSpPr>
          <p:cNvPr id="49" name="PBox3"/>
          <p:cNvSpPr>
            <a:spLocks noGrp="1"/>
          </p:cNvSpPr>
          <p:nvPr/>
        </p:nvSpPr>
        <p:spPr>
          <a:xfrm>
            <a:off x="13208000" y="6731000"/>
            <a:ext cx="3810000" cy="25400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" name="PBoxAccent3"/>
          <p:cNvSpPr>
            <a:spLocks noGrp="1"/>
          </p:cNvSpPr>
          <p:nvPr/>
        </p:nvSpPr>
        <p:spPr>
          <a:xfrm>
            <a:off x="13208000" y="6731000"/>
            <a:ext cx="3810000" cy="508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" name="PBoxText3"/>
          <p:cNvSpPr>
            <a:spLocks noGrp="1"/>
          </p:cNvSpPr>
          <p:nvPr/>
        </p:nvSpPr>
        <p:spPr>
          <a:xfrm>
            <a:off x="13335000" y="6985000"/>
            <a:ext cx="3556000" cy="2159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tr">
              <a:lnSpc>
                <a:spcPts val="2600"/>
              </a:lnSpc>
            </a:pPr>
            <a:r>
              <a:rPr lang="ko-KR" sz="3200" b="1" dirty="0">
                <a:solidFill>
                  <a:srgbClr val="CCCCCC"/>
                </a:solidFill>
                <a:latin typeface="Garet Bold"/>
                <a:ea typeface="Garet Bold"/>
              </a:rPr>
              <a:t>④</a:t>
            </a:r>
          </a:p>
          <a:p>
            <a:pPr algn="ctr">
              <a:lnSpc>
                <a:spcPts val="2000"/>
              </a:lnSpc>
            </a:pPr>
            <a:endParaRPr lang="en-US" altLang="ko-KR" sz="1600" dirty="0">
              <a:solidFill>
                <a:srgbClr val="AAAAAA"/>
              </a:solidFill>
              <a:latin typeface="Garet"/>
              <a:ea typeface="Garet"/>
            </a:endParaRPr>
          </a:p>
          <a:p>
            <a:pPr algn="ctr">
              <a:lnSpc>
                <a:spcPts val="2000"/>
              </a:lnSpc>
            </a:pPr>
            <a:r>
              <a:rPr lang="ko-KR" altLang="en-US" sz="2400" dirty="0">
                <a:solidFill>
                  <a:srgbClr val="AAAAAA"/>
                </a:solidFill>
                <a:latin typeface="Garet"/>
                <a:ea typeface="Garet"/>
              </a:rPr>
              <a:t>피처 선택</a:t>
            </a:r>
            <a:endParaRPr lang="en-US" altLang="ko-KR" sz="2400" dirty="0">
              <a:solidFill>
                <a:srgbClr val="AAAAAA"/>
              </a:solidFill>
              <a:latin typeface="Garet"/>
              <a:ea typeface="Garet"/>
            </a:endParaRPr>
          </a:p>
          <a:p>
            <a:pPr algn="ctr">
              <a:lnSpc>
                <a:spcPts val="2000"/>
              </a:lnSpc>
            </a:pPr>
            <a:endParaRPr lang="ko-KR" altLang="en-US" sz="1600" dirty="0">
              <a:solidFill>
                <a:srgbClr val="AAAAAA"/>
              </a:solidFill>
              <a:latin typeface="Garet"/>
              <a:ea typeface="Garet"/>
            </a:endParaRPr>
          </a:p>
          <a:p>
            <a:pPr algn="ctr">
              <a:lnSpc>
                <a:spcPts val="2000"/>
              </a:lnSpc>
            </a:pPr>
            <a:r>
              <a:rPr lang="ko-KR" altLang="en-US" sz="1600" dirty="0">
                <a:solidFill>
                  <a:srgbClr val="AAAAAA"/>
                </a:solidFill>
                <a:latin typeface="Garet"/>
                <a:ea typeface="Garet"/>
              </a:rPr>
              <a:t>분석 결과를 바탕으로</a:t>
            </a:r>
          </a:p>
          <a:p>
            <a:pPr algn="ctr">
              <a:lnSpc>
                <a:spcPts val="2000"/>
              </a:lnSpc>
            </a:pPr>
            <a:r>
              <a:rPr lang="ko-KR" altLang="en-US" sz="1600" dirty="0">
                <a:solidFill>
                  <a:srgbClr val="AAAAAA"/>
                </a:solidFill>
                <a:latin typeface="Garet"/>
                <a:ea typeface="Garet"/>
              </a:rPr>
              <a:t>적합한 피처를 </a:t>
            </a:r>
            <a:r>
              <a:rPr lang="en-US" altLang="ko-KR" sz="1600" dirty="0">
                <a:solidFill>
                  <a:srgbClr val="AAAAAA"/>
                </a:solidFill>
                <a:latin typeface="Garet"/>
                <a:ea typeface="Garet"/>
              </a:rPr>
              <a:t>2</a:t>
            </a:r>
            <a:r>
              <a:rPr lang="ko-KR" altLang="en-US" sz="1600" dirty="0">
                <a:solidFill>
                  <a:srgbClr val="AAAAAA"/>
                </a:solidFill>
                <a:latin typeface="Garet"/>
                <a:ea typeface="Garet"/>
              </a:rPr>
              <a:t>개 이상 선정하고 선택 이유를 정리하였다</a:t>
            </a:r>
            <a:r>
              <a:rPr lang="en-US" altLang="ko-KR" sz="1600" dirty="0">
                <a:solidFill>
                  <a:srgbClr val="AAAAAA"/>
                </a:solidFill>
                <a:latin typeface="Garet"/>
                <a:ea typeface="Garet"/>
              </a:rPr>
              <a:t>.</a:t>
            </a:r>
            <a:endParaRPr lang="ko-KR" sz="1600" dirty="0">
              <a:solidFill>
                <a:srgbClr val="AAAAAA"/>
              </a:solidFill>
              <a:latin typeface="Garet"/>
              <a:ea typeface="Garet"/>
            </a:endParaRPr>
          </a:p>
        </p:txBody>
      </p:sp>
    </p:spTree>
    <p:extLst>
      <p:ext uri="{BB962C8B-B14F-4D97-AF65-F5344CB8AC3E}">
        <p14:creationId xmlns:p14="http://schemas.microsoft.com/office/powerpoint/2010/main" val="2399420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89F48454-EA98-42CE-A6D5-0A0EAB951446}"/>
              </a:ext>
            </a:extLst>
          </p:cNvPr>
          <p:cNvSpPr/>
          <p:nvPr/>
        </p:nvSpPr>
        <p:spPr>
          <a:xfrm>
            <a:off x="0" y="0"/>
            <a:ext cx="18288000" cy="1117600"/>
          </a:xfrm>
          <a:prstGeom prst="rect">
            <a:avLst/>
          </a:prstGeom>
          <a:solidFill>
            <a:srgbClr val="20202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075F09-0C91-420D-AF08-E5FF9BF3DF3C}"/>
              </a:ext>
            </a:extLst>
          </p:cNvPr>
          <p:cNvSpPr txBox="1"/>
          <p:nvPr/>
        </p:nvSpPr>
        <p:spPr>
          <a:xfrm>
            <a:off x="762000" y="266700"/>
            <a:ext cx="11430000" cy="660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4000" b="1" dirty="0">
                <a:solidFill>
                  <a:srgbClr val="FFFFFF"/>
                </a:solidFill>
                <a:latin typeface="Garet Bold"/>
              </a:rPr>
              <a:t>데이터셋 개요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1858337-92B4-49FC-9761-4C49F2A624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5126543"/>
              </p:ext>
            </p:extLst>
          </p:nvPr>
        </p:nvGraphicFramePr>
        <p:xfrm>
          <a:off x="762000" y="1397001"/>
          <a:ext cx="16764000" cy="71755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1855470381"/>
                    </a:ext>
                  </a:extLst>
                </a:gridCol>
                <a:gridCol w="9906000">
                  <a:extLst>
                    <a:ext uri="{9D8B030D-6E8A-4147-A177-3AD203B41FA5}">
                      <a16:colId xmlns:a16="http://schemas.microsoft.com/office/drawing/2014/main" val="303971372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793295183"/>
                    </a:ext>
                  </a:extLst>
                </a:gridCol>
              </a:tblGrid>
              <a:tr h="770922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8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 anchor="ctr">
                    <a:solidFill>
                      <a:srgbClr val="2020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8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</a:p>
                  </a:txBody>
                  <a:tcPr anchor="ctr">
                    <a:solidFill>
                      <a:srgbClr val="2020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800" b="1" dirty="0">
                          <a:solidFill>
                            <a:srgbClr val="FFFFFF"/>
                          </a:solidFill>
                        </a:rPr>
                        <a:t>비고</a:t>
                      </a:r>
                    </a:p>
                  </a:txBody>
                  <a:tcPr anchor="ctr">
                    <a:solidFill>
                      <a:srgbClr val="2020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1720237"/>
                  </a:ext>
                </a:extLst>
              </a:tr>
              <a:tr h="106743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400" b="1" dirty="0">
                          <a:solidFill>
                            <a:srgbClr val="303030"/>
                          </a:solidFill>
                        </a:rPr>
                        <a:t>데이터 파일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2400" dirty="0">
                          <a:solidFill>
                            <a:srgbClr val="303030"/>
                          </a:solidFill>
                        </a:rPr>
                        <a:t>미국영화_분석데이터_2016_2025.csv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400">
                          <a:solidFill>
                            <a:srgbClr val="303030"/>
                          </a:solidFill>
                        </a:rPr>
                        <a:t>Box Office Mojo 기반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9446635"/>
                  </a:ext>
                </a:extLst>
              </a:tr>
              <a:tr h="106743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400" b="1">
                          <a:solidFill>
                            <a:srgbClr val="303030"/>
                          </a:solidFill>
                        </a:rPr>
                        <a:t>분석 범위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2400" dirty="0">
                          <a:solidFill>
                            <a:srgbClr val="303030"/>
                          </a:solidFill>
                        </a:rPr>
                        <a:t>2016 ~ 2025년 미국 극장 개봉 영화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400" dirty="0">
                          <a:solidFill>
                            <a:srgbClr val="303030"/>
                          </a:solidFill>
                        </a:rPr>
                        <a:t>최근 10년간 데이터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123494"/>
                  </a:ext>
                </a:extLst>
              </a:tr>
              <a:tr h="106743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400" b="1">
                          <a:solidFill>
                            <a:srgbClr val="303030"/>
                          </a:solidFill>
                        </a:rPr>
                        <a:t>레코드 수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2400" dirty="0">
                          <a:solidFill>
                            <a:srgbClr val="303030"/>
                          </a:solidFill>
                        </a:rPr>
                        <a:t>7,368행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400" dirty="0">
                          <a:solidFill>
                            <a:srgbClr val="303030"/>
                          </a:solidFill>
                        </a:rPr>
                        <a:t>일반 극장 영화 대상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838582"/>
                  </a:ext>
                </a:extLst>
              </a:tr>
              <a:tr h="106743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400" b="1">
                          <a:solidFill>
                            <a:srgbClr val="303030"/>
                          </a:solidFill>
                        </a:rPr>
                        <a:t>제외 기준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2400" dirty="0">
                          <a:solidFill>
                            <a:srgbClr val="303030"/>
                          </a:solidFill>
                        </a:rPr>
                        <a:t>재개봉, 이벤트성 상영 제외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2400" dirty="0">
                        <a:solidFill>
                          <a:srgbClr val="303030"/>
                        </a:solidFill>
                      </a:endParaRP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801980"/>
                  </a:ext>
                </a:extLst>
              </a:tr>
              <a:tr h="106743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400" b="1">
                          <a:solidFill>
                            <a:srgbClr val="303030"/>
                          </a:solidFill>
                        </a:rPr>
                        <a:t>종속변수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2400" dirty="0" err="1">
                          <a:solidFill>
                            <a:srgbClr val="303030"/>
                          </a:solidFill>
                        </a:rPr>
                        <a:t>전세계_흥행수익_USD</a:t>
                      </a:r>
                      <a:endParaRPr lang="ko-KR" altLang="en-US" sz="2400" dirty="0">
                        <a:solidFill>
                          <a:srgbClr val="303030"/>
                        </a:solidFill>
                      </a:endParaRP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400" dirty="0" err="1">
                          <a:solidFill>
                            <a:srgbClr val="303030"/>
                          </a:solidFill>
                        </a:rPr>
                        <a:t>원달러</a:t>
                      </a:r>
                      <a:r>
                        <a:rPr lang="ko-KR" altLang="en-US" sz="2400" dirty="0">
                          <a:solidFill>
                            <a:srgbClr val="303030"/>
                          </a:solidFill>
                        </a:rPr>
                        <a:t> 환율 </a:t>
                      </a:r>
                      <a:r>
                        <a:rPr lang="en-US" altLang="ko-KR" sz="2400" dirty="0">
                          <a:solidFill>
                            <a:srgbClr val="303030"/>
                          </a:solidFill>
                        </a:rPr>
                        <a:t> 1,230 </a:t>
                      </a:r>
                      <a:r>
                        <a:rPr lang="ko-KR" altLang="en-US" sz="2400" dirty="0">
                          <a:solidFill>
                            <a:srgbClr val="303030"/>
                          </a:solidFill>
                        </a:rPr>
                        <a:t>기준</a:t>
                      </a:r>
                      <a:br>
                        <a:rPr lang="en-US" altLang="ko-KR" sz="2400" dirty="0">
                          <a:solidFill>
                            <a:srgbClr val="303030"/>
                          </a:solidFill>
                        </a:rPr>
                      </a:br>
                      <a:r>
                        <a:rPr lang="en-US" altLang="ko-KR" sz="2400" dirty="0">
                          <a:solidFill>
                            <a:srgbClr val="303030"/>
                          </a:solidFill>
                        </a:rPr>
                        <a:t>(2016~2025 </a:t>
                      </a:r>
                      <a:r>
                        <a:rPr lang="ko-KR" altLang="en-US" sz="2400" dirty="0">
                          <a:solidFill>
                            <a:srgbClr val="303030"/>
                          </a:solidFill>
                        </a:rPr>
                        <a:t>평균치</a:t>
                      </a:r>
                      <a:r>
                        <a:rPr lang="en-US" altLang="ko-KR" sz="2400" dirty="0">
                          <a:solidFill>
                            <a:srgbClr val="303030"/>
                          </a:solidFill>
                        </a:rPr>
                        <a:t>)</a:t>
                      </a:r>
                      <a:endParaRPr lang="ko-KR" altLang="en-US" sz="2400" dirty="0">
                        <a:solidFill>
                          <a:srgbClr val="303030"/>
                        </a:solidFill>
                      </a:endParaRP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5603563"/>
                  </a:ext>
                </a:extLst>
              </a:tr>
              <a:tr h="106743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400" b="1" dirty="0">
                          <a:solidFill>
                            <a:srgbClr val="303030"/>
                          </a:solidFill>
                        </a:rPr>
                        <a:t>주요 피처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2400" dirty="0">
                          <a:solidFill>
                            <a:srgbClr val="303030"/>
                          </a:solidFill>
                        </a:rPr>
                        <a:t>최대 </a:t>
                      </a:r>
                      <a:r>
                        <a:rPr lang="ko-KR" altLang="en-US" sz="2400" dirty="0" err="1">
                          <a:solidFill>
                            <a:srgbClr val="303030"/>
                          </a:solidFill>
                        </a:rPr>
                        <a:t>상영극장수</a:t>
                      </a:r>
                      <a:r>
                        <a:rPr lang="ko-KR" altLang="en-US" sz="2400" dirty="0">
                          <a:solidFill>
                            <a:srgbClr val="303030"/>
                          </a:solidFill>
                        </a:rPr>
                        <a:t>, 오픈 </a:t>
                      </a:r>
                      <a:r>
                        <a:rPr lang="ko-KR" altLang="en-US" sz="2400" dirty="0" err="1">
                          <a:solidFill>
                            <a:srgbClr val="303030"/>
                          </a:solidFill>
                        </a:rPr>
                        <a:t>극장수</a:t>
                      </a:r>
                      <a:r>
                        <a:rPr lang="ko-KR" altLang="en-US" sz="2400" dirty="0">
                          <a:solidFill>
                            <a:srgbClr val="303030"/>
                          </a:solidFill>
                        </a:rPr>
                        <a:t>, 대표장르, 개봉시기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400" dirty="0">
                          <a:solidFill>
                            <a:srgbClr val="303030"/>
                          </a:solidFill>
                        </a:rPr>
                        <a:t>수치형 2개 + 범주형 2개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88787"/>
                  </a:ext>
                </a:extLst>
              </a:tr>
            </a:tbl>
          </a:graphicData>
        </a:graphic>
      </p:graphicFrame>
      <p:sp>
        <p:nvSpPr>
          <p:cNvPr id="4" name="SummaryLabel">
            <a:extLst>
              <a:ext uri="{FF2B5EF4-FFF2-40B4-BE49-F238E27FC236}">
                <a16:creationId xmlns:a16="http://schemas.microsoft.com/office/drawing/2014/main" id="{F498BFA1-3276-0222-B5D2-443662448A80}"/>
              </a:ext>
            </a:extLst>
          </p:cNvPr>
          <p:cNvSpPr>
            <a:spLocks noGrp="1"/>
          </p:cNvSpPr>
          <p:nvPr/>
        </p:nvSpPr>
        <p:spPr>
          <a:xfrm>
            <a:off x="3657600" y="8724900"/>
            <a:ext cx="9677400" cy="838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ko-KR" altLang="en-US" sz="2000" dirty="0">
                <a:latin typeface="+mj-ea"/>
                <a:ea typeface="+mj-ea"/>
              </a:rPr>
              <a:t>최대 상영 </a:t>
            </a:r>
            <a:r>
              <a:rPr lang="ko-KR" altLang="en-US" sz="2000" dirty="0" err="1">
                <a:latin typeface="+mj-ea"/>
                <a:ea typeface="+mj-ea"/>
              </a:rPr>
              <a:t>극장수</a:t>
            </a:r>
            <a:r>
              <a:rPr lang="ko-KR" altLang="en-US" sz="2000" dirty="0">
                <a:latin typeface="+mj-ea"/>
                <a:ea typeface="+mj-ea"/>
              </a:rPr>
              <a:t> </a:t>
            </a:r>
            <a:r>
              <a:rPr lang="en-US" altLang="ko-KR" sz="2000" dirty="0">
                <a:latin typeface="+mj-ea"/>
                <a:ea typeface="+mj-ea"/>
              </a:rPr>
              <a:t>:  </a:t>
            </a:r>
            <a:r>
              <a:rPr lang="ko-KR" altLang="en-US" sz="2000" dirty="0">
                <a:latin typeface="+mj-ea"/>
                <a:ea typeface="+mj-ea"/>
              </a:rPr>
              <a:t>상영 기간동안 동시의 상영된 극장 수가 가장 많았을 때의 수</a:t>
            </a:r>
            <a:endParaRPr lang="en-US" altLang="ko-KR" sz="2000" dirty="0">
              <a:latin typeface="+mj-ea"/>
              <a:ea typeface="+mj-ea"/>
            </a:endParaRPr>
          </a:p>
          <a:p>
            <a:pPr algn="l"/>
            <a:r>
              <a:rPr lang="ko-KR" altLang="en-US" sz="2000" dirty="0">
                <a:latin typeface="+mj-ea"/>
                <a:ea typeface="+mj-ea"/>
              </a:rPr>
              <a:t>오픈 </a:t>
            </a:r>
            <a:r>
              <a:rPr lang="ko-KR" altLang="en-US" sz="2000" dirty="0" err="1">
                <a:latin typeface="+mj-ea"/>
                <a:ea typeface="+mj-ea"/>
              </a:rPr>
              <a:t>극장수</a:t>
            </a:r>
            <a:r>
              <a:rPr lang="ko-KR" altLang="en-US" sz="2000" dirty="0">
                <a:latin typeface="+mj-ea"/>
                <a:ea typeface="+mj-ea"/>
              </a:rPr>
              <a:t> </a:t>
            </a:r>
            <a:r>
              <a:rPr lang="en-US" altLang="ko-KR" sz="2000" dirty="0">
                <a:latin typeface="+mj-ea"/>
                <a:ea typeface="+mj-ea"/>
              </a:rPr>
              <a:t>: </a:t>
            </a:r>
            <a:r>
              <a:rPr lang="ko-KR" altLang="en-US" sz="2000" dirty="0">
                <a:latin typeface="+mj-ea"/>
                <a:ea typeface="+mj-ea"/>
              </a:rPr>
              <a:t>최초 </a:t>
            </a:r>
            <a:r>
              <a:rPr lang="ko-KR" altLang="en-US" sz="2000" dirty="0" err="1">
                <a:latin typeface="+mj-ea"/>
                <a:ea typeface="+mj-ea"/>
              </a:rPr>
              <a:t>개봉시</a:t>
            </a:r>
            <a:r>
              <a:rPr lang="ko-KR" altLang="en-US" sz="2000" dirty="0">
                <a:latin typeface="+mj-ea"/>
                <a:ea typeface="+mj-ea"/>
              </a:rPr>
              <a:t> 극장 수</a:t>
            </a:r>
            <a:endParaRPr lang="ko-KR" sz="2000" dirty="0">
              <a:latin typeface="+mj-ea"/>
              <a:ea typeface="+mj-ea"/>
            </a:endParaRPr>
          </a:p>
        </p:txBody>
      </p:sp>
      <p:sp>
        <p:nvSpPr>
          <p:cNvPr id="7" name="SummaryLabel">
            <a:extLst>
              <a:ext uri="{FF2B5EF4-FFF2-40B4-BE49-F238E27FC236}">
                <a16:creationId xmlns:a16="http://schemas.microsoft.com/office/drawing/2014/main" id="{DEC1D9F3-8938-5A1A-06D8-33EE8B83FE98}"/>
              </a:ext>
            </a:extLst>
          </p:cNvPr>
          <p:cNvSpPr>
            <a:spLocks noGrp="1"/>
          </p:cNvSpPr>
          <p:nvPr/>
        </p:nvSpPr>
        <p:spPr>
          <a:xfrm>
            <a:off x="13792200" y="8563600"/>
            <a:ext cx="6324600" cy="153289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ko-KR" altLang="en-US" sz="2000" dirty="0">
                <a:latin typeface="+mj-ea"/>
                <a:ea typeface="+mj-ea"/>
              </a:rPr>
              <a:t>수치형 </a:t>
            </a:r>
            <a:r>
              <a:rPr lang="en-US" altLang="ko-KR" sz="2000" dirty="0">
                <a:latin typeface="+mj-ea"/>
                <a:ea typeface="+mj-ea"/>
              </a:rPr>
              <a:t>: </a:t>
            </a:r>
            <a:r>
              <a:rPr lang="ko-KR" altLang="en-US" sz="2000" dirty="0">
                <a:latin typeface="+mj-ea"/>
                <a:ea typeface="+mj-ea"/>
              </a:rPr>
              <a:t>상관계수 계산 가능</a:t>
            </a:r>
            <a:r>
              <a:rPr lang="en-US" altLang="ko-KR" sz="2000" dirty="0">
                <a:latin typeface="+mj-ea"/>
                <a:ea typeface="+mj-ea"/>
              </a:rPr>
              <a:t>, </a:t>
            </a:r>
          </a:p>
          <a:p>
            <a:pPr algn="l"/>
            <a:r>
              <a:rPr lang="en-US" altLang="ko-KR" sz="2000" dirty="0">
                <a:latin typeface="+mj-ea"/>
                <a:ea typeface="+mj-ea"/>
              </a:rPr>
              <a:t>	 </a:t>
            </a:r>
            <a:r>
              <a:rPr lang="ko-KR" altLang="en-US" sz="2000" dirty="0">
                <a:latin typeface="+mj-ea"/>
                <a:ea typeface="+mj-ea"/>
              </a:rPr>
              <a:t>숫자 크기에 의미가 있음</a:t>
            </a:r>
            <a:endParaRPr lang="en-US" altLang="ko-KR" sz="2000" dirty="0">
              <a:latin typeface="+mj-ea"/>
              <a:ea typeface="+mj-ea"/>
            </a:endParaRPr>
          </a:p>
          <a:p>
            <a:pPr algn="l"/>
            <a:br>
              <a:rPr lang="en-US" altLang="ko-KR" sz="2000" dirty="0">
                <a:latin typeface="+mj-ea"/>
                <a:ea typeface="+mj-ea"/>
              </a:rPr>
            </a:br>
            <a:r>
              <a:rPr lang="ko-KR" altLang="en-US" sz="2000" dirty="0">
                <a:latin typeface="+mj-ea"/>
                <a:ea typeface="+mj-ea"/>
              </a:rPr>
              <a:t>범주형 </a:t>
            </a:r>
            <a:r>
              <a:rPr lang="en-US" altLang="ko-KR" sz="2000" dirty="0">
                <a:latin typeface="+mj-ea"/>
                <a:ea typeface="+mj-ea"/>
              </a:rPr>
              <a:t>: </a:t>
            </a:r>
            <a:r>
              <a:rPr lang="ko-KR" altLang="en-US" sz="2000" dirty="0">
                <a:latin typeface="+mj-ea"/>
                <a:ea typeface="+mj-ea"/>
              </a:rPr>
              <a:t>데이터를 그룹으로 나눔</a:t>
            </a:r>
            <a:r>
              <a:rPr lang="en-US" altLang="ko-KR" sz="2000" dirty="0">
                <a:latin typeface="+mj-ea"/>
                <a:ea typeface="+mj-ea"/>
              </a:rPr>
              <a:t>, </a:t>
            </a:r>
          </a:p>
          <a:p>
            <a:pPr algn="l"/>
            <a:r>
              <a:rPr lang="en-US" altLang="ko-KR" sz="2000" dirty="0">
                <a:latin typeface="+mj-ea"/>
                <a:ea typeface="+mj-ea"/>
              </a:rPr>
              <a:t>	 </a:t>
            </a:r>
            <a:r>
              <a:rPr lang="ko-KR" altLang="en-US" sz="2000" dirty="0">
                <a:latin typeface="+mj-ea"/>
                <a:ea typeface="+mj-ea"/>
              </a:rPr>
              <a:t>분포에 주목</a:t>
            </a:r>
            <a:endParaRPr lang="en-US" altLang="ko-KR" sz="2000" dirty="0">
              <a:latin typeface="+mj-ea"/>
              <a:ea typeface="+mj-ea"/>
            </a:endParaRPr>
          </a:p>
          <a:p>
            <a:pPr algn="l"/>
            <a:endParaRPr lang="ko-KR" sz="20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193990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drBg"/>
          <p:cNvSpPr>
            <a:spLocks noGrp="1"/>
          </p:cNvSpPr>
          <p:nvPr/>
        </p:nvSpPr>
        <p:spPr>
          <a:xfrm>
            <a:off x="0" y="0"/>
            <a:ext cx="18288000" cy="111760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SlideNum"/>
          <p:cNvSpPr>
            <a:spLocks noGrp="1"/>
          </p:cNvSpPr>
          <p:nvPr/>
        </p:nvSpPr>
        <p:spPr>
          <a:xfrm>
            <a:off x="762000" y="2540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en-US" sz="1400" dirty="0">
                <a:solidFill>
                  <a:srgbClr val="888888"/>
                </a:solidFill>
                <a:latin typeface="Garet"/>
              </a:rPr>
              <a:t>05</a:t>
            </a:r>
          </a:p>
        </p:txBody>
      </p:sp>
      <p:sp>
        <p:nvSpPr>
          <p:cNvPr id="12" name="Title"/>
          <p:cNvSpPr>
            <a:spLocks noGrp="1"/>
          </p:cNvSpPr>
          <p:nvPr/>
        </p:nvSpPr>
        <p:spPr>
          <a:xfrm>
            <a:off x="762000" y="482600"/>
            <a:ext cx="11430000" cy="660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lnSpc>
                <a:spcPts val="2200"/>
              </a:lnSpc>
            </a:pPr>
            <a:r>
              <a:rPr lang="ko-KR" sz="4000" b="1" dirty="0">
                <a:solidFill>
                  <a:srgbClr val="FFFFFF"/>
                </a:solidFill>
                <a:latin typeface="Garet Bold"/>
                <a:ea typeface="Garet Bold"/>
              </a:rPr>
              <a:t>변수 정의</a:t>
            </a:r>
          </a:p>
        </p:txBody>
      </p:sp>
      <p:sp>
        <p:nvSpPr>
          <p:cNvPr id="20" name="DepBg"/>
          <p:cNvSpPr>
            <a:spLocks noGrp="1"/>
          </p:cNvSpPr>
          <p:nvPr/>
        </p:nvSpPr>
        <p:spPr>
          <a:xfrm>
            <a:off x="762000" y="1371600"/>
            <a:ext cx="16764000" cy="2032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DepAccent"/>
          <p:cNvSpPr>
            <a:spLocks noGrp="1"/>
          </p:cNvSpPr>
          <p:nvPr/>
        </p:nvSpPr>
        <p:spPr>
          <a:xfrm>
            <a:off x="762000" y="1371600"/>
            <a:ext cx="50800" cy="2032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DepTitle"/>
          <p:cNvSpPr>
            <a:spLocks noGrp="1"/>
          </p:cNvSpPr>
          <p:nvPr/>
        </p:nvSpPr>
        <p:spPr>
          <a:xfrm>
            <a:off x="990600" y="1593850"/>
            <a:ext cx="508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lnSpc>
                <a:spcPts val="2200"/>
              </a:lnSpc>
            </a:pPr>
            <a:r>
              <a:rPr lang="ko-KR" sz="2800" b="1" dirty="0">
                <a:solidFill>
                  <a:srgbClr val="202020"/>
                </a:solidFill>
                <a:latin typeface="Garet Bold"/>
                <a:ea typeface="Garet Bold"/>
              </a:rPr>
              <a:t>종속변수 (Target)</a:t>
            </a:r>
          </a:p>
        </p:txBody>
      </p:sp>
      <p:sp>
        <p:nvSpPr>
          <p:cNvPr id="23" name="DepBadge"/>
          <p:cNvSpPr>
            <a:spLocks noGrp="1"/>
          </p:cNvSpPr>
          <p:nvPr/>
        </p:nvSpPr>
        <p:spPr>
          <a:xfrm>
            <a:off x="990600" y="2057400"/>
            <a:ext cx="4064000" cy="431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tr">
              <a:lnSpc>
                <a:spcPts val="2200"/>
              </a:lnSpc>
            </a:pPr>
            <a:r>
              <a:rPr lang="ko-KR" sz="1800" b="1" dirty="0">
                <a:solidFill>
                  <a:srgbClr val="FFFFFF"/>
                </a:solidFill>
                <a:latin typeface="Garet Bold"/>
                <a:ea typeface="Garet Bold"/>
              </a:rPr>
              <a:t>전세계_흥행수익_USD</a:t>
            </a:r>
          </a:p>
        </p:txBody>
      </p:sp>
      <p:sp>
        <p:nvSpPr>
          <p:cNvPr id="24" name="DepBadgeBg"/>
          <p:cNvSpPr>
            <a:spLocks noGrp="1"/>
          </p:cNvSpPr>
          <p:nvPr/>
        </p:nvSpPr>
        <p:spPr>
          <a:xfrm>
            <a:off x="990600" y="2013840"/>
            <a:ext cx="4064000" cy="11684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DepBadge2"/>
          <p:cNvSpPr>
            <a:spLocks noGrp="1"/>
          </p:cNvSpPr>
          <p:nvPr/>
        </p:nvSpPr>
        <p:spPr>
          <a:xfrm>
            <a:off x="1016000" y="2406650"/>
            <a:ext cx="4064000" cy="406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tr">
              <a:lnSpc>
                <a:spcPts val="2200"/>
              </a:lnSpc>
            </a:pPr>
            <a:r>
              <a:rPr lang="ko-KR" sz="2000" b="1" dirty="0">
                <a:solidFill>
                  <a:srgbClr val="FFFFFF"/>
                </a:solidFill>
                <a:latin typeface="Garet Bold"/>
                <a:ea typeface="Garet Bold"/>
              </a:rPr>
              <a:t>전세계_흥행수익_USD</a:t>
            </a:r>
          </a:p>
        </p:txBody>
      </p:sp>
      <p:sp>
        <p:nvSpPr>
          <p:cNvPr id="25" name="DepDesc"/>
          <p:cNvSpPr>
            <a:spLocks noGrp="1"/>
          </p:cNvSpPr>
          <p:nvPr/>
        </p:nvSpPr>
        <p:spPr>
          <a:xfrm>
            <a:off x="5334000" y="1981200"/>
            <a:ext cx="11938000" cy="1168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lnSpc>
                <a:spcPts val="2200"/>
              </a:lnSpc>
            </a:pPr>
            <a:r>
              <a:rPr lang="ko-KR" altLang="en-US" sz="2000" dirty="0">
                <a:latin typeface="+mj-ea"/>
                <a:ea typeface="+mj-ea"/>
              </a:rPr>
              <a:t>전 세계 극장 매출 합계</a:t>
            </a:r>
            <a:r>
              <a:rPr lang="en-US" altLang="ko-KR" sz="2000" dirty="0">
                <a:latin typeface="+mj-ea"/>
                <a:ea typeface="+mj-ea"/>
              </a:rPr>
              <a:t>(USD)</a:t>
            </a:r>
          </a:p>
          <a:p>
            <a:pPr>
              <a:lnSpc>
                <a:spcPts val="2200"/>
              </a:lnSpc>
            </a:pPr>
            <a:br>
              <a:rPr lang="ko-KR" altLang="en-US" sz="2400" dirty="0">
                <a:latin typeface="+mj-ea"/>
                <a:ea typeface="+mj-ea"/>
              </a:rPr>
            </a:br>
            <a:r>
              <a:rPr lang="ko-KR" altLang="en-US" sz="2000" dirty="0">
                <a:latin typeface="+mj-ea"/>
                <a:ea typeface="+mj-ea"/>
              </a:rPr>
              <a:t>분포가 오른쪽으로 크게 치우쳐 있어 </a:t>
            </a:r>
            <a:r>
              <a:rPr lang="ko-KR" altLang="en-US" sz="2000" dirty="0" err="1">
                <a:latin typeface="+mj-ea"/>
                <a:ea typeface="+mj-ea"/>
              </a:rPr>
              <a:t>원값과</a:t>
            </a:r>
            <a:r>
              <a:rPr lang="ko-KR" altLang="en-US" sz="2000" dirty="0">
                <a:latin typeface="+mj-ea"/>
                <a:ea typeface="+mj-ea"/>
              </a:rPr>
              <a:t> </a:t>
            </a:r>
            <a:r>
              <a:rPr lang="en-US" altLang="ko-KR" sz="2000" dirty="0">
                <a:latin typeface="+mj-ea"/>
                <a:ea typeface="+mj-ea"/>
              </a:rPr>
              <a:t>log1p </a:t>
            </a:r>
            <a:r>
              <a:rPr lang="ko-KR" altLang="en-US" sz="2000" dirty="0" err="1">
                <a:latin typeface="+mj-ea"/>
                <a:ea typeface="+mj-ea"/>
              </a:rPr>
              <a:t>변환값을</a:t>
            </a:r>
            <a:r>
              <a:rPr lang="ko-KR" altLang="en-US" sz="2000" dirty="0">
                <a:latin typeface="+mj-ea"/>
                <a:ea typeface="+mj-ea"/>
              </a:rPr>
              <a:t> 함께 확인하였다</a:t>
            </a:r>
            <a:r>
              <a:rPr lang="en-US" altLang="ko-KR" sz="2000" dirty="0">
                <a:latin typeface="+mj-ea"/>
                <a:ea typeface="+mj-ea"/>
              </a:rPr>
              <a:t>.</a:t>
            </a:r>
          </a:p>
          <a:p>
            <a:pPr>
              <a:lnSpc>
                <a:spcPts val="2200"/>
              </a:lnSpc>
            </a:pPr>
            <a:r>
              <a:rPr lang="ko-KR" altLang="en-US" sz="2000" spc="-300" dirty="0">
                <a:latin typeface="+mj-ea"/>
                <a:ea typeface="+mj-ea"/>
              </a:rPr>
              <a:t>（</a:t>
            </a:r>
            <a:r>
              <a:rPr lang="ko-KR" altLang="en-US" sz="2000" dirty="0">
                <a:latin typeface="+mj-ea"/>
                <a:ea typeface="+mj-ea"/>
              </a:rPr>
              <a:t>대부분 작은 값</a:t>
            </a:r>
            <a:r>
              <a:rPr lang="en-US" altLang="ko-KR" sz="2000" dirty="0">
                <a:latin typeface="+mj-ea"/>
                <a:ea typeface="+mj-ea"/>
              </a:rPr>
              <a:t>, </a:t>
            </a:r>
            <a:r>
              <a:rPr lang="ko-KR" altLang="en-US" sz="2000" dirty="0">
                <a:latin typeface="+mj-ea"/>
                <a:ea typeface="+mj-ea"/>
              </a:rPr>
              <a:t>일부가  매우 큰 값）</a:t>
            </a:r>
            <a:endParaRPr lang="ko-KR" sz="2400" dirty="0">
              <a:solidFill>
                <a:srgbClr val="505050"/>
              </a:solidFill>
              <a:latin typeface="+mj-ea"/>
              <a:ea typeface="+mj-ea"/>
            </a:endParaRPr>
          </a:p>
        </p:txBody>
      </p:sp>
      <p:sp>
        <p:nvSpPr>
          <p:cNvPr id="30" name="FCard0"/>
          <p:cNvSpPr>
            <a:spLocks noGrp="1"/>
          </p:cNvSpPr>
          <p:nvPr/>
        </p:nvSpPr>
        <p:spPr>
          <a:xfrm>
            <a:off x="762000" y="3683000"/>
            <a:ext cx="8191500" cy="29210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FCardTop0"/>
          <p:cNvSpPr>
            <a:spLocks noGrp="1"/>
          </p:cNvSpPr>
          <p:nvPr/>
        </p:nvSpPr>
        <p:spPr>
          <a:xfrm>
            <a:off x="762000" y="3683000"/>
            <a:ext cx="8191500" cy="508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FBadgeBg0"/>
          <p:cNvSpPr>
            <a:spLocks noGrp="1"/>
          </p:cNvSpPr>
          <p:nvPr/>
        </p:nvSpPr>
        <p:spPr>
          <a:xfrm>
            <a:off x="889000" y="3860800"/>
            <a:ext cx="1270000" cy="3302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" name="FBadge0"/>
          <p:cNvSpPr>
            <a:spLocks noGrp="1"/>
          </p:cNvSpPr>
          <p:nvPr/>
        </p:nvSpPr>
        <p:spPr>
          <a:xfrm>
            <a:off x="889000" y="3848100"/>
            <a:ext cx="1270000" cy="355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tr"/>
            <a:r>
              <a:rPr lang="ko-KR" b="1" dirty="0">
                <a:solidFill>
                  <a:srgbClr val="DDDDDD"/>
                </a:solidFill>
                <a:latin typeface="Garet Bold"/>
              </a:rPr>
              <a:t>수치형</a:t>
            </a:r>
          </a:p>
        </p:txBody>
      </p:sp>
      <p:sp>
        <p:nvSpPr>
          <p:cNvPr id="34" name="FName0"/>
          <p:cNvSpPr>
            <a:spLocks noGrp="1"/>
          </p:cNvSpPr>
          <p:nvPr/>
        </p:nvSpPr>
        <p:spPr>
          <a:xfrm>
            <a:off x="889000" y="4412835"/>
            <a:ext cx="7874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lnSpc>
                <a:spcPts val="2200"/>
              </a:lnSpc>
            </a:pPr>
            <a:r>
              <a:rPr lang="ko-KR" sz="2400" b="1" dirty="0">
                <a:solidFill>
                  <a:srgbClr val="FFFFFF"/>
                </a:solidFill>
                <a:latin typeface="Garet Bold"/>
                <a:ea typeface="Garet Bold"/>
              </a:rPr>
              <a:t>최대_상영극장수</a:t>
            </a:r>
          </a:p>
        </p:txBody>
      </p:sp>
      <p:sp>
        <p:nvSpPr>
          <p:cNvPr id="60" name="FDesc0"/>
          <p:cNvSpPr>
            <a:spLocks noGrp="1"/>
          </p:cNvSpPr>
          <p:nvPr/>
        </p:nvSpPr>
        <p:spPr>
          <a:xfrm>
            <a:off x="889000" y="5067300"/>
            <a:ext cx="7874000" cy="152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lnSpc>
                <a:spcPts val="2200"/>
              </a:lnSpc>
            </a:pPr>
            <a:r>
              <a:rPr lang="ko-KR" altLang="en-US" sz="2000" dirty="0">
                <a:solidFill>
                  <a:schemeClr val="bg1">
                    <a:lumMod val="85000"/>
                  </a:schemeClr>
                </a:solidFill>
              </a:rPr>
              <a:t>영화가 상영 기간 중 동시에 걸린 극장 수가 가장 많았던 시점의 값</a:t>
            </a:r>
            <a:endParaRPr lang="en-US" altLang="ko-KR" sz="2000" dirty="0">
              <a:solidFill>
                <a:schemeClr val="bg1">
                  <a:lumMod val="85000"/>
                </a:schemeClr>
              </a:solidFill>
            </a:endParaRPr>
          </a:p>
          <a:p>
            <a:pPr>
              <a:lnSpc>
                <a:spcPts val="2200"/>
              </a:lnSpc>
            </a:pPr>
            <a:br>
              <a:rPr lang="ko-KR" altLang="en-US" sz="24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ko-KR" altLang="en-US" sz="2000" dirty="0">
                <a:solidFill>
                  <a:schemeClr val="bg1">
                    <a:lumMod val="85000"/>
                  </a:schemeClr>
                </a:solidFill>
              </a:rPr>
              <a:t>영화의 전체 배급 규모와 흥행 확장 정도를 보여주는 지표</a:t>
            </a:r>
            <a:endParaRPr lang="ko-KR" sz="2400" dirty="0">
              <a:solidFill>
                <a:schemeClr val="bg1">
                  <a:lumMod val="85000"/>
                </a:schemeClr>
              </a:solidFill>
              <a:latin typeface="Garet"/>
              <a:ea typeface="Garet"/>
            </a:endParaRPr>
          </a:p>
        </p:txBody>
      </p:sp>
      <p:sp>
        <p:nvSpPr>
          <p:cNvPr id="35" name="FCard1"/>
          <p:cNvSpPr>
            <a:spLocks noGrp="1"/>
          </p:cNvSpPr>
          <p:nvPr/>
        </p:nvSpPr>
        <p:spPr>
          <a:xfrm>
            <a:off x="9271000" y="3683000"/>
            <a:ext cx="8191500" cy="29210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6" name="FCardTop1"/>
          <p:cNvSpPr>
            <a:spLocks noGrp="1"/>
          </p:cNvSpPr>
          <p:nvPr/>
        </p:nvSpPr>
        <p:spPr>
          <a:xfrm>
            <a:off x="9271000" y="3683000"/>
            <a:ext cx="8191500" cy="508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7" name="FBadgeBg1"/>
          <p:cNvSpPr>
            <a:spLocks noGrp="1"/>
          </p:cNvSpPr>
          <p:nvPr/>
        </p:nvSpPr>
        <p:spPr>
          <a:xfrm>
            <a:off x="9398000" y="3860800"/>
            <a:ext cx="1270000" cy="3302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8" name="FBadge1"/>
          <p:cNvSpPr>
            <a:spLocks noGrp="1"/>
          </p:cNvSpPr>
          <p:nvPr/>
        </p:nvSpPr>
        <p:spPr>
          <a:xfrm>
            <a:off x="9398000" y="3848100"/>
            <a:ext cx="1270000" cy="355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tr"/>
            <a:r>
              <a:rPr lang="ko-KR" sz="2000" b="1" dirty="0">
                <a:solidFill>
                  <a:srgbClr val="DDDDDD"/>
                </a:solidFill>
                <a:latin typeface="Garet Bold"/>
              </a:rPr>
              <a:t>수치형</a:t>
            </a:r>
          </a:p>
        </p:txBody>
      </p:sp>
      <p:sp>
        <p:nvSpPr>
          <p:cNvPr id="39" name="FName1"/>
          <p:cNvSpPr>
            <a:spLocks noGrp="1"/>
          </p:cNvSpPr>
          <p:nvPr/>
        </p:nvSpPr>
        <p:spPr>
          <a:xfrm>
            <a:off x="9381621" y="4412835"/>
            <a:ext cx="7874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lnSpc>
                <a:spcPts val="2200"/>
              </a:lnSpc>
            </a:pPr>
            <a:r>
              <a:rPr lang="ko-KR" sz="2400" b="1" dirty="0">
                <a:solidFill>
                  <a:srgbClr val="FFFFFF"/>
                </a:solidFill>
                <a:latin typeface="Garet Bold"/>
                <a:ea typeface="Garet Bold"/>
              </a:rPr>
              <a:t>오픈_극장수</a:t>
            </a:r>
          </a:p>
        </p:txBody>
      </p:sp>
      <p:sp>
        <p:nvSpPr>
          <p:cNvPr id="61" name="FDesc1"/>
          <p:cNvSpPr>
            <a:spLocks noGrp="1"/>
          </p:cNvSpPr>
          <p:nvPr/>
        </p:nvSpPr>
        <p:spPr>
          <a:xfrm>
            <a:off x="9398000" y="5067300"/>
            <a:ext cx="7874000" cy="152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lnSpc>
                <a:spcPts val="2200"/>
              </a:lnSpc>
            </a:pPr>
            <a:r>
              <a:rPr lang="ko-KR" altLang="en-US" sz="2000" dirty="0">
                <a:solidFill>
                  <a:schemeClr val="bg1">
                    <a:lumMod val="85000"/>
                  </a:schemeClr>
                </a:solidFill>
              </a:rPr>
              <a:t>영화가 개봉 첫 주말에 몇 개 극장에서 상영을 시작했는지 나타내는 값</a:t>
            </a:r>
            <a:endParaRPr lang="en-US" altLang="ko-KR" sz="2000" dirty="0">
              <a:solidFill>
                <a:schemeClr val="bg1">
                  <a:lumMod val="85000"/>
                </a:schemeClr>
              </a:solidFill>
            </a:endParaRPr>
          </a:p>
          <a:p>
            <a:pPr>
              <a:lnSpc>
                <a:spcPts val="2200"/>
              </a:lnSpc>
            </a:pPr>
            <a:br>
              <a:rPr lang="ko-KR" altLang="en-US" sz="24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ko-KR" altLang="en-US" sz="2000" dirty="0">
                <a:solidFill>
                  <a:schemeClr val="bg1">
                    <a:lumMod val="85000"/>
                  </a:schemeClr>
                </a:solidFill>
              </a:rPr>
              <a:t>초기 개봉 규모와 배급 전략을 보여주는 지표</a:t>
            </a:r>
            <a:endParaRPr lang="ko-KR" sz="2400" dirty="0">
              <a:solidFill>
                <a:schemeClr val="bg1">
                  <a:lumMod val="85000"/>
                </a:schemeClr>
              </a:solidFill>
              <a:latin typeface="Garet"/>
              <a:ea typeface="Garet"/>
            </a:endParaRPr>
          </a:p>
        </p:txBody>
      </p:sp>
      <p:sp>
        <p:nvSpPr>
          <p:cNvPr id="40" name="FCard2"/>
          <p:cNvSpPr>
            <a:spLocks noGrp="1"/>
          </p:cNvSpPr>
          <p:nvPr/>
        </p:nvSpPr>
        <p:spPr>
          <a:xfrm>
            <a:off x="762000" y="6794500"/>
            <a:ext cx="8191500" cy="29210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/>
          <a:lstStyle/>
          <a:p>
            <a:endParaRPr dirty="0"/>
          </a:p>
        </p:txBody>
      </p:sp>
      <p:sp>
        <p:nvSpPr>
          <p:cNvPr id="41" name="FCardTop2"/>
          <p:cNvSpPr>
            <a:spLocks noGrp="1"/>
          </p:cNvSpPr>
          <p:nvPr/>
        </p:nvSpPr>
        <p:spPr>
          <a:xfrm>
            <a:off x="762000" y="6794500"/>
            <a:ext cx="8191500" cy="508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FBadgeBg2"/>
          <p:cNvSpPr>
            <a:spLocks noGrp="1"/>
          </p:cNvSpPr>
          <p:nvPr/>
        </p:nvSpPr>
        <p:spPr>
          <a:xfrm>
            <a:off x="889000" y="6972300"/>
            <a:ext cx="1270000" cy="3302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3" name="FBadge2"/>
          <p:cNvSpPr>
            <a:spLocks noGrp="1"/>
          </p:cNvSpPr>
          <p:nvPr/>
        </p:nvSpPr>
        <p:spPr>
          <a:xfrm>
            <a:off x="889000" y="6959600"/>
            <a:ext cx="1270000" cy="355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tr"/>
            <a:r>
              <a:rPr lang="ko-KR" b="1" dirty="0">
                <a:solidFill>
                  <a:srgbClr val="DDDDDD"/>
                </a:solidFill>
                <a:latin typeface="Garet Bold"/>
              </a:rPr>
              <a:t>범주형</a:t>
            </a:r>
          </a:p>
        </p:txBody>
      </p:sp>
      <p:sp>
        <p:nvSpPr>
          <p:cNvPr id="44" name="FName2"/>
          <p:cNvSpPr>
            <a:spLocks noGrp="1"/>
          </p:cNvSpPr>
          <p:nvPr/>
        </p:nvSpPr>
        <p:spPr>
          <a:xfrm>
            <a:off x="965200" y="7493000"/>
            <a:ext cx="7874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lnSpc>
                <a:spcPts val="2200"/>
              </a:lnSpc>
            </a:pPr>
            <a:r>
              <a:rPr lang="ko-KR" sz="2400" b="1" dirty="0">
                <a:solidFill>
                  <a:srgbClr val="FFFFFF"/>
                </a:solidFill>
                <a:latin typeface="Garet Bold"/>
                <a:ea typeface="Garet Bold"/>
              </a:rPr>
              <a:t>대표장르</a:t>
            </a:r>
          </a:p>
        </p:txBody>
      </p:sp>
      <p:sp>
        <p:nvSpPr>
          <p:cNvPr id="62" name="FDesc2"/>
          <p:cNvSpPr>
            <a:spLocks noGrp="1"/>
          </p:cNvSpPr>
          <p:nvPr/>
        </p:nvSpPr>
        <p:spPr>
          <a:xfrm>
            <a:off x="889000" y="8064500"/>
            <a:ext cx="7874000" cy="152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lnSpc>
                <a:spcPts val="2200"/>
              </a:lnSpc>
            </a:pPr>
            <a:r>
              <a:rPr lang="ko-KR" altLang="en-US" sz="2000" dirty="0">
                <a:solidFill>
                  <a:schemeClr val="bg1">
                    <a:lumMod val="85000"/>
                  </a:schemeClr>
                </a:solidFill>
              </a:rPr>
              <a:t>영화의 여러 장르 중 대표가 되는 장르 하나로 정리한 변수</a:t>
            </a:r>
            <a:endParaRPr lang="en-US" altLang="ko-KR" sz="2000" dirty="0">
              <a:solidFill>
                <a:schemeClr val="bg1">
                  <a:lumMod val="85000"/>
                </a:schemeClr>
              </a:solidFill>
            </a:endParaRPr>
          </a:p>
          <a:p>
            <a:pPr>
              <a:lnSpc>
                <a:spcPts val="2200"/>
              </a:lnSpc>
            </a:pPr>
            <a:br>
              <a:rPr lang="ko-KR" altLang="en-US" sz="24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ko-KR" altLang="en-US" sz="2000" dirty="0">
                <a:solidFill>
                  <a:schemeClr val="bg1">
                    <a:lumMod val="85000"/>
                  </a:schemeClr>
                </a:solidFill>
              </a:rPr>
              <a:t>장르별 관객층과 흥행 패턴 차이를 비교하기 위한 범주형 피처</a:t>
            </a:r>
            <a:endParaRPr lang="ko-KR" sz="2400" dirty="0">
              <a:solidFill>
                <a:schemeClr val="bg1">
                  <a:lumMod val="85000"/>
                </a:schemeClr>
              </a:solidFill>
              <a:latin typeface="Garet"/>
              <a:ea typeface="Garet"/>
            </a:endParaRPr>
          </a:p>
        </p:txBody>
      </p:sp>
      <p:sp>
        <p:nvSpPr>
          <p:cNvPr id="45" name="FCard3"/>
          <p:cNvSpPr>
            <a:spLocks noGrp="1"/>
          </p:cNvSpPr>
          <p:nvPr/>
        </p:nvSpPr>
        <p:spPr>
          <a:xfrm>
            <a:off x="9271000" y="6794500"/>
            <a:ext cx="8191500" cy="29210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6" name="FCardTop3"/>
          <p:cNvSpPr>
            <a:spLocks noGrp="1"/>
          </p:cNvSpPr>
          <p:nvPr/>
        </p:nvSpPr>
        <p:spPr>
          <a:xfrm>
            <a:off x="9271000" y="6794500"/>
            <a:ext cx="8191500" cy="508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7" name="FBadgeBg3"/>
          <p:cNvSpPr>
            <a:spLocks noGrp="1"/>
          </p:cNvSpPr>
          <p:nvPr/>
        </p:nvSpPr>
        <p:spPr>
          <a:xfrm>
            <a:off x="9398000" y="6972300"/>
            <a:ext cx="1270000" cy="3302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8" name="FBadge3"/>
          <p:cNvSpPr>
            <a:spLocks noGrp="1"/>
          </p:cNvSpPr>
          <p:nvPr/>
        </p:nvSpPr>
        <p:spPr>
          <a:xfrm>
            <a:off x="9398000" y="6959600"/>
            <a:ext cx="1270000" cy="355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tr"/>
            <a:r>
              <a:rPr lang="ko-KR" b="1" dirty="0">
                <a:solidFill>
                  <a:srgbClr val="DDDDDD"/>
                </a:solidFill>
                <a:latin typeface="Garet Bold"/>
              </a:rPr>
              <a:t>범주형</a:t>
            </a:r>
          </a:p>
        </p:txBody>
      </p:sp>
      <p:sp>
        <p:nvSpPr>
          <p:cNvPr id="49" name="FName3"/>
          <p:cNvSpPr>
            <a:spLocks noGrp="1"/>
          </p:cNvSpPr>
          <p:nvPr/>
        </p:nvSpPr>
        <p:spPr>
          <a:xfrm>
            <a:off x="9423400" y="7493000"/>
            <a:ext cx="7874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lnSpc>
                <a:spcPts val="2200"/>
              </a:lnSpc>
            </a:pPr>
            <a:r>
              <a:rPr lang="ko-KR" sz="2400" b="1" dirty="0">
                <a:solidFill>
                  <a:srgbClr val="FFFFFF"/>
                </a:solidFill>
                <a:latin typeface="Garet Bold"/>
                <a:ea typeface="Garet Bold"/>
              </a:rPr>
              <a:t>개봉시기</a:t>
            </a:r>
          </a:p>
        </p:txBody>
      </p:sp>
      <p:sp>
        <p:nvSpPr>
          <p:cNvPr id="63" name="FDesc3"/>
          <p:cNvSpPr>
            <a:spLocks noGrp="1"/>
          </p:cNvSpPr>
          <p:nvPr/>
        </p:nvSpPr>
        <p:spPr>
          <a:xfrm>
            <a:off x="9398000" y="8064500"/>
            <a:ext cx="8001000" cy="152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lnSpc>
                <a:spcPts val="2200"/>
              </a:lnSpc>
            </a:pPr>
            <a:r>
              <a:rPr lang="ko-KR" sz="2000" dirty="0">
                <a:solidFill>
                  <a:schemeClr val="bg1">
                    <a:lumMod val="85000"/>
                  </a:schemeClr>
                </a:solidFill>
                <a:latin typeface="Garet"/>
                <a:ea typeface="Garet"/>
              </a:rPr>
              <a:t>여름 성수기(5~8월)</a:t>
            </a:r>
            <a:r>
              <a:rPr lang="en-US" altLang="ko-KR" sz="2000" dirty="0">
                <a:solidFill>
                  <a:schemeClr val="bg1">
                    <a:lumMod val="85000"/>
                  </a:schemeClr>
                </a:solidFill>
                <a:latin typeface="Garet"/>
                <a:ea typeface="Garet"/>
              </a:rPr>
              <a:t>,</a:t>
            </a:r>
            <a:r>
              <a:rPr lang="ko-KR" altLang="en-US" sz="2000" dirty="0">
                <a:solidFill>
                  <a:schemeClr val="bg1">
                    <a:lumMod val="85000"/>
                  </a:schemeClr>
                </a:solidFill>
                <a:latin typeface="Garet"/>
                <a:ea typeface="Garet"/>
              </a:rPr>
              <a:t> </a:t>
            </a:r>
            <a:r>
              <a:rPr lang="ko-KR" sz="2000" dirty="0">
                <a:solidFill>
                  <a:schemeClr val="bg1">
                    <a:lumMod val="85000"/>
                  </a:schemeClr>
                </a:solidFill>
                <a:latin typeface="Garet"/>
                <a:ea typeface="Garet"/>
              </a:rPr>
              <a:t>연말 성수기(11~12월)</a:t>
            </a:r>
            <a:r>
              <a:rPr lang="en-US" altLang="ko-KR" sz="2000" dirty="0">
                <a:solidFill>
                  <a:schemeClr val="bg1">
                    <a:lumMod val="85000"/>
                  </a:schemeClr>
                </a:solidFill>
                <a:latin typeface="Garet"/>
                <a:ea typeface="Garet"/>
              </a:rPr>
              <a:t>,</a:t>
            </a:r>
            <a:r>
              <a:rPr lang="ko-KR" altLang="en-US" sz="2000" dirty="0">
                <a:solidFill>
                  <a:schemeClr val="bg1">
                    <a:lumMod val="85000"/>
                  </a:schemeClr>
                </a:solidFill>
                <a:latin typeface="Garet"/>
                <a:ea typeface="Garet"/>
              </a:rPr>
              <a:t> </a:t>
            </a:r>
            <a:r>
              <a:rPr lang="ko-KR" sz="2000" dirty="0" err="1">
                <a:solidFill>
                  <a:schemeClr val="bg1">
                    <a:lumMod val="85000"/>
                  </a:schemeClr>
                </a:solidFill>
                <a:latin typeface="Garet"/>
                <a:ea typeface="Garet"/>
              </a:rPr>
              <a:t>일반기</a:t>
            </a:r>
            <a:r>
              <a:rPr lang="ko-KR" altLang="en-US" sz="2000" dirty="0">
                <a:solidFill>
                  <a:schemeClr val="bg1">
                    <a:lumMod val="85000"/>
                  </a:schemeClr>
                </a:solidFill>
                <a:latin typeface="Garet"/>
                <a:ea typeface="Garet"/>
              </a:rPr>
              <a:t> </a:t>
            </a:r>
            <a:r>
              <a:rPr lang="ko-KR" sz="2000" dirty="0">
                <a:solidFill>
                  <a:schemeClr val="bg1">
                    <a:lumMod val="85000"/>
                  </a:schemeClr>
                </a:solidFill>
                <a:latin typeface="Garet"/>
                <a:ea typeface="Garet"/>
              </a:rPr>
              <a:t>3구간</a:t>
            </a:r>
            <a:r>
              <a:rPr lang="ko-KR" altLang="en-US" sz="2000" dirty="0">
                <a:solidFill>
                  <a:schemeClr val="bg1">
                    <a:lumMod val="85000"/>
                  </a:schemeClr>
                </a:solidFill>
                <a:latin typeface="Garet"/>
                <a:ea typeface="Garet"/>
              </a:rPr>
              <a:t> 분류</a:t>
            </a:r>
            <a:endParaRPr lang="en-US" altLang="ko-KR" sz="2000" dirty="0">
              <a:solidFill>
                <a:schemeClr val="bg1">
                  <a:lumMod val="85000"/>
                </a:schemeClr>
              </a:solidFill>
              <a:latin typeface="Garet"/>
              <a:ea typeface="Garet"/>
            </a:endParaRPr>
          </a:p>
          <a:p>
            <a:pPr algn="l">
              <a:lnSpc>
                <a:spcPts val="2200"/>
              </a:lnSpc>
            </a:pPr>
            <a:endParaRPr lang="en-US" altLang="ko-KR" sz="2000" dirty="0">
              <a:solidFill>
                <a:schemeClr val="bg1">
                  <a:lumMod val="85000"/>
                </a:schemeClr>
              </a:solidFill>
              <a:latin typeface="Garet"/>
              <a:ea typeface="Garet"/>
            </a:endParaRPr>
          </a:p>
          <a:p>
            <a:pPr>
              <a:lnSpc>
                <a:spcPts val="2200"/>
              </a:lnSpc>
            </a:pPr>
            <a:r>
              <a:rPr lang="ko-KR" altLang="en-US" sz="2000" dirty="0">
                <a:solidFill>
                  <a:schemeClr val="bg1">
                    <a:lumMod val="85000"/>
                  </a:schemeClr>
                </a:solidFill>
                <a:latin typeface="Garet"/>
                <a:ea typeface="Garet"/>
              </a:rPr>
              <a:t>미국 시장에서 </a:t>
            </a:r>
            <a:r>
              <a:rPr lang="en-US" altLang="ko-KR" sz="2000" dirty="0">
                <a:solidFill>
                  <a:schemeClr val="bg1">
                    <a:lumMod val="85000"/>
                  </a:schemeClr>
                </a:solidFill>
                <a:latin typeface="Garet"/>
                <a:ea typeface="Garet"/>
              </a:rPr>
              <a:t>5~8</a:t>
            </a:r>
            <a:r>
              <a:rPr lang="ko-KR" altLang="en-US" sz="2000" dirty="0">
                <a:solidFill>
                  <a:schemeClr val="bg1">
                    <a:lumMod val="85000"/>
                  </a:schemeClr>
                </a:solidFill>
                <a:latin typeface="Garet"/>
                <a:ea typeface="Garet"/>
              </a:rPr>
              <a:t>월은 여름방학</a:t>
            </a:r>
            <a:r>
              <a:rPr lang="en-US" altLang="ko-KR" sz="2000" dirty="0">
                <a:solidFill>
                  <a:schemeClr val="bg1">
                    <a:lumMod val="85000"/>
                  </a:schemeClr>
                </a:solidFill>
                <a:latin typeface="Garet"/>
                <a:ea typeface="Garet"/>
              </a:rPr>
              <a:t>,</a:t>
            </a:r>
            <a:r>
              <a:rPr lang="ko-KR" altLang="en-US" sz="2000" dirty="0">
                <a:solidFill>
                  <a:schemeClr val="bg1">
                    <a:lumMod val="85000"/>
                  </a:schemeClr>
                </a:solidFill>
                <a:latin typeface="Garet"/>
                <a:ea typeface="Garet"/>
              </a:rPr>
              <a:t> </a:t>
            </a:r>
            <a:r>
              <a:rPr lang="en-US" altLang="ko-KR" sz="2000" dirty="0">
                <a:solidFill>
                  <a:schemeClr val="bg1">
                    <a:lumMod val="85000"/>
                  </a:schemeClr>
                </a:solidFill>
                <a:latin typeface="Garet"/>
                <a:ea typeface="Garet"/>
              </a:rPr>
              <a:t>1</a:t>
            </a:r>
            <a:r>
              <a:rPr lang="ko-KR" altLang="ko-KR" sz="2000" dirty="0">
                <a:solidFill>
                  <a:schemeClr val="bg1">
                    <a:lumMod val="85000"/>
                  </a:schemeClr>
                </a:solidFill>
                <a:latin typeface="Garet"/>
                <a:ea typeface="Garet"/>
              </a:rPr>
              <a:t>1~12월</a:t>
            </a:r>
            <a:r>
              <a:rPr lang="ko-KR" altLang="en-US" sz="2000" dirty="0">
                <a:solidFill>
                  <a:schemeClr val="bg1">
                    <a:lumMod val="85000"/>
                  </a:schemeClr>
                </a:solidFill>
                <a:latin typeface="Garet"/>
                <a:ea typeface="Garet"/>
              </a:rPr>
              <a:t>은 추수감사절</a:t>
            </a:r>
            <a:endParaRPr lang="en-US" altLang="ko-KR" sz="2000" dirty="0">
              <a:solidFill>
                <a:schemeClr val="bg1">
                  <a:lumMod val="85000"/>
                </a:schemeClr>
              </a:solidFill>
              <a:latin typeface="Garet"/>
              <a:ea typeface="Garet"/>
            </a:endParaRPr>
          </a:p>
          <a:p>
            <a:pPr>
              <a:lnSpc>
                <a:spcPts val="2200"/>
              </a:lnSpc>
            </a:pPr>
            <a:endParaRPr lang="en-US" altLang="ko-KR" sz="2000" dirty="0">
              <a:solidFill>
                <a:schemeClr val="bg1">
                  <a:lumMod val="85000"/>
                </a:schemeClr>
              </a:solidFill>
              <a:latin typeface="Garet"/>
              <a:ea typeface="Garet"/>
            </a:endParaRPr>
          </a:p>
          <a:p>
            <a:pPr>
              <a:lnSpc>
                <a:spcPts val="2200"/>
              </a:lnSpc>
            </a:pPr>
            <a:r>
              <a:rPr lang="ko-KR" altLang="en-US" sz="2000" dirty="0">
                <a:solidFill>
                  <a:schemeClr val="bg1">
                    <a:lumMod val="85000"/>
                  </a:schemeClr>
                </a:solidFill>
                <a:latin typeface="Garet"/>
                <a:ea typeface="Garet"/>
              </a:rPr>
              <a:t>크리스마스 연휴로 대표 성수기임</a:t>
            </a:r>
            <a:endParaRPr lang="en-US" altLang="ko-KR" sz="2000" dirty="0">
              <a:solidFill>
                <a:schemeClr val="bg1">
                  <a:lumMod val="85000"/>
                </a:schemeClr>
              </a:solidFill>
              <a:latin typeface="Garet"/>
              <a:ea typeface="Garet"/>
            </a:endParaRPr>
          </a:p>
          <a:p>
            <a:pPr algn="l">
              <a:lnSpc>
                <a:spcPts val="2200"/>
              </a:lnSpc>
            </a:pPr>
            <a:endParaRPr lang="en-US" altLang="ko-KR" sz="2000" dirty="0">
              <a:solidFill>
                <a:schemeClr val="bg1">
                  <a:lumMod val="85000"/>
                </a:schemeClr>
              </a:solidFill>
              <a:latin typeface="Garet"/>
              <a:ea typeface="Garet"/>
            </a:endParaRPr>
          </a:p>
          <a:p>
            <a:pPr algn="l">
              <a:lnSpc>
                <a:spcPts val="2200"/>
              </a:lnSpc>
            </a:pPr>
            <a:endParaRPr lang="ko-KR" sz="2000" dirty="0">
              <a:solidFill>
                <a:schemeClr val="bg1">
                  <a:lumMod val="85000"/>
                </a:schemeClr>
              </a:solidFill>
              <a:latin typeface="Garet"/>
              <a:ea typeface="Garet"/>
            </a:endParaRPr>
          </a:p>
        </p:txBody>
      </p:sp>
    </p:spTree>
    <p:extLst>
      <p:ext uri="{BB962C8B-B14F-4D97-AF65-F5344CB8AC3E}">
        <p14:creationId xmlns:p14="http://schemas.microsoft.com/office/powerpoint/2010/main" val="3854532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drBg"/>
          <p:cNvSpPr>
            <a:spLocks noGrp="1"/>
          </p:cNvSpPr>
          <p:nvPr/>
        </p:nvSpPr>
        <p:spPr>
          <a:xfrm>
            <a:off x="0" y="0"/>
            <a:ext cx="18288000" cy="111760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Num"/>
          <p:cNvSpPr>
            <a:spLocks noGrp="1"/>
          </p:cNvSpPr>
          <p:nvPr/>
        </p:nvSpPr>
        <p:spPr>
          <a:xfrm>
            <a:off x="762000" y="2540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en-US" sz="1400" dirty="0">
                <a:solidFill>
                  <a:srgbClr val="888888"/>
                </a:solidFill>
                <a:latin typeface="Garet"/>
              </a:rPr>
              <a:t>06</a:t>
            </a:r>
          </a:p>
        </p:txBody>
      </p:sp>
      <p:sp>
        <p:nvSpPr>
          <p:cNvPr id="12" name="Title"/>
          <p:cNvSpPr>
            <a:spLocks noGrp="1"/>
          </p:cNvSpPr>
          <p:nvPr/>
        </p:nvSpPr>
        <p:spPr>
          <a:xfrm>
            <a:off x="762000" y="482600"/>
            <a:ext cx="11430000" cy="660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lnSpc>
                <a:spcPts val="2200"/>
              </a:lnSpc>
            </a:pPr>
            <a:r>
              <a:rPr lang="ko-KR" sz="4000" b="1" dirty="0">
                <a:solidFill>
                  <a:srgbClr val="FFFFFF"/>
                </a:solidFill>
                <a:latin typeface="Garet Bold"/>
                <a:ea typeface="Garet Bold"/>
              </a:rPr>
              <a:t>데이터 전처리 방법</a:t>
            </a:r>
          </a:p>
        </p:txBody>
      </p:sp>
      <p:sp>
        <p:nvSpPr>
          <p:cNvPr id="20" name="Card0"/>
          <p:cNvSpPr>
            <a:spLocks noGrp="1"/>
          </p:cNvSpPr>
          <p:nvPr/>
        </p:nvSpPr>
        <p:spPr>
          <a:xfrm>
            <a:off x="762000" y="1435100"/>
            <a:ext cx="5461000" cy="3937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CardTop0"/>
          <p:cNvSpPr>
            <a:spLocks noGrp="1"/>
          </p:cNvSpPr>
          <p:nvPr/>
        </p:nvSpPr>
        <p:spPr>
          <a:xfrm>
            <a:off x="762000" y="1397000"/>
            <a:ext cx="5461000" cy="635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CardNum0"/>
          <p:cNvSpPr>
            <a:spLocks noGrp="1"/>
          </p:cNvSpPr>
          <p:nvPr/>
        </p:nvSpPr>
        <p:spPr>
          <a:xfrm>
            <a:off x="939800" y="1625600"/>
            <a:ext cx="762000" cy="660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lnSpc>
                <a:spcPts val="2200"/>
              </a:lnSpc>
            </a:pPr>
            <a:r>
              <a:rPr lang="ko-KR" sz="4000" b="1" dirty="0">
                <a:solidFill>
                  <a:srgbClr val="DDDDDD"/>
                </a:solidFill>
                <a:latin typeface="Garet Bold"/>
                <a:ea typeface="Garet Bold"/>
              </a:rPr>
              <a:t>01</a:t>
            </a:r>
          </a:p>
        </p:txBody>
      </p:sp>
      <p:sp>
        <p:nvSpPr>
          <p:cNvPr id="23" name="CardTitle0"/>
          <p:cNvSpPr>
            <a:spLocks noGrp="1"/>
          </p:cNvSpPr>
          <p:nvPr/>
        </p:nvSpPr>
        <p:spPr>
          <a:xfrm>
            <a:off x="939800" y="2387600"/>
            <a:ext cx="51054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lnSpc>
                <a:spcPts val="2200"/>
              </a:lnSpc>
            </a:pPr>
            <a:r>
              <a:rPr lang="ko-KR" sz="3000" b="1" dirty="0">
                <a:solidFill>
                  <a:srgbClr val="202020"/>
                </a:solidFill>
                <a:latin typeface="Garet Bold"/>
                <a:ea typeface="Garet Bold"/>
              </a:rPr>
              <a:t>분석 대상 </a:t>
            </a:r>
            <a:r>
              <a:rPr lang="ko-KR" sz="2800" b="1" dirty="0">
                <a:solidFill>
                  <a:srgbClr val="202020"/>
                </a:solidFill>
                <a:latin typeface="Garet Bold"/>
                <a:ea typeface="Garet Bold"/>
              </a:rPr>
              <a:t>정제</a:t>
            </a:r>
            <a:endParaRPr lang="ko-KR" sz="2200" b="1" dirty="0">
              <a:solidFill>
                <a:srgbClr val="202020"/>
              </a:solidFill>
              <a:latin typeface="Garet Bold"/>
              <a:ea typeface="Garet Bold"/>
            </a:endParaRPr>
          </a:p>
        </p:txBody>
      </p:sp>
      <p:sp>
        <p:nvSpPr>
          <p:cNvPr id="80" name="CardBody0"/>
          <p:cNvSpPr>
            <a:spLocks noGrp="1"/>
          </p:cNvSpPr>
          <p:nvPr/>
        </p:nvSpPr>
        <p:spPr>
          <a:xfrm>
            <a:off x="939800" y="3048000"/>
            <a:ext cx="5105400" cy="2057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2400" dirty="0">
                <a:solidFill>
                  <a:srgbClr val="505050"/>
                </a:solidFill>
                <a:latin typeface="Garet"/>
                <a:ea typeface="Garet"/>
              </a:rPr>
              <a:t>재개봉, 공연 실황, 이벤트성 상영을 제외하고 일반 극장 </a:t>
            </a:r>
            <a:r>
              <a:rPr lang="ko-KR" sz="2400" dirty="0" err="1">
                <a:solidFill>
                  <a:srgbClr val="505050"/>
                </a:solidFill>
                <a:latin typeface="Garet"/>
                <a:ea typeface="Garet"/>
              </a:rPr>
              <a:t>개봉작만</a:t>
            </a:r>
            <a:r>
              <a:rPr lang="en-US" altLang="ko-KR" sz="2400" dirty="0">
                <a:solidFill>
                  <a:srgbClr val="505050"/>
                </a:solidFill>
                <a:latin typeface="Garet"/>
                <a:ea typeface="Garet"/>
              </a:rPr>
              <a:t> </a:t>
            </a:r>
            <a:r>
              <a:rPr lang="ko-KR" altLang="en-US" sz="2400" dirty="0">
                <a:solidFill>
                  <a:srgbClr val="505050"/>
                </a:solidFill>
                <a:latin typeface="Garet"/>
                <a:ea typeface="Garet"/>
              </a:rPr>
              <a:t>사용 </a:t>
            </a:r>
            <a:endParaRPr lang="en-US" altLang="ko-KR" sz="2400" dirty="0">
              <a:solidFill>
                <a:srgbClr val="505050"/>
              </a:solidFill>
              <a:latin typeface="Garet"/>
              <a:ea typeface="Garet"/>
            </a:endParaRPr>
          </a:p>
          <a:p>
            <a:pPr algn="l"/>
            <a:endParaRPr lang="en-US" altLang="ko-KR" sz="2400" dirty="0">
              <a:solidFill>
                <a:srgbClr val="505050"/>
              </a:solidFill>
              <a:latin typeface="Garet"/>
              <a:ea typeface="Garet"/>
            </a:endParaRPr>
          </a:p>
          <a:p>
            <a:pPr algn="l"/>
            <a:r>
              <a:rPr lang="ko-KR" sz="2400" dirty="0">
                <a:solidFill>
                  <a:srgbClr val="505050"/>
                </a:solidFill>
                <a:latin typeface="Garet"/>
                <a:ea typeface="Garet"/>
              </a:rPr>
              <a:t>흥행수익 또는 극장 수가 없거나 0인 경우는 해당 분석 단계에서 제외</a:t>
            </a:r>
          </a:p>
        </p:txBody>
      </p:sp>
      <p:sp>
        <p:nvSpPr>
          <p:cNvPr id="24" name="Card1"/>
          <p:cNvSpPr>
            <a:spLocks noGrp="1"/>
          </p:cNvSpPr>
          <p:nvPr/>
        </p:nvSpPr>
        <p:spPr>
          <a:xfrm>
            <a:off x="6604000" y="1397000"/>
            <a:ext cx="5461000" cy="3937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" name="CardTop1"/>
          <p:cNvSpPr>
            <a:spLocks noGrp="1"/>
          </p:cNvSpPr>
          <p:nvPr/>
        </p:nvSpPr>
        <p:spPr>
          <a:xfrm>
            <a:off x="6604000" y="1397000"/>
            <a:ext cx="5461000" cy="635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" name="CardNum1"/>
          <p:cNvSpPr>
            <a:spLocks noGrp="1"/>
          </p:cNvSpPr>
          <p:nvPr/>
        </p:nvSpPr>
        <p:spPr>
          <a:xfrm>
            <a:off x="6781800" y="1625600"/>
            <a:ext cx="914400" cy="660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lnSpc>
                <a:spcPts val="2200"/>
              </a:lnSpc>
            </a:pPr>
            <a:r>
              <a:rPr lang="en-US" altLang="ko-KR" sz="4000" b="1" dirty="0">
                <a:solidFill>
                  <a:srgbClr val="DDDDDD"/>
                </a:solidFill>
                <a:latin typeface="Garet Bold"/>
                <a:ea typeface="Garet Bold"/>
              </a:rPr>
              <a:t>0</a:t>
            </a:r>
            <a:r>
              <a:rPr lang="ko-KR" sz="4000" b="1" dirty="0">
                <a:solidFill>
                  <a:srgbClr val="DDDDDD"/>
                </a:solidFill>
                <a:latin typeface="Garet Bold"/>
                <a:ea typeface="Garet Bold"/>
              </a:rPr>
              <a:t>2</a:t>
            </a:r>
          </a:p>
        </p:txBody>
      </p:sp>
      <p:sp>
        <p:nvSpPr>
          <p:cNvPr id="27" name="CardTitle1"/>
          <p:cNvSpPr>
            <a:spLocks noGrp="1"/>
          </p:cNvSpPr>
          <p:nvPr/>
        </p:nvSpPr>
        <p:spPr>
          <a:xfrm>
            <a:off x="6781800" y="2387600"/>
            <a:ext cx="51054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lnSpc>
                <a:spcPts val="2200"/>
              </a:lnSpc>
            </a:pPr>
            <a:r>
              <a:rPr lang="ko-KR" sz="3000" b="1" dirty="0">
                <a:solidFill>
                  <a:srgbClr val="202020"/>
                </a:solidFill>
                <a:latin typeface="Garet Bold"/>
                <a:ea typeface="Garet Bold"/>
              </a:rPr>
              <a:t>log1p 변환</a:t>
            </a:r>
          </a:p>
        </p:txBody>
      </p:sp>
      <p:sp>
        <p:nvSpPr>
          <p:cNvPr id="81" name="CardBody1"/>
          <p:cNvSpPr>
            <a:spLocks noGrp="1"/>
          </p:cNvSpPr>
          <p:nvPr/>
        </p:nvSpPr>
        <p:spPr>
          <a:xfrm>
            <a:off x="6781800" y="3048000"/>
            <a:ext cx="5105400" cy="2057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2400" dirty="0">
                <a:solidFill>
                  <a:srgbClr val="505050"/>
                </a:solidFill>
                <a:latin typeface="Garet"/>
                <a:ea typeface="Garet"/>
              </a:rPr>
              <a:t>전세계 흥행수익, 최대 상영 극장수, 오픈 극장수에 log1p() 적용</a:t>
            </a:r>
            <a:endParaRPr lang="en-US" altLang="ko-KR" sz="2400" dirty="0">
              <a:solidFill>
                <a:srgbClr val="505050"/>
              </a:solidFill>
              <a:latin typeface="Garet"/>
              <a:ea typeface="Garet"/>
            </a:endParaRPr>
          </a:p>
          <a:p>
            <a:pPr algn="l"/>
            <a:endParaRPr lang="ko-KR" sz="2400" dirty="0">
              <a:solidFill>
                <a:srgbClr val="505050"/>
              </a:solidFill>
              <a:latin typeface="Garet"/>
              <a:ea typeface="Garet"/>
            </a:endParaRPr>
          </a:p>
          <a:p>
            <a:pPr algn="l"/>
            <a:r>
              <a:rPr lang="ko-KR" sz="2400" dirty="0">
                <a:solidFill>
                  <a:srgbClr val="505050"/>
                </a:solidFill>
                <a:latin typeface="Garet"/>
                <a:ea typeface="Garet"/>
              </a:rPr>
              <a:t>치우친 분포를 완화하고 변수 간 관계를 안정적으로 확인하기 위</a:t>
            </a:r>
            <a:r>
              <a:rPr lang="ko-KR" altLang="en-US" sz="2400" dirty="0">
                <a:solidFill>
                  <a:srgbClr val="505050"/>
                </a:solidFill>
                <a:latin typeface="Garet"/>
                <a:ea typeface="Garet"/>
              </a:rPr>
              <a:t>함</a:t>
            </a:r>
            <a:endParaRPr lang="ko-KR" sz="2400" dirty="0">
              <a:solidFill>
                <a:srgbClr val="505050"/>
              </a:solidFill>
              <a:latin typeface="Garet"/>
              <a:ea typeface="Garet"/>
            </a:endParaRPr>
          </a:p>
        </p:txBody>
      </p:sp>
      <p:sp>
        <p:nvSpPr>
          <p:cNvPr id="28" name="Card2"/>
          <p:cNvSpPr>
            <a:spLocks noGrp="1"/>
          </p:cNvSpPr>
          <p:nvPr/>
        </p:nvSpPr>
        <p:spPr>
          <a:xfrm>
            <a:off x="12446000" y="1397000"/>
            <a:ext cx="5461000" cy="3937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9" name="CardTop2"/>
          <p:cNvSpPr>
            <a:spLocks noGrp="1"/>
          </p:cNvSpPr>
          <p:nvPr/>
        </p:nvSpPr>
        <p:spPr>
          <a:xfrm>
            <a:off x="12446000" y="1397000"/>
            <a:ext cx="5461000" cy="635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" name="CardNum2"/>
          <p:cNvSpPr>
            <a:spLocks noGrp="1"/>
          </p:cNvSpPr>
          <p:nvPr/>
        </p:nvSpPr>
        <p:spPr>
          <a:xfrm>
            <a:off x="12623800" y="1625600"/>
            <a:ext cx="863600" cy="660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lnSpc>
                <a:spcPts val="2200"/>
              </a:lnSpc>
            </a:pPr>
            <a:r>
              <a:rPr lang="ko-KR" sz="4000" b="1" dirty="0">
                <a:solidFill>
                  <a:srgbClr val="DDDDDD"/>
                </a:solidFill>
                <a:latin typeface="Garet Bold"/>
                <a:ea typeface="Garet Bold"/>
              </a:rPr>
              <a:t>03</a:t>
            </a:r>
          </a:p>
        </p:txBody>
      </p:sp>
      <p:sp>
        <p:nvSpPr>
          <p:cNvPr id="31" name="CardTitle2"/>
          <p:cNvSpPr>
            <a:spLocks noGrp="1"/>
          </p:cNvSpPr>
          <p:nvPr/>
        </p:nvSpPr>
        <p:spPr>
          <a:xfrm>
            <a:off x="12623800" y="2387600"/>
            <a:ext cx="51054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lnSpc>
                <a:spcPts val="2200"/>
              </a:lnSpc>
            </a:pPr>
            <a:r>
              <a:rPr lang="ko-KR" sz="3000" b="1" dirty="0">
                <a:solidFill>
                  <a:srgbClr val="202020"/>
                </a:solidFill>
                <a:latin typeface="Garet Bold"/>
                <a:ea typeface="Garet Bold"/>
              </a:rPr>
              <a:t>개봉시기 재분류</a:t>
            </a:r>
          </a:p>
        </p:txBody>
      </p:sp>
      <p:sp>
        <p:nvSpPr>
          <p:cNvPr id="82" name="CardBody2"/>
          <p:cNvSpPr>
            <a:spLocks noGrp="1"/>
          </p:cNvSpPr>
          <p:nvPr/>
        </p:nvSpPr>
        <p:spPr>
          <a:xfrm>
            <a:off x="12623800" y="3048000"/>
            <a:ext cx="5105400" cy="2057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2400" spc="-150" dirty="0">
                <a:solidFill>
                  <a:srgbClr val="505050"/>
                </a:solidFill>
                <a:latin typeface="Garet"/>
                <a:ea typeface="Garet"/>
              </a:rPr>
              <a:t>개봉 월을 여름 성수기(5~8월), 연말 성수기(11~12월), 일반기(그 외)로 구분</a:t>
            </a:r>
            <a:endParaRPr lang="en-US" altLang="ko-KR" sz="2400" spc="-150" dirty="0">
              <a:solidFill>
                <a:srgbClr val="505050"/>
              </a:solidFill>
              <a:latin typeface="Garet"/>
              <a:ea typeface="Garet"/>
            </a:endParaRPr>
          </a:p>
          <a:p>
            <a:pPr algn="l"/>
            <a:endParaRPr lang="ko-KR" sz="2400" spc="-150" dirty="0">
              <a:solidFill>
                <a:srgbClr val="505050"/>
              </a:solidFill>
              <a:latin typeface="Garet"/>
              <a:ea typeface="Garet"/>
            </a:endParaRPr>
          </a:p>
          <a:p>
            <a:pPr algn="l"/>
            <a:r>
              <a:rPr lang="ko-KR" sz="2400" dirty="0">
                <a:solidFill>
                  <a:srgbClr val="505050"/>
                </a:solidFill>
                <a:latin typeface="Garet"/>
                <a:ea typeface="Garet"/>
              </a:rPr>
              <a:t>미국 영화시장의 계절성과 배급 전략 차이를 비교하기 위한 변환</a:t>
            </a:r>
          </a:p>
        </p:txBody>
      </p:sp>
      <p:sp>
        <p:nvSpPr>
          <p:cNvPr id="32" name="Card3"/>
          <p:cNvSpPr>
            <a:spLocks noGrp="1"/>
          </p:cNvSpPr>
          <p:nvPr/>
        </p:nvSpPr>
        <p:spPr>
          <a:xfrm>
            <a:off x="762000" y="5588000"/>
            <a:ext cx="5461000" cy="3937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" name="CardTop3"/>
          <p:cNvSpPr>
            <a:spLocks noGrp="1"/>
          </p:cNvSpPr>
          <p:nvPr/>
        </p:nvSpPr>
        <p:spPr>
          <a:xfrm>
            <a:off x="762000" y="5588000"/>
            <a:ext cx="5461000" cy="635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" name="CardNum3"/>
          <p:cNvSpPr>
            <a:spLocks noGrp="1"/>
          </p:cNvSpPr>
          <p:nvPr/>
        </p:nvSpPr>
        <p:spPr>
          <a:xfrm>
            <a:off x="939800" y="5816600"/>
            <a:ext cx="889000" cy="660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lnSpc>
                <a:spcPts val="2200"/>
              </a:lnSpc>
            </a:pPr>
            <a:r>
              <a:rPr lang="ko-KR" sz="4000" b="1" dirty="0">
                <a:solidFill>
                  <a:srgbClr val="DDDDDD"/>
                </a:solidFill>
                <a:latin typeface="Garet Bold"/>
                <a:ea typeface="Garet Bold"/>
              </a:rPr>
              <a:t>04</a:t>
            </a:r>
          </a:p>
        </p:txBody>
      </p:sp>
      <p:sp>
        <p:nvSpPr>
          <p:cNvPr id="35" name="CardTitle3"/>
          <p:cNvSpPr>
            <a:spLocks noGrp="1"/>
          </p:cNvSpPr>
          <p:nvPr/>
        </p:nvSpPr>
        <p:spPr>
          <a:xfrm>
            <a:off x="939800" y="6578600"/>
            <a:ext cx="51054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lnSpc>
                <a:spcPts val="2200"/>
              </a:lnSpc>
            </a:pPr>
            <a:r>
              <a:rPr lang="ko-KR" sz="3000" b="1" dirty="0">
                <a:solidFill>
                  <a:srgbClr val="202020"/>
                </a:solidFill>
                <a:latin typeface="Garet Bold"/>
                <a:ea typeface="Garet Bold"/>
              </a:rPr>
              <a:t>대표장르 추출</a:t>
            </a:r>
          </a:p>
        </p:txBody>
      </p:sp>
      <p:sp>
        <p:nvSpPr>
          <p:cNvPr id="83" name="CardBody3"/>
          <p:cNvSpPr>
            <a:spLocks noGrp="1"/>
          </p:cNvSpPr>
          <p:nvPr/>
        </p:nvSpPr>
        <p:spPr>
          <a:xfrm>
            <a:off x="939800" y="7239000"/>
            <a:ext cx="5105400" cy="2057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2400" dirty="0">
                <a:solidFill>
                  <a:srgbClr val="505050"/>
                </a:solidFill>
                <a:latin typeface="Garet"/>
                <a:ea typeface="Garet"/>
              </a:rPr>
              <a:t>여러 장르가 있는 경우 첫 번째 장르를 대표장르로 사용</a:t>
            </a:r>
            <a:endParaRPr lang="en-US" altLang="ko-KR" sz="2400" dirty="0">
              <a:solidFill>
                <a:srgbClr val="505050"/>
              </a:solidFill>
              <a:latin typeface="Garet"/>
              <a:ea typeface="Garet"/>
            </a:endParaRPr>
          </a:p>
          <a:p>
            <a:pPr algn="l"/>
            <a:endParaRPr lang="ko-KR" sz="2400" dirty="0">
              <a:solidFill>
                <a:srgbClr val="505050"/>
              </a:solidFill>
              <a:latin typeface="Garet"/>
              <a:ea typeface="Garet"/>
            </a:endParaRPr>
          </a:p>
          <a:p>
            <a:pPr algn="l"/>
            <a:r>
              <a:rPr lang="ko-KR" sz="2400" dirty="0">
                <a:solidFill>
                  <a:srgbClr val="505050"/>
                </a:solidFill>
                <a:latin typeface="Garet"/>
                <a:ea typeface="Garet"/>
              </a:rPr>
              <a:t>장르별 흥행 분포를 단순하고 일관되게 비교하기 위한 처리</a:t>
            </a:r>
          </a:p>
        </p:txBody>
      </p:sp>
      <p:sp>
        <p:nvSpPr>
          <p:cNvPr id="36" name="Card4"/>
          <p:cNvSpPr>
            <a:spLocks noGrp="1"/>
          </p:cNvSpPr>
          <p:nvPr/>
        </p:nvSpPr>
        <p:spPr>
          <a:xfrm>
            <a:off x="6604000" y="5588000"/>
            <a:ext cx="5461000" cy="3937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7" name="CardTop4"/>
          <p:cNvSpPr>
            <a:spLocks noGrp="1"/>
          </p:cNvSpPr>
          <p:nvPr/>
        </p:nvSpPr>
        <p:spPr>
          <a:xfrm>
            <a:off x="6604000" y="5588000"/>
            <a:ext cx="5461000" cy="635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8" name="CardNum4"/>
          <p:cNvSpPr>
            <a:spLocks noGrp="1"/>
          </p:cNvSpPr>
          <p:nvPr/>
        </p:nvSpPr>
        <p:spPr>
          <a:xfrm>
            <a:off x="6781800" y="5816600"/>
            <a:ext cx="914400" cy="660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lnSpc>
                <a:spcPts val="2200"/>
              </a:lnSpc>
            </a:pPr>
            <a:r>
              <a:rPr lang="ko-KR" sz="4000" b="1" dirty="0">
                <a:solidFill>
                  <a:srgbClr val="DDDDDD"/>
                </a:solidFill>
                <a:latin typeface="Garet Bold"/>
                <a:ea typeface="Garet Bold"/>
              </a:rPr>
              <a:t>05</a:t>
            </a:r>
          </a:p>
        </p:txBody>
      </p:sp>
      <p:sp>
        <p:nvSpPr>
          <p:cNvPr id="39" name="CardTitle4"/>
          <p:cNvSpPr>
            <a:spLocks noGrp="1"/>
          </p:cNvSpPr>
          <p:nvPr/>
        </p:nvSpPr>
        <p:spPr>
          <a:xfrm>
            <a:off x="6781800" y="6578600"/>
            <a:ext cx="51054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lnSpc>
                <a:spcPts val="2200"/>
              </a:lnSpc>
            </a:pPr>
            <a:r>
              <a:rPr lang="ko-KR" sz="3000" b="1" dirty="0">
                <a:solidFill>
                  <a:srgbClr val="202020"/>
                </a:solidFill>
                <a:latin typeface="Garet Bold"/>
                <a:ea typeface="Garet Bold"/>
              </a:rPr>
              <a:t>결측값 처리</a:t>
            </a:r>
          </a:p>
        </p:txBody>
      </p:sp>
      <p:sp>
        <p:nvSpPr>
          <p:cNvPr id="84" name="CardBody4"/>
          <p:cNvSpPr>
            <a:spLocks noGrp="1"/>
          </p:cNvSpPr>
          <p:nvPr/>
        </p:nvSpPr>
        <p:spPr>
          <a:xfrm>
            <a:off x="6781800" y="7239000"/>
            <a:ext cx="5283200" cy="2057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2400" dirty="0">
                <a:solidFill>
                  <a:srgbClr val="505050"/>
                </a:solidFill>
                <a:latin typeface="Garet"/>
                <a:ea typeface="Garet"/>
              </a:rPr>
              <a:t>극장 수 결측 행은 상관분석에서만 </a:t>
            </a:r>
            <a:r>
              <a:rPr lang="ko-KR" sz="2400" spc="-300" dirty="0">
                <a:solidFill>
                  <a:srgbClr val="505050"/>
                </a:solidFill>
                <a:latin typeface="Garet"/>
                <a:ea typeface="Garet"/>
              </a:rPr>
              <a:t>제외하고 가능한 데이터는 다른 분석에 활용</a:t>
            </a:r>
            <a:endParaRPr lang="en-US" altLang="ko-KR" sz="2400" spc="-300" dirty="0">
              <a:solidFill>
                <a:srgbClr val="505050"/>
              </a:solidFill>
              <a:latin typeface="Garet"/>
              <a:ea typeface="Garet"/>
            </a:endParaRPr>
          </a:p>
          <a:p>
            <a:pPr algn="l"/>
            <a:endParaRPr lang="ko-KR" sz="2400" spc="-300" dirty="0">
              <a:solidFill>
                <a:srgbClr val="505050"/>
              </a:solidFill>
              <a:latin typeface="Garet"/>
              <a:ea typeface="Garet"/>
            </a:endParaRPr>
          </a:p>
          <a:p>
            <a:pPr algn="l"/>
            <a:r>
              <a:rPr lang="ko-KR" sz="2400" dirty="0">
                <a:solidFill>
                  <a:srgbClr val="505050"/>
                </a:solidFill>
                <a:latin typeface="Garet"/>
                <a:ea typeface="Garet"/>
              </a:rPr>
              <a:t>최대 상영 극장수 5,815쌍, </a:t>
            </a:r>
            <a:endParaRPr lang="en-US" altLang="ko-KR" sz="2400" dirty="0">
              <a:solidFill>
                <a:srgbClr val="505050"/>
              </a:solidFill>
              <a:latin typeface="Garet"/>
              <a:ea typeface="Garet"/>
            </a:endParaRPr>
          </a:p>
          <a:p>
            <a:pPr algn="l"/>
            <a:r>
              <a:rPr lang="ko-KR" sz="2400" dirty="0">
                <a:solidFill>
                  <a:srgbClr val="505050"/>
                </a:solidFill>
                <a:latin typeface="Garet"/>
                <a:ea typeface="Garet"/>
              </a:rPr>
              <a:t>오픈 극장수 5,307쌍을 유효 표본으로 </a:t>
            </a:r>
          </a:p>
        </p:txBody>
      </p:sp>
    </p:spTree>
    <p:extLst>
      <p:ext uri="{BB962C8B-B14F-4D97-AF65-F5344CB8AC3E}">
        <p14:creationId xmlns:p14="http://schemas.microsoft.com/office/powerpoint/2010/main" val="919732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drBg"/>
          <p:cNvSpPr>
            <a:spLocks noGrp="1"/>
          </p:cNvSpPr>
          <p:nvPr/>
        </p:nvSpPr>
        <p:spPr>
          <a:xfrm>
            <a:off x="0" y="0"/>
            <a:ext cx="18288000" cy="111760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Num"/>
          <p:cNvSpPr>
            <a:spLocks noGrp="1"/>
          </p:cNvSpPr>
          <p:nvPr/>
        </p:nvSpPr>
        <p:spPr>
          <a:xfrm>
            <a:off x="762000" y="2540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en-US" sz="1400" dirty="0">
                <a:solidFill>
                  <a:srgbClr val="888888"/>
                </a:solidFill>
                <a:latin typeface="Garet"/>
              </a:rPr>
              <a:t>07</a:t>
            </a:r>
          </a:p>
        </p:txBody>
      </p:sp>
      <p:sp>
        <p:nvSpPr>
          <p:cNvPr id="12" name="Title"/>
          <p:cNvSpPr>
            <a:spLocks noGrp="1"/>
          </p:cNvSpPr>
          <p:nvPr/>
        </p:nvSpPr>
        <p:spPr>
          <a:xfrm>
            <a:off x="762000" y="482600"/>
            <a:ext cx="12700000" cy="660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lnSpc>
                <a:spcPts val="2200"/>
              </a:lnSpc>
            </a:pPr>
            <a:r>
              <a:rPr lang="ko-KR" sz="4000" b="1" dirty="0">
                <a:solidFill>
                  <a:srgbClr val="FFFFFF"/>
                </a:solidFill>
                <a:latin typeface="Garet Bold"/>
                <a:ea typeface="Garet Bold"/>
              </a:rPr>
              <a:t>종속변수 및 수치형 피처 분포도</a:t>
            </a:r>
          </a:p>
        </p:txBody>
      </p:sp>
      <p:sp>
        <p:nvSpPr>
          <p:cNvPr id="30" name="FindingsBg"/>
          <p:cNvSpPr>
            <a:spLocks noGrp="1"/>
          </p:cNvSpPr>
          <p:nvPr/>
        </p:nvSpPr>
        <p:spPr>
          <a:xfrm>
            <a:off x="12446000" y="1244600"/>
            <a:ext cx="5334000" cy="762000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FindingsTop"/>
          <p:cNvSpPr>
            <a:spLocks noGrp="1"/>
          </p:cNvSpPr>
          <p:nvPr/>
        </p:nvSpPr>
        <p:spPr>
          <a:xfrm>
            <a:off x="12446000" y="1244600"/>
            <a:ext cx="5334000" cy="508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FindingsTitle"/>
          <p:cNvSpPr>
            <a:spLocks noGrp="1"/>
          </p:cNvSpPr>
          <p:nvPr/>
        </p:nvSpPr>
        <p:spPr>
          <a:xfrm>
            <a:off x="12689555" y="1483704"/>
            <a:ext cx="482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lnSpc>
                <a:spcPts val="2200"/>
              </a:lnSpc>
            </a:pPr>
            <a:r>
              <a:rPr lang="ko-KR" sz="2400" b="1" dirty="0">
                <a:solidFill>
                  <a:srgbClr val="FFFFFF"/>
                </a:solidFill>
                <a:latin typeface="Garet Bold"/>
                <a:ea typeface="Garet Bold"/>
              </a:rPr>
              <a:t>핵심 관찰</a:t>
            </a:r>
          </a:p>
        </p:txBody>
      </p:sp>
      <p:sp>
        <p:nvSpPr>
          <p:cNvPr id="33" name="FindingsDivider"/>
          <p:cNvSpPr>
            <a:spLocks noGrp="1"/>
          </p:cNvSpPr>
          <p:nvPr/>
        </p:nvSpPr>
        <p:spPr>
          <a:xfrm>
            <a:off x="12674600" y="1930400"/>
            <a:ext cx="4826000" cy="127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" name="FL0"/>
          <p:cNvSpPr>
            <a:spLocks noGrp="1"/>
          </p:cNvSpPr>
          <p:nvPr/>
        </p:nvSpPr>
        <p:spPr>
          <a:xfrm>
            <a:off x="12674600" y="2082800"/>
            <a:ext cx="4826000" cy="355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ko-KR" altLang="en-US" sz="2400" b="1" dirty="0">
                <a:solidFill>
                  <a:schemeClr val="bg1">
                    <a:lumMod val="85000"/>
                  </a:schemeClr>
                </a:solidFill>
              </a:rPr>
              <a:t>전세계 흥행수익</a:t>
            </a:r>
            <a:endParaRPr lang="ko-KR" sz="2400" b="1" dirty="0">
              <a:solidFill>
                <a:schemeClr val="bg1">
                  <a:lumMod val="85000"/>
                </a:schemeClr>
              </a:solidFill>
              <a:latin typeface="Garet Bold"/>
              <a:ea typeface="Garet Bold"/>
            </a:endParaRPr>
          </a:p>
        </p:txBody>
      </p:sp>
      <p:sp>
        <p:nvSpPr>
          <p:cNvPr id="41" name="FT0"/>
          <p:cNvSpPr>
            <a:spLocks noGrp="1"/>
          </p:cNvSpPr>
          <p:nvPr/>
        </p:nvSpPr>
        <p:spPr>
          <a:xfrm>
            <a:off x="12674600" y="2491574"/>
            <a:ext cx="4826000" cy="1397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lnSpc>
                <a:spcPts val="2200"/>
              </a:lnSpc>
            </a:pPr>
            <a:r>
              <a:rPr lang="ko-KR" altLang="en-US" dirty="0" err="1">
                <a:solidFill>
                  <a:schemeClr val="bg1">
                    <a:lumMod val="85000"/>
                  </a:schemeClr>
                </a:solidFill>
              </a:rPr>
              <a:t>원값</a:t>
            </a:r>
            <a:r>
              <a:rPr lang="ko-KR" altLang="en-US" dirty="0">
                <a:solidFill>
                  <a:schemeClr val="bg1">
                    <a:lumMod val="85000"/>
                  </a:schemeClr>
                </a:solidFill>
              </a:rPr>
              <a:t> 기준으로는 소수의 초고수익 영화 때문에 </a:t>
            </a:r>
            <a:endParaRPr lang="en-US" altLang="ko-KR" dirty="0">
              <a:solidFill>
                <a:schemeClr val="bg1">
                  <a:lumMod val="85000"/>
                </a:schemeClr>
              </a:solidFill>
            </a:endParaRPr>
          </a:p>
          <a:p>
            <a:pPr>
              <a:lnSpc>
                <a:spcPts val="2200"/>
              </a:lnSpc>
            </a:pPr>
            <a:endParaRPr lang="en-US" altLang="ko-KR" dirty="0">
              <a:solidFill>
                <a:schemeClr val="bg1">
                  <a:lumMod val="85000"/>
                </a:schemeClr>
              </a:solidFill>
            </a:endParaRPr>
          </a:p>
          <a:p>
            <a:pPr>
              <a:lnSpc>
                <a:spcPts val="2200"/>
              </a:lnSpc>
            </a:pPr>
            <a:r>
              <a:rPr lang="ko-KR" altLang="en-US" dirty="0">
                <a:solidFill>
                  <a:schemeClr val="bg1">
                    <a:lumMod val="85000"/>
                  </a:schemeClr>
                </a:solidFill>
              </a:rPr>
              <a:t>오른쪽 꼬리가 긴 분포이나 </a:t>
            </a:r>
            <a:r>
              <a:rPr lang="en-US" altLang="ko-KR" dirty="0">
                <a:solidFill>
                  <a:schemeClr val="bg1">
                    <a:lumMod val="85000"/>
                  </a:schemeClr>
                </a:solidFill>
              </a:rPr>
              <a:t>log1p</a:t>
            </a:r>
            <a:r>
              <a:rPr lang="ko-KR" altLang="en-US" dirty="0">
                <a:solidFill>
                  <a:schemeClr val="bg1">
                    <a:lumMod val="85000"/>
                  </a:schemeClr>
                </a:solidFill>
              </a:rPr>
              <a:t> 변환 후</a:t>
            </a:r>
            <a:endParaRPr lang="en-US" altLang="ko-KR" dirty="0">
              <a:solidFill>
                <a:schemeClr val="bg1">
                  <a:lumMod val="85000"/>
                </a:schemeClr>
              </a:solidFill>
            </a:endParaRPr>
          </a:p>
          <a:p>
            <a:pPr>
              <a:lnSpc>
                <a:spcPts val="2200"/>
              </a:lnSpc>
            </a:pPr>
            <a:endParaRPr lang="en-US" altLang="ko-KR" dirty="0">
              <a:solidFill>
                <a:schemeClr val="bg1">
                  <a:lumMod val="85000"/>
                </a:schemeClr>
              </a:solidFill>
            </a:endParaRPr>
          </a:p>
          <a:p>
            <a:pPr>
              <a:lnSpc>
                <a:spcPts val="2200"/>
              </a:lnSpc>
            </a:pPr>
            <a:r>
              <a:rPr lang="ko-KR" altLang="en-US" dirty="0">
                <a:solidFill>
                  <a:schemeClr val="bg1">
                    <a:lumMod val="85000"/>
                  </a:schemeClr>
                </a:solidFill>
              </a:rPr>
              <a:t> 분포가 완화되어 이후 상관분석에 더 적합</a:t>
            </a:r>
            <a:endParaRPr lang="ko-KR" sz="1600" dirty="0">
              <a:solidFill>
                <a:schemeClr val="bg1">
                  <a:lumMod val="85000"/>
                </a:schemeClr>
              </a:solidFill>
              <a:latin typeface="Garet"/>
              <a:ea typeface="Garet"/>
            </a:endParaRPr>
          </a:p>
        </p:txBody>
      </p:sp>
      <p:sp>
        <p:nvSpPr>
          <p:cNvPr id="42" name="FSep0"/>
          <p:cNvSpPr>
            <a:spLocks noGrp="1"/>
          </p:cNvSpPr>
          <p:nvPr/>
        </p:nvSpPr>
        <p:spPr>
          <a:xfrm>
            <a:off x="12674600" y="3987800"/>
            <a:ext cx="4826000" cy="127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3" name="FL1"/>
          <p:cNvSpPr>
            <a:spLocks noGrp="1"/>
          </p:cNvSpPr>
          <p:nvPr/>
        </p:nvSpPr>
        <p:spPr>
          <a:xfrm>
            <a:off x="12674600" y="4241800"/>
            <a:ext cx="4826000" cy="355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2400" b="1" dirty="0">
                <a:solidFill>
                  <a:srgbClr val="CCCCCC"/>
                </a:solidFill>
                <a:latin typeface="Garet Bold"/>
                <a:ea typeface="Garet Bold"/>
              </a:rPr>
              <a:t>최대 상영 극장수</a:t>
            </a:r>
          </a:p>
        </p:txBody>
      </p:sp>
      <p:sp>
        <p:nvSpPr>
          <p:cNvPr id="44" name="FT1"/>
          <p:cNvSpPr>
            <a:spLocks noGrp="1"/>
          </p:cNvSpPr>
          <p:nvPr/>
        </p:nvSpPr>
        <p:spPr>
          <a:xfrm>
            <a:off x="12674600" y="4838700"/>
            <a:ext cx="4826000" cy="1397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lnSpc>
                <a:spcPts val="2200"/>
              </a:lnSpc>
            </a:pPr>
            <a:r>
              <a:rPr lang="ko-KR" altLang="en-US" dirty="0">
                <a:solidFill>
                  <a:schemeClr val="bg1">
                    <a:lumMod val="85000"/>
                  </a:schemeClr>
                </a:solidFill>
              </a:rPr>
              <a:t>소규모 영화와 대규모 개봉 영화가 공존</a:t>
            </a:r>
            <a:endParaRPr lang="en-US" altLang="ko-KR" dirty="0">
              <a:solidFill>
                <a:schemeClr val="bg1">
                  <a:lumMod val="85000"/>
                </a:schemeClr>
              </a:solidFill>
            </a:endParaRPr>
          </a:p>
          <a:p>
            <a:pPr>
              <a:lnSpc>
                <a:spcPts val="2200"/>
              </a:lnSpc>
            </a:pPr>
            <a:br>
              <a:rPr lang="ko-KR" altLang="en-US" sz="16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ko-KR" altLang="en-US" dirty="0">
                <a:solidFill>
                  <a:schemeClr val="bg1">
                    <a:lumMod val="85000"/>
                  </a:schemeClr>
                </a:solidFill>
              </a:rPr>
              <a:t>배급 규모에 따라 영화들이 두 구간으로 나뉨</a:t>
            </a:r>
            <a:endParaRPr lang="ko-KR" sz="1600" dirty="0">
              <a:solidFill>
                <a:schemeClr val="bg1">
                  <a:lumMod val="85000"/>
                </a:schemeClr>
              </a:solidFill>
              <a:latin typeface="Garet"/>
              <a:ea typeface="Garet"/>
            </a:endParaRPr>
          </a:p>
        </p:txBody>
      </p:sp>
      <p:sp>
        <p:nvSpPr>
          <p:cNvPr id="45" name="FSep1"/>
          <p:cNvSpPr>
            <a:spLocks noGrp="1"/>
          </p:cNvSpPr>
          <p:nvPr/>
        </p:nvSpPr>
        <p:spPr>
          <a:xfrm>
            <a:off x="12674600" y="6146800"/>
            <a:ext cx="4826000" cy="127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6" name="FL2"/>
          <p:cNvSpPr>
            <a:spLocks noGrp="1"/>
          </p:cNvSpPr>
          <p:nvPr/>
        </p:nvSpPr>
        <p:spPr>
          <a:xfrm>
            <a:off x="12674600" y="6400800"/>
            <a:ext cx="4826000" cy="355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2400" b="1" dirty="0">
                <a:solidFill>
                  <a:srgbClr val="CCCCCC"/>
                </a:solidFill>
                <a:latin typeface="Garet Bold"/>
                <a:ea typeface="Garet Bold"/>
              </a:rPr>
              <a:t>오픈 극장수</a:t>
            </a:r>
          </a:p>
        </p:txBody>
      </p:sp>
      <p:sp>
        <p:nvSpPr>
          <p:cNvPr id="47" name="FT2"/>
          <p:cNvSpPr>
            <a:spLocks noGrp="1"/>
          </p:cNvSpPr>
          <p:nvPr/>
        </p:nvSpPr>
        <p:spPr>
          <a:xfrm>
            <a:off x="12672464" y="6921500"/>
            <a:ext cx="4826000" cy="1397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lnSpc>
                <a:spcPts val="2200"/>
              </a:lnSpc>
            </a:pPr>
            <a:r>
              <a:rPr lang="ko-KR" altLang="en-US" dirty="0">
                <a:solidFill>
                  <a:schemeClr val="bg1">
                    <a:lumMod val="85000"/>
                  </a:schemeClr>
                </a:solidFill>
              </a:rPr>
              <a:t>낮은 구간에 데이터가 많이 몰려 있어 소규모 개봉 영화 비중이 큼</a:t>
            </a:r>
            <a:endParaRPr lang="en-US" altLang="ko-KR" dirty="0">
              <a:solidFill>
                <a:schemeClr val="bg1">
                  <a:lumMod val="85000"/>
                </a:schemeClr>
              </a:solidFill>
            </a:endParaRPr>
          </a:p>
          <a:p>
            <a:pPr>
              <a:lnSpc>
                <a:spcPts val="2200"/>
              </a:lnSpc>
            </a:pPr>
            <a:br>
              <a:rPr lang="ko-KR" altLang="en-US" sz="16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ko-KR" altLang="en-US" dirty="0">
                <a:solidFill>
                  <a:schemeClr val="bg1">
                    <a:lumMod val="85000"/>
                  </a:schemeClr>
                </a:solidFill>
              </a:rPr>
              <a:t>초기 개봉 규모가 작은 영화가 많고</a:t>
            </a:r>
            <a:endParaRPr lang="en-US" altLang="ko-KR" dirty="0">
              <a:solidFill>
                <a:schemeClr val="bg1">
                  <a:lumMod val="85000"/>
                </a:schemeClr>
              </a:solidFill>
            </a:endParaRPr>
          </a:p>
          <a:p>
            <a:pPr>
              <a:lnSpc>
                <a:spcPts val="2200"/>
              </a:lnSpc>
            </a:pPr>
            <a:r>
              <a:rPr lang="ko-KR" altLang="en-US" dirty="0">
                <a:solidFill>
                  <a:schemeClr val="bg1">
                    <a:lumMod val="85000"/>
                  </a:schemeClr>
                </a:solidFill>
              </a:rPr>
              <a:t>일부만 대규모로 출발하는 구조</a:t>
            </a:r>
            <a:endParaRPr lang="ko-KR" sz="1600" dirty="0">
              <a:solidFill>
                <a:schemeClr val="bg1">
                  <a:lumMod val="85000"/>
                </a:schemeClr>
              </a:solidFill>
              <a:latin typeface="Garet"/>
              <a:ea typeface="Garet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10A74B1-EDC8-3087-7486-E6BE4A760F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415"/>
          <a:stretch>
            <a:fillRect/>
          </a:stretch>
        </p:blipFill>
        <p:spPr>
          <a:xfrm>
            <a:off x="76200" y="2984500"/>
            <a:ext cx="12369800" cy="454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912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"/>
          <p:cNvSpPr>
            <a:spLocks noGrp="1"/>
          </p:cNvSpPr>
          <p:nvPr/>
        </p:nvSpPr>
        <p:spPr>
          <a:xfrm>
            <a:off x="0" y="0"/>
            <a:ext cx="18288000" cy="111760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N"/>
          <p:cNvSpPr>
            <a:spLocks noGrp="1"/>
          </p:cNvSpPr>
          <p:nvPr/>
        </p:nvSpPr>
        <p:spPr>
          <a:xfrm>
            <a:off x="762000" y="2540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endParaRPr lang="en-US" sz="1400" dirty="0">
              <a:solidFill>
                <a:srgbClr val="888888"/>
              </a:solidFill>
              <a:latin typeface="Garet"/>
            </a:endParaRPr>
          </a:p>
        </p:txBody>
      </p:sp>
      <p:sp>
        <p:nvSpPr>
          <p:cNvPr id="12" name="T"/>
          <p:cNvSpPr>
            <a:spLocks noGrp="1"/>
          </p:cNvSpPr>
          <p:nvPr/>
        </p:nvSpPr>
        <p:spPr>
          <a:xfrm>
            <a:off x="762000" y="482600"/>
            <a:ext cx="12700000" cy="660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lnSpc>
                <a:spcPts val="2200"/>
              </a:lnSpc>
            </a:pPr>
            <a:r>
              <a:rPr lang="ko-KR" sz="4000" b="1" dirty="0">
                <a:solidFill>
                  <a:srgbClr val="FFFFFF"/>
                </a:solidFill>
                <a:latin typeface="Garet Bold"/>
                <a:ea typeface="Garet Bold"/>
              </a:rPr>
              <a:t>수치형 피처 상관분석 방법론</a:t>
            </a:r>
          </a:p>
        </p:txBody>
      </p:sp>
      <p:sp>
        <p:nvSpPr>
          <p:cNvPr id="20" name="DescBg"/>
          <p:cNvSpPr>
            <a:spLocks noGrp="1"/>
          </p:cNvSpPr>
          <p:nvPr/>
        </p:nvSpPr>
        <p:spPr>
          <a:xfrm>
            <a:off x="838200" y="1371600"/>
            <a:ext cx="16764000" cy="101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Desc"/>
          <p:cNvSpPr>
            <a:spLocks noGrp="1"/>
          </p:cNvSpPr>
          <p:nvPr/>
        </p:nvSpPr>
        <p:spPr>
          <a:xfrm>
            <a:off x="1016000" y="1422400"/>
            <a:ext cx="16256000" cy="914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lnSpc>
                <a:spcPts val="2200"/>
              </a:lnSpc>
            </a:pPr>
            <a:r>
              <a:rPr lang="ko-KR" sz="2000" dirty="0">
                <a:solidFill>
                  <a:srgbClr val="404040"/>
                </a:solidFill>
                <a:latin typeface="Garet"/>
                <a:ea typeface="Garet"/>
              </a:rPr>
              <a:t>수치형 피처(최대_상영극장수, 오픈_극장수)와 종속변수(전세계_흥행수익) 간 선형 관계를 피어슨 상관계수(r)로 정량화.</a:t>
            </a:r>
            <a:endParaRPr lang="en-US" altLang="ko-KR" sz="2000" dirty="0">
              <a:solidFill>
                <a:srgbClr val="404040"/>
              </a:solidFill>
              <a:latin typeface="Garet"/>
              <a:ea typeface="Garet"/>
            </a:endParaRPr>
          </a:p>
          <a:p>
            <a:pPr algn="l">
              <a:lnSpc>
                <a:spcPts val="2200"/>
              </a:lnSpc>
            </a:pPr>
            <a:endParaRPr lang="ko-KR" sz="2000" dirty="0">
              <a:solidFill>
                <a:srgbClr val="404040"/>
              </a:solidFill>
              <a:latin typeface="Garet"/>
              <a:ea typeface="Garet"/>
            </a:endParaRPr>
          </a:p>
          <a:p>
            <a:pPr algn="l">
              <a:lnSpc>
                <a:spcPts val="2200"/>
              </a:lnSpc>
            </a:pPr>
            <a:r>
              <a:rPr lang="ko-KR" sz="2000" dirty="0">
                <a:solidFill>
                  <a:srgbClr val="404040"/>
                </a:solidFill>
                <a:latin typeface="Garet"/>
                <a:ea typeface="Garet"/>
              </a:rPr>
              <a:t>원값(raw) 기준과 log1p 변환 후 기준을 모두 산출하여 변환 효과를 비교.</a:t>
            </a:r>
          </a:p>
        </p:txBody>
      </p:sp>
      <p:sp>
        <p:nvSpPr>
          <p:cNvPr id="30" name="MC0"/>
          <p:cNvSpPr>
            <a:spLocks noGrp="1"/>
          </p:cNvSpPr>
          <p:nvPr/>
        </p:nvSpPr>
        <p:spPr>
          <a:xfrm>
            <a:off x="762000" y="2565400"/>
            <a:ext cx="5461000" cy="355600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MCTop0"/>
          <p:cNvSpPr>
            <a:spLocks noGrp="1"/>
          </p:cNvSpPr>
          <p:nvPr/>
        </p:nvSpPr>
        <p:spPr>
          <a:xfrm>
            <a:off x="762000" y="2565400"/>
            <a:ext cx="5461000" cy="508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MCTitle0"/>
          <p:cNvSpPr>
            <a:spLocks noGrp="1"/>
          </p:cNvSpPr>
          <p:nvPr/>
        </p:nvSpPr>
        <p:spPr>
          <a:xfrm>
            <a:off x="939800" y="2832100"/>
            <a:ext cx="5080000" cy="482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lnSpc>
                <a:spcPts val="2200"/>
              </a:lnSpc>
            </a:pPr>
            <a:r>
              <a:rPr lang="ko-KR" sz="2800" b="1" dirty="0">
                <a:solidFill>
                  <a:srgbClr val="FFFFFF"/>
                </a:solidFill>
                <a:latin typeface="Garet Bold"/>
                <a:ea typeface="Garet Bold"/>
              </a:rPr>
              <a:t>사용 지표</a:t>
            </a:r>
          </a:p>
        </p:txBody>
      </p:sp>
      <p:sp>
        <p:nvSpPr>
          <p:cNvPr id="60" name="MCBody0"/>
          <p:cNvSpPr>
            <a:spLocks noGrp="1"/>
          </p:cNvSpPr>
          <p:nvPr/>
        </p:nvSpPr>
        <p:spPr>
          <a:xfrm>
            <a:off x="939800" y="3302000"/>
            <a:ext cx="5080000" cy="2667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lnSpc>
                <a:spcPts val="2200"/>
              </a:lnSpc>
            </a:pPr>
            <a:r>
              <a:rPr lang="en-US" altLang="ko-KR" sz="2400" dirty="0">
                <a:solidFill>
                  <a:schemeClr val="bg1">
                    <a:lumMod val="85000"/>
                  </a:schemeClr>
                </a:solidFill>
              </a:rPr>
              <a:t>· Pearson </a:t>
            </a:r>
            <a:r>
              <a:rPr lang="ko-KR" altLang="en-US" sz="2400" dirty="0">
                <a:solidFill>
                  <a:schemeClr val="bg1">
                    <a:lumMod val="85000"/>
                  </a:schemeClr>
                </a:solidFill>
              </a:rPr>
              <a:t>상관계수 </a:t>
            </a:r>
            <a:r>
              <a:rPr lang="en-US" altLang="ko-KR" sz="2400" dirty="0">
                <a:solidFill>
                  <a:schemeClr val="bg1">
                    <a:lumMod val="85000"/>
                  </a:schemeClr>
                </a:solidFill>
              </a:rPr>
              <a:t>r</a:t>
            </a:r>
          </a:p>
          <a:p>
            <a:pPr>
              <a:lnSpc>
                <a:spcPts val="2200"/>
              </a:lnSpc>
            </a:pPr>
            <a:br>
              <a:rPr lang="ko-KR" altLang="en-US" sz="20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en-US" altLang="ko-KR" sz="2400" dirty="0">
                <a:solidFill>
                  <a:schemeClr val="bg1">
                    <a:lumMod val="85000"/>
                  </a:schemeClr>
                </a:solidFill>
              </a:rPr>
              <a:t>· </a:t>
            </a:r>
            <a:r>
              <a:rPr lang="ko-KR" altLang="en-US" sz="2400" dirty="0" err="1">
                <a:solidFill>
                  <a:schemeClr val="bg1">
                    <a:lumMod val="85000"/>
                  </a:schemeClr>
                </a:solidFill>
              </a:rPr>
              <a:t>산점도</a:t>
            </a:r>
            <a:r>
              <a:rPr lang="ko-KR" altLang="en-US" sz="2400" dirty="0">
                <a:solidFill>
                  <a:schemeClr val="bg1">
                    <a:lumMod val="85000"/>
                  </a:schemeClr>
                </a:solidFill>
              </a:rPr>
              <a:t> 및 회귀선</a:t>
            </a:r>
            <a:endParaRPr lang="en-US" altLang="ko-KR" sz="2400" dirty="0">
              <a:solidFill>
                <a:schemeClr val="bg1">
                  <a:lumMod val="85000"/>
                </a:schemeClr>
              </a:solidFill>
            </a:endParaRPr>
          </a:p>
          <a:p>
            <a:br>
              <a:rPr lang="ko-KR" altLang="en-US" sz="20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en-US" altLang="ko-KR" sz="2400" dirty="0">
                <a:solidFill>
                  <a:schemeClr val="bg1">
                    <a:lumMod val="85000"/>
                  </a:schemeClr>
                </a:solidFill>
              </a:rPr>
              <a:t>· </a:t>
            </a:r>
            <a:r>
              <a:rPr lang="ko-KR" altLang="en-US" sz="2400" dirty="0">
                <a:solidFill>
                  <a:schemeClr val="bg1">
                    <a:lumMod val="85000"/>
                  </a:schemeClr>
                </a:solidFill>
              </a:rPr>
              <a:t>유효 표본</a:t>
            </a:r>
            <a:endParaRPr lang="en-US" altLang="ko-KR" sz="24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ko-KR" altLang="en-US" sz="2400" dirty="0">
                <a:solidFill>
                  <a:schemeClr val="bg1">
                    <a:lumMod val="85000"/>
                  </a:schemeClr>
                </a:solidFill>
              </a:rPr>
              <a:t>  최대 상영</a:t>
            </a:r>
            <a:r>
              <a:rPr lang="en-US" altLang="ko-KR" sz="2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ko-KR" altLang="en-US" sz="2400" dirty="0" err="1">
                <a:solidFill>
                  <a:schemeClr val="bg1">
                    <a:lumMod val="85000"/>
                  </a:schemeClr>
                </a:solidFill>
              </a:rPr>
              <a:t>극장수</a:t>
            </a:r>
            <a:r>
              <a:rPr lang="ko-KR" altLang="en-US" sz="2400" dirty="0">
                <a:solidFill>
                  <a:schemeClr val="bg1">
                    <a:lumMod val="85000"/>
                  </a:schemeClr>
                </a:solidFill>
              </a:rPr>
              <a:t> </a:t>
            </a:r>
            <a:r>
              <a:rPr lang="en-US" altLang="ko-KR" sz="2400" dirty="0">
                <a:solidFill>
                  <a:schemeClr val="bg1">
                    <a:lumMod val="85000"/>
                  </a:schemeClr>
                </a:solidFill>
              </a:rPr>
              <a:t>5,815</a:t>
            </a:r>
            <a:r>
              <a:rPr lang="ko-KR" altLang="en-US" sz="2400" dirty="0">
                <a:solidFill>
                  <a:schemeClr val="bg1">
                    <a:lumMod val="85000"/>
                  </a:schemeClr>
                </a:solidFill>
              </a:rPr>
              <a:t>쌍</a:t>
            </a:r>
            <a:r>
              <a:rPr lang="en-US" altLang="ko-KR" sz="2400" dirty="0">
                <a:solidFill>
                  <a:schemeClr val="bg1">
                    <a:lumMod val="85000"/>
                  </a:schemeClr>
                </a:solidFill>
              </a:rPr>
              <a:t>, </a:t>
            </a:r>
          </a:p>
          <a:p>
            <a:r>
              <a:rPr lang="ko-KR" altLang="en-US" sz="2400" dirty="0">
                <a:solidFill>
                  <a:schemeClr val="bg1">
                    <a:lumMod val="85000"/>
                  </a:schemeClr>
                </a:solidFill>
              </a:rPr>
              <a:t>  오픈 </a:t>
            </a:r>
            <a:r>
              <a:rPr lang="ko-KR" altLang="en-US" sz="2400" dirty="0" err="1">
                <a:solidFill>
                  <a:schemeClr val="bg1">
                    <a:lumMod val="85000"/>
                  </a:schemeClr>
                </a:solidFill>
              </a:rPr>
              <a:t>극장수</a:t>
            </a:r>
            <a:r>
              <a:rPr lang="ko-KR" altLang="en-US" sz="2400" dirty="0">
                <a:solidFill>
                  <a:schemeClr val="bg1">
                    <a:lumMod val="85000"/>
                  </a:schemeClr>
                </a:solidFill>
              </a:rPr>
              <a:t> </a:t>
            </a:r>
            <a:r>
              <a:rPr lang="en-US" altLang="ko-KR" sz="2400" dirty="0">
                <a:solidFill>
                  <a:schemeClr val="bg1">
                    <a:lumMod val="85000"/>
                  </a:schemeClr>
                </a:solidFill>
              </a:rPr>
              <a:t>5,307</a:t>
            </a:r>
            <a:r>
              <a:rPr lang="ko-KR" altLang="en-US" sz="2400" dirty="0">
                <a:solidFill>
                  <a:schemeClr val="bg1">
                    <a:lumMod val="85000"/>
                  </a:schemeClr>
                </a:solidFill>
              </a:rPr>
              <a:t>쌍</a:t>
            </a:r>
            <a:endParaRPr lang="ko-KR" sz="2000" dirty="0">
              <a:solidFill>
                <a:schemeClr val="bg1">
                  <a:lumMod val="85000"/>
                </a:schemeClr>
              </a:solidFill>
              <a:latin typeface="Garet"/>
              <a:ea typeface="Garet"/>
            </a:endParaRPr>
          </a:p>
        </p:txBody>
      </p:sp>
      <p:sp>
        <p:nvSpPr>
          <p:cNvPr id="33" name="MC1"/>
          <p:cNvSpPr>
            <a:spLocks noGrp="1"/>
          </p:cNvSpPr>
          <p:nvPr/>
        </p:nvSpPr>
        <p:spPr>
          <a:xfrm>
            <a:off x="6604000" y="2565400"/>
            <a:ext cx="5461000" cy="355600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" name="MCTop1"/>
          <p:cNvSpPr>
            <a:spLocks noGrp="1"/>
          </p:cNvSpPr>
          <p:nvPr/>
        </p:nvSpPr>
        <p:spPr>
          <a:xfrm>
            <a:off x="6604000" y="2565400"/>
            <a:ext cx="5461000" cy="508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5" name="MCTitle1"/>
          <p:cNvSpPr>
            <a:spLocks noGrp="1"/>
          </p:cNvSpPr>
          <p:nvPr/>
        </p:nvSpPr>
        <p:spPr>
          <a:xfrm>
            <a:off x="6781800" y="2832100"/>
            <a:ext cx="5080000" cy="482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lnSpc>
                <a:spcPts val="2200"/>
              </a:lnSpc>
            </a:pPr>
            <a:r>
              <a:rPr lang="ko-KR" sz="2800" b="1" dirty="0">
                <a:solidFill>
                  <a:srgbClr val="FFFFFF"/>
                </a:solidFill>
                <a:latin typeface="Garet Bold"/>
                <a:ea typeface="Garet Bold"/>
              </a:rPr>
              <a:t>비교 기준</a:t>
            </a:r>
          </a:p>
        </p:txBody>
      </p:sp>
      <p:sp>
        <p:nvSpPr>
          <p:cNvPr id="61" name="MCBody1"/>
          <p:cNvSpPr>
            <a:spLocks noGrp="1"/>
          </p:cNvSpPr>
          <p:nvPr/>
        </p:nvSpPr>
        <p:spPr>
          <a:xfrm>
            <a:off x="6781800" y="3302000"/>
            <a:ext cx="5080000" cy="2667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lnSpc>
                <a:spcPts val="2200"/>
              </a:lnSpc>
            </a:pPr>
            <a:r>
              <a:rPr lang="en-US" altLang="ko-KR" sz="2800" dirty="0">
                <a:solidFill>
                  <a:schemeClr val="bg1">
                    <a:lumMod val="85000"/>
                  </a:schemeClr>
                </a:solidFill>
              </a:rPr>
              <a:t>· r(raw): </a:t>
            </a:r>
            <a:r>
              <a:rPr lang="ko-KR" altLang="en-US" sz="2800" dirty="0" err="1">
                <a:solidFill>
                  <a:schemeClr val="bg1">
                    <a:lumMod val="85000"/>
                  </a:schemeClr>
                </a:solidFill>
              </a:rPr>
              <a:t>원값</a:t>
            </a:r>
            <a:r>
              <a:rPr lang="ko-KR" altLang="en-US" sz="2800" dirty="0">
                <a:solidFill>
                  <a:schemeClr val="bg1">
                    <a:lumMod val="85000"/>
                  </a:schemeClr>
                </a:solidFill>
              </a:rPr>
              <a:t> 기준</a:t>
            </a:r>
            <a:endParaRPr lang="en-US" altLang="ko-KR" sz="2800" dirty="0">
              <a:solidFill>
                <a:schemeClr val="bg1">
                  <a:lumMod val="85000"/>
                </a:schemeClr>
              </a:solidFill>
            </a:endParaRPr>
          </a:p>
          <a:p>
            <a:pPr>
              <a:lnSpc>
                <a:spcPts val="2200"/>
              </a:lnSpc>
            </a:pPr>
            <a:br>
              <a:rPr lang="ko-KR" altLang="en-US" sz="24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en-US" altLang="ko-KR" sz="2800" dirty="0">
                <a:solidFill>
                  <a:schemeClr val="bg1">
                    <a:lumMod val="85000"/>
                  </a:schemeClr>
                </a:solidFill>
              </a:rPr>
              <a:t>· r(log): log1p</a:t>
            </a:r>
            <a:r>
              <a:rPr lang="ko-KR" altLang="en-US" sz="2800" dirty="0">
                <a:solidFill>
                  <a:schemeClr val="bg1">
                    <a:lumMod val="85000"/>
                  </a:schemeClr>
                </a:solidFill>
              </a:rPr>
              <a:t> 변환 기준</a:t>
            </a:r>
            <a:endParaRPr lang="en-US" altLang="ko-KR" sz="2800" dirty="0">
              <a:solidFill>
                <a:schemeClr val="bg1">
                  <a:lumMod val="85000"/>
                </a:schemeClr>
              </a:solidFill>
            </a:endParaRPr>
          </a:p>
          <a:p>
            <a:br>
              <a:rPr lang="ko-KR" altLang="en-US" sz="24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en-US" altLang="ko-KR" sz="2800" dirty="0">
                <a:solidFill>
                  <a:schemeClr val="bg1">
                    <a:lumMod val="85000"/>
                  </a:schemeClr>
                </a:solidFill>
              </a:rPr>
              <a:t>· </a:t>
            </a:r>
            <a:r>
              <a:rPr lang="ko-KR" altLang="en-US" sz="2800" dirty="0">
                <a:solidFill>
                  <a:schemeClr val="bg1">
                    <a:lumMod val="85000"/>
                  </a:schemeClr>
                </a:solidFill>
              </a:rPr>
              <a:t>로그 변환 후 선형 관계가 더</a:t>
            </a:r>
            <a:endParaRPr lang="en-US" altLang="ko-KR" sz="28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ko-KR" altLang="en-US" sz="2800" dirty="0">
                <a:solidFill>
                  <a:schemeClr val="bg1">
                    <a:lumMod val="85000"/>
                  </a:schemeClr>
                </a:solidFill>
              </a:rPr>
              <a:t>  </a:t>
            </a:r>
            <a:r>
              <a:rPr lang="ko-KR" altLang="en-US" sz="2800" dirty="0" err="1">
                <a:solidFill>
                  <a:schemeClr val="bg1">
                    <a:lumMod val="85000"/>
                  </a:schemeClr>
                </a:solidFill>
              </a:rPr>
              <a:t>명확해지는지</a:t>
            </a:r>
            <a:r>
              <a:rPr lang="ko-KR" altLang="en-US" sz="2800" dirty="0">
                <a:solidFill>
                  <a:schemeClr val="bg1">
                    <a:lumMod val="85000"/>
                  </a:schemeClr>
                </a:solidFill>
              </a:rPr>
              <a:t> 비교</a:t>
            </a:r>
            <a:endParaRPr lang="ko-KR" sz="2400" dirty="0">
              <a:solidFill>
                <a:schemeClr val="bg1">
                  <a:lumMod val="85000"/>
                </a:schemeClr>
              </a:solidFill>
              <a:latin typeface="Garet"/>
              <a:ea typeface="Garet"/>
            </a:endParaRPr>
          </a:p>
        </p:txBody>
      </p:sp>
      <p:sp>
        <p:nvSpPr>
          <p:cNvPr id="36" name="MC2"/>
          <p:cNvSpPr>
            <a:spLocks noGrp="1"/>
          </p:cNvSpPr>
          <p:nvPr/>
        </p:nvSpPr>
        <p:spPr>
          <a:xfrm>
            <a:off x="12446000" y="2565400"/>
            <a:ext cx="5461000" cy="355600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7" name="MCTop2"/>
          <p:cNvSpPr>
            <a:spLocks noGrp="1"/>
          </p:cNvSpPr>
          <p:nvPr/>
        </p:nvSpPr>
        <p:spPr>
          <a:xfrm>
            <a:off x="12446000" y="2565400"/>
            <a:ext cx="5461000" cy="508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8" name="MCTitle2"/>
          <p:cNvSpPr>
            <a:spLocks noGrp="1"/>
          </p:cNvSpPr>
          <p:nvPr/>
        </p:nvSpPr>
        <p:spPr>
          <a:xfrm>
            <a:off x="12623800" y="2832100"/>
            <a:ext cx="5080000" cy="482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lnSpc>
                <a:spcPts val="2200"/>
              </a:lnSpc>
            </a:pPr>
            <a:r>
              <a:rPr lang="ko-KR" sz="2800" b="1" dirty="0">
                <a:solidFill>
                  <a:srgbClr val="FFFFFF"/>
                </a:solidFill>
                <a:latin typeface="Garet Bold"/>
                <a:ea typeface="Garet Bold"/>
              </a:rPr>
              <a:t>해석 기준</a:t>
            </a:r>
          </a:p>
        </p:txBody>
      </p:sp>
      <p:sp>
        <p:nvSpPr>
          <p:cNvPr id="62" name="MCBody2"/>
          <p:cNvSpPr>
            <a:spLocks noGrp="1"/>
          </p:cNvSpPr>
          <p:nvPr/>
        </p:nvSpPr>
        <p:spPr>
          <a:xfrm>
            <a:off x="12623800" y="3487278"/>
            <a:ext cx="5080000" cy="136412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lnSpc>
                <a:spcPts val="2200"/>
              </a:lnSpc>
            </a:pPr>
            <a:r>
              <a:rPr lang="en-US" altLang="ko-KR" sz="2800" dirty="0">
                <a:solidFill>
                  <a:schemeClr val="bg1">
                    <a:lumMod val="85000"/>
                  </a:schemeClr>
                </a:solidFill>
              </a:rPr>
              <a:t>· |r| ≥ 0.7: </a:t>
            </a:r>
            <a:r>
              <a:rPr lang="ko-KR" altLang="en-US" sz="2800" dirty="0">
                <a:solidFill>
                  <a:schemeClr val="bg1">
                    <a:lumMod val="85000"/>
                  </a:schemeClr>
                </a:solidFill>
              </a:rPr>
              <a:t>강한 상관</a:t>
            </a:r>
            <a:endParaRPr lang="en-US" altLang="ko-KR" sz="2800" dirty="0">
              <a:solidFill>
                <a:schemeClr val="bg1">
                  <a:lumMod val="85000"/>
                </a:schemeClr>
              </a:solidFill>
            </a:endParaRPr>
          </a:p>
          <a:p>
            <a:pPr>
              <a:lnSpc>
                <a:spcPts val="2200"/>
              </a:lnSpc>
            </a:pPr>
            <a:endParaRPr lang="en-US" altLang="ko-KR" sz="2800" dirty="0">
              <a:solidFill>
                <a:schemeClr val="bg1">
                  <a:lumMod val="85000"/>
                </a:schemeClr>
              </a:solidFill>
            </a:endParaRPr>
          </a:p>
          <a:p>
            <a:pPr>
              <a:lnSpc>
                <a:spcPts val="2200"/>
              </a:lnSpc>
            </a:pPr>
            <a:br>
              <a:rPr lang="ko-KR" altLang="en-US" sz="24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en-US" altLang="ko-KR" sz="2800" dirty="0">
                <a:solidFill>
                  <a:schemeClr val="bg1">
                    <a:lumMod val="85000"/>
                  </a:schemeClr>
                </a:solidFill>
              </a:rPr>
              <a:t>· 0.5 ≤ |r| &lt; 0.7: </a:t>
            </a:r>
            <a:r>
              <a:rPr lang="ko-KR" altLang="en-US" sz="2800" dirty="0">
                <a:solidFill>
                  <a:schemeClr val="bg1">
                    <a:lumMod val="85000"/>
                  </a:schemeClr>
                </a:solidFill>
              </a:rPr>
              <a:t>중간</a:t>
            </a:r>
            <a:r>
              <a:rPr lang="en-US" altLang="ko-KR" sz="2800" dirty="0">
                <a:solidFill>
                  <a:schemeClr val="bg1">
                    <a:lumMod val="85000"/>
                  </a:schemeClr>
                </a:solidFill>
              </a:rPr>
              <a:t>~</a:t>
            </a:r>
            <a:r>
              <a:rPr lang="ko-KR" altLang="en-US" sz="2800" dirty="0">
                <a:solidFill>
                  <a:schemeClr val="bg1">
                    <a:lumMod val="85000"/>
                  </a:schemeClr>
                </a:solidFill>
              </a:rPr>
              <a:t>강한 상관</a:t>
            </a:r>
            <a:endParaRPr lang="ko-KR" sz="2400" dirty="0">
              <a:solidFill>
                <a:schemeClr val="bg1">
                  <a:lumMod val="85000"/>
                </a:schemeClr>
              </a:solidFill>
              <a:latin typeface="Garet"/>
              <a:ea typeface="Garet"/>
            </a:endParaRPr>
          </a:p>
        </p:txBody>
      </p:sp>
      <p:sp>
        <p:nvSpPr>
          <p:cNvPr id="70" name="FormBg"/>
          <p:cNvSpPr>
            <a:spLocks noGrp="1"/>
          </p:cNvSpPr>
          <p:nvPr/>
        </p:nvSpPr>
        <p:spPr>
          <a:xfrm>
            <a:off x="762000" y="6350000"/>
            <a:ext cx="16764000" cy="2540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1" name="FormTop"/>
          <p:cNvSpPr>
            <a:spLocks noGrp="1"/>
          </p:cNvSpPr>
          <p:nvPr/>
        </p:nvSpPr>
        <p:spPr>
          <a:xfrm>
            <a:off x="762000" y="6350000"/>
            <a:ext cx="16764000" cy="381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2" name="FormLabel"/>
          <p:cNvSpPr>
            <a:spLocks noGrp="1"/>
          </p:cNvSpPr>
          <p:nvPr/>
        </p:nvSpPr>
        <p:spPr>
          <a:xfrm>
            <a:off x="1016000" y="6502400"/>
            <a:ext cx="3810000" cy="406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lnSpc>
                <a:spcPts val="2200"/>
              </a:lnSpc>
            </a:pPr>
            <a:r>
              <a:rPr lang="ko-KR" sz="2400" b="1" dirty="0">
                <a:solidFill>
                  <a:srgbClr val="303030"/>
                </a:solidFill>
                <a:latin typeface="Garet Bold"/>
                <a:ea typeface="Garet Bold"/>
              </a:rPr>
              <a:t>상관계수 산출 결과</a:t>
            </a:r>
          </a:p>
        </p:txBody>
      </p:sp>
      <p:sp>
        <p:nvSpPr>
          <p:cNvPr id="73" name="R1Bg"/>
          <p:cNvSpPr>
            <a:spLocks noGrp="1"/>
          </p:cNvSpPr>
          <p:nvPr/>
        </p:nvSpPr>
        <p:spPr>
          <a:xfrm>
            <a:off x="1016000" y="6985000"/>
            <a:ext cx="7366000" cy="1651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4" name="R1Label"/>
          <p:cNvSpPr>
            <a:spLocks noGrp="1"/>
          </p:cNvSpPr>
          <p:nvPr/>
        </p:nvSpPr>
        <p:spPr>
          <a:xfrm>
            <a:off x="1143000" y="7086600"/>
            <a:ext cx="7112000" cy="381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lnSpc>
                <a:spcPts val="2200"/>
              </a:lnSpc>
            </a:pPr>
            <a:r>
              <a:rPr lang="ko-KR" sz="2000" dirty="0">
                <a:solidFill>
                  <a:srgbClr val="505050"/>
                </a:solidFill>
                <a:latin typeface="Garet"/>
                <a:ea typeface="Garet"/>
              </a:rPr>
              <a:t>최대 상영 극장수  ↔  전세계 흥행수익</a:t>
            </a:r>
          </a:p>
        </p:txBody>
      </p:sp>
      <p:sp>
        <p:nvSpPr>
          <p:cNvPr id="75" name="R1Val"/>
          <p:cNvSpPr>
            <a:spLocks noGrp="1"/>
          </p:cNvSpPr>
          <p:nvPr/>
        </p:nvSpPr>
        <p:spPr>
          <a:xfrm>
            <a:off x="1206500" y="7797800"/>
            <a:ext cx="3302000" cy="914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lnSpc>
                <a:spcPts val="2200"/>
              </a:lnSpc>
            </a:pPr>
            <a:r>
              <a:rPr lang="ko-KR" sz="4400" b="1" dirty="0">
                <a:solidFill>
                  <a:srgbClr val="202020"/>
                </a:solidFill>
                <a:latin typeface="Garet Bold"/>
                <a:ea typeface="Garet Bold"/>
              </a:rPr>
              <a:t>r = 0.762</a:t>
            </a:r>
          </a:p>
        </p:txBody>
      </p:sp>
      <p:sp>
        <p:nvSpPr>
          <p:cNvPr id="76" name="R1Sub"/>
          <p:cNvSpPr>
            <a:spLocks noGrp="1"/>
          </p:cNvSpPr>
          <p:nvPr/>
        </p:nvSpPr>
        <p:spPr>
          <a:xfrm>
            <a:off x="4555917" y="7607300"/>
            <a:ext cx="3810000" cy="914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lnSpc>
                <a:spcPts val="2200"/>
              </a:lnSpc>
            </a:pPr>
            <a:r>
              <a:rPr lang="ko-KR" sz="2400" dirty="0">
                <a:solidFill>
                  <a:srgbClr val="888888"/>
                </a:solidFill>
                <a:latin typeface="Garet"/>
                <a:ea typeface="Garet"/>
              </a:rPr>
              <a:t>(log 기준)</a:t>
            </a:r>
          </a:p>
          <a:p>
            <a:pPr algn="l">
              <a:lnSpc>
                <a:spcPts val="2200"/>
              </a:lnSpc>
            </a:pPr>
            <a:r>
              <a:rPr lang="ko-KR" sz="2000" dirty="0">
                <a:solidFill>
                  <a:srgbClr val="AAAAAA"/>
                </a:solidFill>
                <a:latin typeface="Garet"/>
                <a:ea typeface="Garet"/>
              </a:rPr>
              <a:t>raw: r = 0.497</a:t>
            </a:r>
          </a:p>
        </p:txBody>
      </p:sp>
      <p:sp>
        <p:nvSpPr>
          <p:cNvPr id="77" name="R2Bg"/>
          <p:cNvSpPr>
            <a:spLocks noGrp="1"/>
          </p:cNvSpPr>
          <p:nvPr/>
        </p:nvSpPr>
        <p:spPr>
          <a:xfrm>
            <a:off x="8890000" y="6985000"/>
            <a:ext cx="7366000" cy="1651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8" name="R2Label"/>
          <p:cNvSpPr>
            <a:spLocks noGrp="1"/>
          </p:cNvSpPr>
          <p:nvPr/>
        </p:nvSpPr>
        <p:spPr>
          <a:xfrm>
            <a:off x="9017000" y="7086600"/>
            <a:ext cx="7112000" cy="381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lnSpc>
                <a:spcPts val="2200"/>
              </a:lnSpc>
            </a:pPr>
            <a:r>
              <a:rPr lang="ko-KR" sz="2000" dirty="0">
                <a:solidFill>
                  <a:srgbClr val="505050"/>
                </a:solidFill>
                <a:latin typeface="Garet"/>
                <a:ea typeface="Garet"/>
              </a:rPr>
              <a:t>오픈 극장수  ↔  전세계 흥행수익</a:t>
            </a:r>
          </a:p>
        </p:txBody>
      </p:sp>
      <p:sp>
        <p:nvSpPr>
          <p:cNvPr id="79" name="R2Val"/>
          <p:cNvSpPr>
            <a:spLocks noGrp="1"/>
          </p:cNvSpPr>
          <p:nvPr/>
        </p:nvSpPr>
        <p:spPr>
          <a:xfrm>
            <a:off x="9024121" y="7797800"/>
            <a:ext cx="3302000" cy="914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lnSpc>
                <a:spcPts val="2200"/>
              </a:lnSpc>
            </a:pPr>
            <a:r>
              <a:rPr lang="ko-KR" sz="4400" b="1" dirty="0">
                <a:solidFill>
                  <a:srgbClr val="202020"/>
                </a:solidFill>
                <a:latin typeface="Garet Bold"/>
                <a:ea typeface="Garet Bold"/>
              </a:rPr>
              <a:t>r = 0.678</a:t>
            </a:r>
          </a:p>
        </p:txBody>
      </p:sp>
      <p:sp>
        <p:nvSpPr>
          <p:cNvPr id="80" name="R2Sub"/>
          <p:cNvSpPr>
            <a:spLocks noGrp="1"/>
          </p:cNvSpPr>
          <p:nvPr/>
        </p:nvSpPr>
        <p:spPr>
          <a:xfrm>
            <a:off x="12446000" y="7518400"/>
            <a:ext cx="3810000" cy="914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lnSpc>
                <a:spcPts val="2200"/>
              </a:lnSpc>
            </a:pPr>
            <a:r>
              <a:rPr lang="ko-KR" sz="2400" dirty="0">
                <a:solidFill>
                  <a:srgbClr val="888888"/>
                </a:solidFill>
                <a:latin typeface="Garet"/>
                <a:ea typeface="Garet"/>
              </a:rPr>
              <a:t>(log 기준)</a:t>
            </a:r>
          </a:p>
          <a:p>
            <a:pPr algn="l">
              <a:lnSpc>
                <a:spcPts val="2200"/>
              </a:lnSpc>
            </a:pPr>
            <a:r>
              <a:rPr lang="ko-KR" sz="2000" dirty="0">
                <a:solidFill>
                  <a:srgbClr val="AAAAAA"/>
                </a:solidFill>
                <a:latin typeface="Garet"/>
                <a:ea typeface="Garet"/>
              </a:rPr>
              <a:t>raw: r = 0.497</a:t>
            </a:r>
          </a:p>
        </p:txBody>
      </p:sp>
    </p:spTree>
    <p:extLst>
      <p:ext uri="{BB962C8B-B14F-4D97-AF65-F5344CB8AC3E}">
        <p14:creationId xmlns:p14="http://schemas.microsoft.com/office/powerpoint/2010/main" val="24392289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"/>
          <p:cNvSpPr>
            <a:spLocks noGrp="1"/>
          </p:cNvSpPr>
          <p:nvPr/>
        </p:nvSpPr>
        <p:spPr>
          <a:xfrm>
            <a:off x="0" y="0"/>
            <a:ext cx="18288000" cy="111760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N"/>
          <p:cNvSpPr>
            <a:spLocks noGrp="1"/>
          </p:cNvSpPr>
          <p:nvPr/>
        </p:nvSpPr>
        <p:spPr>
          <a:xfrm>
            <a:off x="762000" y="2540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en-US" sz="1400" dirty="0">
                <a:solidFill>
                  <a:srgbClr val="888888"/>
                </a:solidFill>
                <a:latin typeface="Garet"/>
              </a:rPr>
              <a:t>09</a:t>
            </a:r>
          </a:p>
        </p:txBody>
      </p:sp>
      <p:sp>
        <p:nvSpPr>
          <p:cNvPr id="12" name="T"/>
          <p:cNvSpPr>
            <a:spLocks noGrp="1"/>
          </p:cNvSpPr>
          <p:nvPr/>
        </p:nvSpPr>
        <p:spPr>
          <a:xfrm>
            <a:off x="762000" y="482600"/>
            <a:ext cx="15240000" cy="660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lnSpc>
                <a:spcPts val="2200"/>
              </a:lnSpc>
            </a:pPr>
            <a:r>
              <a:rPr lang="ko-KR" sz="4000" b="1" dirty="0">
                <a:solidFill>
                  <a:srgbClr val="FFFFFF"/>
                </a:solidFill>
                <a:latin typeface="Garet Bold"/>
                <a:ea typeface="Garet Bold"/>
              </a:rPr>
              <a:t>최대 상영 극장수 × 전세계 흥행수익 — 산점도</a:t>
            </a:r>
          </a:p>
        </p:txBody>
      </p:sp>
      <p:sp>
        <p:nvSpPr>
          <p:cNvPr id="30" name="RBg"/>
          <p:cNvSpPr>
            <a:spLocks noGrp="1"/>
          </p:cNvSpPr>
          <p:nvPr/>
        </p:nvSpPr>
        <p:spPr>
          <a:xfrm>
            <a:off x="12192000" y="1257300"/>
            <a:ext cx="5588000" cy="850900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RTop"/>
          <p:cNvSpPr>
            <a:spLocks noGrp="1"/>
          </p:cNvSpPr>
          <p:nvPr/>
        </p:nvSpPr>
        <p:spPr>
          <a:xfrm>
            <a:off x="12192000" y="1244600"/>
            <a:ext cx="5588000" cy="508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RTitle"/>
          <p:cNvSpPr>
            <a:spLocks noGrp="1"/>
          </p:cNvSpPr>
          <p:nvPr/>
        </p:nvSpPr>
        <p:spPr>
          <a:xfrm>
            <a:off x="12420600" y="1562100"/>
            <a:ext cx="508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lnSpc>
                <a:spcPts val="2200"/>
              </a:lnSpc>
            </a:pPr>
            <a:r>
              <a:rPr lang="ko-KR" sz="2800" b="1" dirty="0">
                <a:solidFill>
                  <a:srgbClr val="FFFFFF"/>
                </a:solidFill>
                <a:latin typeface="Garet Bold"/>
                <a:ea typeface="Garet Bold"/>
              </a:rPr>
              <a:t>상관계수 결과</a:t>
            </a:r>
          </a:p>
        </p:txBody>
      </p:sp>
      <p:sp>
        <p:nvSpPr>
          <p:cNvPr id="33" name="RDiv"/>
          <p:cNvSpPr>
            <a:spLocks noGrp="1"/>
          </p:cNvSpPr>
          <p:nvPr/>
        </p:nvSpPr>
        <p:spPr>
          <a:xfrm>
            <a:off x="12420600" y="1955800"/>
            <a:ext cx="5080000" cy="127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" name="RValBg"/>
          <p:cNvSpPr>
            <a:spLocks noGrp="1"/>
          </p:cNvSpPr>
          <p:nvPr/>
        </p:nvSpPr>
        <p:spPr>
          <a:xfrm>
            <a:off x="12420600" y="2133600"/>
            <a:ext cx="5080000" cy="13970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5" name="RVal"/>
          <p:cNvSpPr>
            <a:spLocks noGrp="1"/>
          </p:cNvSpPr>
          <p:nvPr/>
        </p:nvSpPr>
        <p:spPr>
          <a:xfrm>
            <a:off x="12406357" y="2449913"/>
            <a:ext cx="5080000" cy="660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tr">
              <a:lnSpc>
                <a:spcPts val="2200"/>
              </a:lnSpc>
            </a:pPr>
            <a:r>
              <a:rPr lang="ko-KR" sz="3200" b="1" dirty="0">
                <a:solidFill>
                  <a:srgbClr val="FFFFFF"/>
                </a:solidFill>
                <a:latin typeface="Garet Bold"/>
                <a:ea typeface="Garet Bold"/>
              </a:rPr>
              <a:t>r (log) = 0.762</a:t>
            </a:r>
          </a:p>
        </p:txBody>
      </p:sp>
      <p:sp>
        <p:nvSpPr>
          <p:cNvPr id="36" name="RValSub"/>
          <p:cNvSpPr>
            <a:spLocks noGrp="1"/>
          </p:cNvSpPr>
          <p:nvPr/>
        </p:nvSpPr>
        <p:spPr>
          <a:xfrm>
            <a:off x="12420600" y="2946400"/>
            <a:ext cx="508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tr">
              <a:lnSpc>
                <a:spcPts val="2200"/>
              </a:lnSpc>
            </a:pPr>
            <a:r>
              <a:rPr lang="ko-KR" sz="1700" dirty="0">
                <a:solidFill>
                  <a:srgbClr val="888888"/>
                </a:solidFill>
                <a:latin typeface="Garet"/>
                <a:ea typeface="Garet"/>
              </a:rPr>
              <a:t>n = 5,815개 쌍</a:t>
            </a:r>
          </a:p>
        </p:txBody>
      </p:sp>
      <p:sp>
        <p:nvSpPr>
          <p:cNvPr id="37" name="RRawBg"/>
          <p:cNvSpPr>
            <a:spLocks noGrp="1"/>
          </p:cNvSpPr>
          <p:nvPr/>
        </p:nvSpPr>
        <p:spPr>
          <a:xfrm>
            <a:off x="12420600" y="3708400"/>
            <a:ext cx="5080000" cy="7620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8" name="RRaw"/>
          <p:cNvSpPr>
            <a:spLocks noGrp="1"/>
          </p:cNvSpPr>
          <p:nvPr/>
        </p:nvSpPr>
        <p:spPr>
          <a:xfrm>
            <a:off x="12344400" y="3900087"/>
            <a:ext cx="5080000" cy="609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tr">
              <a:lnSpc>
                <a:spcPts val="2200"/>
              </a:lnSpc>
            </a:pPr>
            <a:r>
              <a:rPr lang="ko-KR" sz="2000" dirty="0">
                <a:solidFill>
                  <a:srgbClr val="AAAAAA"/>
                </a:solidFill>
                <a:latin typeface="Garet"/>
                <a:ea typeface="Garet"/>
              </a:rPr>
              <a:t>r (raw) = 0.497</a:t>
            </a:r>
          </a:p>
        </p:txBody>
      </p:sp>
      <p:sp>
        <p:nvSpPr>
          <p:cNvPr id="39" name="RDiv2"/>
          <p:cNvSpPr>
            <a:spLocks noGrp="1"/>
          </p:cNvSpPr>
          <p:nvPr/>
        </p:nvSpPr>
        <p:spPr>
          <a:xfrm>
            <a:off x="12420600" y="4648200"/>
            <a:ext cx="5080000" cy="127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" name="RLabel2"/>
          <p:cNvSpPr>
            <a:spLocks noGrp="1"/>
          </p:cNvSpPr>
          <p:nvPr/>
        </p:nvSpPr>
        <p:spPr>
          <a:xfrm>
            <a:off x="12420600" y="4965700"/>
            <a:ext cx="5080000" cy="406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lnSpc>
                <a:spcPts val="2200"/>
              </a:lnSpc>
            </a:pPr>
            <a:r>
              <a:rPr lang="ko-KR" sz="2800" b="1" dirty="0">
                <a:solidFill>
                  <a:srgbClr val="CCCCCC"/>
                </a:solidFill>
                <a:latin typeface="Garet Bold"/>
                <a:ea typeface="Garet Bold"/>
              </a:rPr>
              <a:t>해석</a:t>
            </a:r>
          </a:p>
        </p:txBody>
      </p:sp>
      <p:sp>
        <p:nvSpPr>
          <p:cNvPr id="41" name="RFindings"/>
          <p:cNvSpPr>
            <a:spLocks noGrp="1"/>
          </p:cNvSpPr>
          <p:nvPr/>
        </p:nvSpPr>
        <p:spPr>
          <a:xfrm>
            <a:off x="12420600" y="5524500"/>
            <a:ext cx="5080000" cy="304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lnSpc>
                <a:spcPts val="2200"/>
              </a:lnSpc>
            </a:pPr>
            <a:r>
              <a:rPr lang="en-US" altLang="ko-KR" dirty="0">
                <a:solidFill>
                  <a:schemeClr val="bg1">
                    <a:lumMod val="85000"/>
                  </a:schemeClr>
                </a:solidFill>
              </a:rPr>
              <a:t>· log1p</a:t>
            </a:r>
            <a:r>
              <a:rPr lang="ko-KR" altLang="en-US" dirty="0">
                <a:solidFill>
                  <a:schemeClr val="bg1">
                    <a:lumMod val="85000"/>
                  </a:schemeClr>
                </a:solidFill>
              </a:rPr>
              <a:t> 변환 후 상관계수가 </a:t>
            </a:r>
            <a:r>
              <a:rPr lang="en-US" altLang="ko-KR" dirty="0">
                <a:solidFill>
                  <a:schemeClr val="bg1">
                    <a:lumMod val="85000"/>
                  </a:schemeClr>
                </a:solidFill>
              </a:rPr>
              <a:t>0.50 → 0.76</a:t>
            </a:r>
            <a:r>
              <a:rPr lang="ko-KR" altLang="en-US" dirty="0">
                <a:solidFill>
                  <a:schemeClr val="bg1">
                    <a:lumMod val="85000"/>
                  </a:schemeClr>
                </a:solidFill>
              </a:rPr>
              <a:t>으로  상승</a:t>
            </a:r>
            <a:endParaRPr lang="en-US" altLang="ko-KR" dirty="0">
              <a:solidFill>
                <a:schemeClr val="bg1">
                  <a:lumMod val="85000"/>
                </a:schemeClr>
              </a:solidFill>
            </a:endParaRPr>
          </a:p>
          <a:p>
            <a:pPr>
              <a:lnSpc>
                <a:spcPts val="2200"/>
              </a:lnSpc>
            </a:pPr>
            <a:br>
              <a:rPr lang="ko-KR" altLang="en-US" sz="16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en-US" altLang="ko-KR" dirty="0">
                <a:solidFill>
                  <a:schemeClr val="bg1">
                    <a:lumMod val="85000"/>
                  </a:schemeClr>
                </a:solidFill>
              </a:rPr>
              <a:t>· </a:t>
            </a:r>
            <a:r>
              <a:rPr lang="ko-KR" altLang="en-US" dirty="0">
                <a:solidFill>
                  <a:schemeClr val="bg1">
                    <a:lumMod val="85000"/>
                  </a:schemeClr>
                </a:solidFill>
              </a:rPr>
              <a:t>최대 상영 극장수와 전세계 흥행수익 사이에 </a:t>
            </a:r>
            <a:endParaRPr lang="en-US" altLang="ko-KR" dirty="0">
              <a:solidFill>
                <a:schemeClr val="bg1">
                  <a:lumMod val="85000"/>
                </a:schemeClr>
              </a:solidFill>
            </a:endParaRPr>
          </a:p>
          <a:p>
            <a:pPr>
              <a:lnSpc>
                <a:spcPts val="2200"/>
              </a:lnSpc>
            </a:pPr>
            <a:r>
              <a:rPr lang="en-US" altLang="ko-KR" dirty="0">
                <a:solidFill>
                  <a:schemeClr val="bg1">
                    <a:lumMod val="85000"/>
                  </a:schemeClr>
                </a:solidFill>
              </a:rPr>
              <a:t>  </a:t>
            </a:r>
            <a:r>
              <a:rPr lang="ko-KR" altLang="en-US" dirty="0">
                <a:solidFill>
                  <a:schemeClr val="bg1">
                    <a:lumMod val="85000"/>
                  </a:schemeClr>
                </a:solidFill>
              </a:rPr>
              <a:t>강한 양의 상관 관계 확인</a:t>
            </a:r>
            <a:endParaRPr lang="en-US" altLang="ko-KR" dirty="0">
              <a:solidFill>
                <a:schemeClr val="bg1">
                  <a:lumMod val="85000"/>
                </a:schemeClr>
              </a:solidFill>
            </a:endParaRPr>
          </a:p>
          <a:p>
            <a:pPr>
              <a:lnSpc>
                <a:spcPts val="2200"/>
              </a:lnSpc>
            </a:pPr>
            <a:br>
              <a:rPr lang="ko-KR" altLang="en-US" sz="16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en-US" altLang="ko-KR" dirty="0">
                <a:solidFill>
                  <a:schemeClr val="bg1">
                    <a:lumMod val="85000"/>
                  </a:schemeClr>
                </a:solidFill>
              </a:rPr>
              <a:t>· </a:t>
            </a:r>
            <a:r>
              <a:rPr lang="ko-KR" altLang="en-US" dirty="0">
                <a:solidFill>
                  <a:schemeClr val="bg1">
                    <a:lumMod val="85000"/>
                  </a:schemeClr>
                </a:solidFill>
              </a:rPr>
              <a:t>상영 극장 수가 많은 영화일수록 흥행수익도 </a:t>
            </a:r>
            <a:endParaRPr lang="en-US" altLang="ko-KR" dirty="0">
              <a:solidFill>
                <a:schemeClr val="bg1">
                  <a:lumMod val="85000"/>
                </a:schemeClr>
              </a:solidFill>
            </a:endParaRPr>
          </a:p>
          <a:p>
            <a:pPr>
              <a:lnSpc>
                <a:spcPts val="2200"/>
              </a:lnSpc>
            </a:pPr>
            <a:r>
              <a:rPr lang="en-US" altLang="ko-KR" dirty="0">
                <a:solidFill>
                  <a:schemeClr val="bg1">
                    <a:lumMod val="85000"/>
                  </a:schemeClr>
                </a:solidFill>
              </a:rPr>
              <a:t>  </a:t>
            </a:r>
            <a:r>
              <a:rPr lang="ko-KR" altLang="en-US" dirty="0">
                <a:solidFill>
                  <a:schemeClr val="bg1">
                    <a:lumMod val="85000"/>
                  </a:schemeClr>
                </a:solidFill>
              </a:rPr>
              <a:t>함께 큰 경향</a:t>
            </a:r>
            <a:endParaRPr lang="en-US" altLang="ko-KR" dirty="0">
              <a:solidFill>
                <a:schemeClr val="bg1">
                  <a:lumMod val="85000"/>
                </a:schemeClr>
              </a:solidFill>
            </a:endParaRPr>
          </a:p>
          <a:p>
            <a:pPr>
              <a:lnSpc>
                <a:spcPts val="2200"/>
              </a:lnSpc>
            </a:pPr>
            <a:br>
              <a:rPr lang="ko-KR" altLang="en-US" sz="16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en-US" altLang="ko-KR" dirty="0">
                <a:solidFill>
                  <a:schemeClr val="bg1">
                    <a:lumMod val="85000"/>
                  </a:schemeClr>
                </a:solidFill>
              </a:rPr>
              <a:t>· </a:t>
            </a:r>
            <a:r>
              <a:rPr lang="ko-KR" altLang="en-US" dirty="0">
                <a:solidFill>
                  <a:schemeClr val="bg1">
                    <a:lumMod val="85000"/>
                  </a:schemeClr>
                </a:solidFill>
              </a:rPr>
              <a:t>특히 대규모 배급 구간에서 고수익 영화가 많이 분포</a:t>
            </a:r>
            <a:endParaRPr lang="ko-KR" sz="1600" dirty="0">
              <a:solidFill>
                <a:schemeClr val="bg1">
                  <a:lumMod val="85000"/>
                </a:schemeClr>
              </a:solidFill>
              <a:latin typeface="Garet"/>
              <a:ea typeface="Garet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023E048-21F7-4496-552D-054A144CA4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244600"/>
            <a:ext cx="11176000" cy="7855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286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"/>
          <p:cNvSpPr>
            <a:spLocks noGrp="1"/>
          </p:cNvSpPr>
          <p:nvPr/>
        </p:nvSpPr>
        <p:spPr>
          <a:xfrm>
            <a:off x="0" y="0"/>
            <a:ext cx="18288000" cy="111760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N"/>
          <p:cNvSpPr>
            <a:spLocks noGrp="1"/>
          </p:cNvSpPr>
          <p:nvPr/>
        </p:nvSpPr>
        <p:spPr>
          <a:xfrm>
            <a:off x="762000" y="2540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en-US" sz="1400" dirty="0">
                <a:solidFill>
                  <a:srgbClr val="888888"/>
                </a:solidFill>
                <a:latin typeface="Garet"/>
              </a:rPr>
              <a:t>10</a:t>
            </a:r>
          </a:p>
        </p:txBody>
      </p:sp>
      <p:sp>
        <p:nvSpPr>
          <p:cNvPr id="12" name="T"/>
          <p:cNvSpPr>
            <a:spLocks noGrp="1"/>
          </p:cNvSpPr>
          <p:nvPr/>
        </p:nvSpPr>
        <p:spPr>
          <a:xfrm>
            <a:off x="762000" y="482600"/>
            <a:ext cx="15240000" cy="660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lnSpc>
                <a:spcPts val="2200"/>
              </a:lnSpc>
            </a:pPr>
            <a:r>
              <a:rPr lang="ko-KR" sz="4000" b="1" dirty="0">
                <a:solidFill>
                  <a:srgbClr val="FFFFFF"/>
                </a:solidFill>
                <a:latin typeface="Garet Bold"/>
                <a:ea typeface="Garet Bold"/>
              </a:rPr>
              <a:t>오픈 극장수 × 전세계 흥행수익 — 산점도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325EE4F2-88C9-69D4-A54A-41D14EDBD5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244600"/>
            <a:ext cx="11176000" cy="7861085"/>
          </a:xfrm>
          <a:prstGeom prst="rect">
            <a:avLst/>
          </a:prstGeom>
        </p:spPr>
      </p:pic>
      <p:sp>
        <p:nvSpPr>
          <p:cNvPr id="18" name="RBg">
            <a:extLst>
              <a:ext uri="{FF2B5EF4-FFF2-40B4-BE49-F238E27FC236}">
                <a16:creationId xmlns:a16="http://schemas.microsoft.com/office/drawing/2014/main" id="{7262285F-508E-A847-48AE-274B8018C638}"/>
              </a:ext>
            </a:extLst>
          </p:cNvPr>
          <p:cNvSpPr>
            <a:spLocks noGrp="1"/>
          </p:cNvSpPr>
          <p:nvPr/>
        </p:nvSpPr>
        <p:spPr>
          <a:xfrm>
            <a:off x="12192000" y="1257300"/>
            <a:ext cx="5588000" cy="850900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RTop">
            <a:extLst>
              <a:ext uri="{FF2B5EF4-FFF2-40B4-BE49-F238E27FC236}">
                <a16:creationId xmlns:a16="http://schemas.microsoft.com/office/drawing/2014/main" id="{7C772E2C-BCD4-F1E4-8CA9-70CCEAA51F8D}"/>
              </a:ext>
            </a:extLst>
          </p:cNvPr>
          <p:cNvSpPr>
            <a:spLocks noGrp="1"/>
          </p:cNvSpPr>
          <p:nvPr/>
        </p:nvSpPr>
        <p:spPr>
          <a:xfrm>
            <a:off x="12192000" y="1244600"/>
            <a:ext cx="5588000" cy="508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RTitle">
            <a:extLst>
              <a:ext uri="{FF2B5EF4-FFF2-40B4-BE49-F238E27FC236}">
                <a16:creationId xmlns:a16="http://schemas.microsoft.com/office/drawing/2014/main" id="{8166FA15-D11C-831F-7868-D9E5FA318683}"/>
              </a:ext>
            </a:extLst>
          </p:cNvPr>
          <p:cNvSpPr>
            <a:spLocks noGrp="1"/>
          </p:cNvSpPr>
          <p:nvPr/>
        </p:nvSpPr>
        <p:spPr>
          <a:xfrm>
            <a:off x="12420600" y="1562100"/>
            <a:ext cx="508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lnSpc>
                <a:spcPts val="2200"/>
              </a:lnSpc>
            </a:pPr>
            <a:r>
              <a:rPr lang="ko-KR" sz="2800" b="1" dirty="0">
                <a:solidFill>
                  <a:srgbClr val="FFFFFF"/>
                </a:solidFill>
                <a:latin typeface="Garet Bold"/>
                <a:ea typeface="Garet Bold"/>
              </a:rPr>
              <a:t>상관계수 결과</a:t>
            </a:r>
          </a:p>
        </p:txBody>
      </p:sp>
      <p:sp>
        <p:nvSpPr>
          <p:cNvPr id="21" name="RDiv">
            <a:extLst>
              <a:ext uri="{FF2B5EF4-FFF2-40B4-BE49-F238E27FC236}">
                <a16:creationId xmlns:a16="http://schemas.microsoft.com/office/drawing/2014/main" id="{E6EE1495-755C-A635-5FCF-B11A88A08057}"/>
              </a:ext>
            </a:extLst>
          </p:cNvPr>
          <p:cNvSpPr>
            <a:spLocks noGrp="1"/>
          </p:cNvSpPr>
          <p:nvPr/>
        </p:nvSpPr>
        <p:spPr>
          <a:xfrm>
            <a:off x="12420600" y="1955800"/>
            <a:ext cx="5080000" cy="127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RValBg">
            <a:extLst>
              <a:ext uri="{FF2B5EF4-FFF2-40B4-BE49-F238E27FC236}">
                <a16:creationId xmlns:a16="http://schemas.microsoft.com/office/drawing/2014/main" id="{DCD44039-97EF-5339-516D-86B42B745D1A}"/>
              </a:ext>
            </a:extLst>
          </p:cNvPr>
          <p:cNvSpPr>
            <a:spLocks noGrp="1"/>
          </p:cNvSpPr>
          <p:nvPr/>
        </p:nvSpPr>
        <p:spPr>
          <a:xfrm>
            <a:off x="12420600" y="2133600"/>
            <a:ext cx="5080000" cy="13970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" name="RVal">
            <a:extLst>
              <a:ext uri="{FF2B5EF4-FFF2-40B4-BE49-F238E27FC236}">
                <a16:creationId xmlns:a16="http://schemas.microsoft.com/office/drawing/2014/main" id="{09A97056-B83E-81FC-8993-6E934198067C}"/>
              </a:ext>
            </a:extLst>
          </p:cNvPr>
          <p:cNvSpPr>
            <a:spLocks noGrp="1"/>
          </p:cNvSpPr>
          <p:nvPr/>
        </p:nvSpPr>
        <p:spPr>
          <a:xfrm>
            <a:off x="12406357" y="2449913"/>
            <a:ext cx="5080000" cy="660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tr">
              <a:lnSpc>
                <a:spcPts val="2200"/>
              </a:lnSpc>
            </a:pPr>
            <a:r>
              <a:rPr lang="ko-KR" sz="3200" b="1" dirty="0">
                <a:solidFill>
                  <a:srgbClr val="FFFFFF"/>
                </a:solidFill>
                <a:latin typeface="Garet Bold"/>
                <a:ea typeface="Garet Bold"/>
              </a:rPr>
              <a:t>r (log) = 0.</a:t>
            </a:r>
            <a:r>
              <a:rPr lang="en-US" altLang="ko-KR" sz="3200" b="1" dirty="0">
                <a:solidFill>
                  <a:srgbClr val="FFFFFF"/>
                </a:solidFill>
                <a:latin typeface="Garet Bold"/>
                <a:ea typeface="Garet Bold"/>
              </a:rPr>
              <a:t>678</a:t>
            </a:r>
            <a:endParaRPr lang="ko-KR" sz="3200" b="1" dirty="0">
              <a:solidFill>
                <a:srgbClr val="FFFFFF"/>
              </a:solidFill>
              <a:latin typeface="Garet Bold"/>
              <a:ea typeface="Garet Bold"/>
            </a:endParaRPr>
          </a:p>
        </p:txBody>
      </p:sp>
      <p:sp>
        <p:nvSpPr>
          <p:cNvPr id="24" name="RValSub">
            <a:extLst>
              <a:ext uri="{FF2B5EF4-FFF2-40B4-BE49-F238E27FC236}">
                <a16:creationId xmlns:a16="http://schemas.microsoft.com/office/drawing/2014/main" id="{0A53E821-E010-4028-9BAD-A479BD8BF0F0}"/>
              </a:ext>
            </a:extLst>
          </p:cNvPr>
          <p:cNvSpPr>
            <a:spLocks noGrp="1"/>
          </p:cNvSpPr>
          <p:nvPr/>
        </p:nvSpPr>
        <p:spPr>
          <a:xfrm>
            <a:off x="12420600" y="2946400"/>
            <a:ext cx="508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tr">
              <a:lnSpc>
                <a:spcPts val="2200"/>
              </a:lnSpc>
            </a:pPr>
            <a:r>
              <a:rPr lang="ko-KR" sz="1700" dirty="0">
                <a:solidFill>
                  <a:srgbClr val="888888"/>
                </a:solidFill>
                <a:latin typeface="Garet"/>
                <a:ea typeface="Garet"/>
              </a:rPr>
              <a:t>n = 5,</a:t>
            </a:r>
            <a:r>
              <a:rPr lang="en-US" altLang="ko-KR" sz="1700" dirty="0">
                <a:solidFill>
                  <a:srgbClr val="888888"/>
                </a:solidFill>
                <a:latin typeface="Garet"/>
                <a:ea typeface="Garet"/>
              </a:rPr>
              <a:t>307</a:t>
            </a:r>
            <a:r>
              <a:rPr lang="ko-KR" sz="1700" dirty="0">
                <a:solidFill>
                  <a:srgbClr val="888888"/>
                </a:solidFill>
                <a:latin typeface="Garet"/>
                <a:ea typeface="Garet"/>
              </a:rPr>
              <a:t>개 쌍</a:t>
            </a:r>
          </a:p>
        </p:txBody>
      </p:sp>
      <p:sp>
        <p:nvSpPr>
          <p:cNvPr id="25" name="RRawBg">
            <a:extLst>
              <a:ext uri="{FF2B5EF4-FFF2-40B4-BE49-F238E27FC236}">
                <a16:creationId xmlns:a16="http://schemas.microsoft.com/office/drawing/2014/main" id="{7FD306F4-12A8-B28B-4513-039E962CA0CB}"/>
              </a:ext>
            </a:extLst>
          </p:cNvPr>
          <p:cNvSpPr>
            <a:spLocks noGrp="1"/>
          </p:cNvSpPr>
          <p:nvPr/>
        </p:nvSpPr>
        <p:spPr>
          <a:xfrm>
            <a:off x="12420600" y="3708400"/>
            <a:ext cx="5080000" cy="7620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" name="RRaw">
            <a:extLst>
              <a:ext uri="{FF2B5EF4-FFF2-40B4-BE49-F238E27FC236}">
                <a16:creationId xmlns:a16="http://schemas.microsoft.com/office/drawing/2014/main" id="{1FADEBA1-4BAC-4797-1DAD-897BD37E8C48}"/>
              </a:ext>
            </a:extLst>
          </p:cNvPr>
          <p:cNvSpPr>
            <a:spLocks noGrp="1"/>
          </p:cNvSpPr>
          <p:nvPr/>
        </p:nvSpPr>
        <p:spPr>
          <a:xfrm>
            <a:off x="12344400" y="3900087"/>
            <a:ext cx="5080000" cy="609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tr">
              <a:lnSpc>
                <a:spcPts val="2200"/>
              </a:lnSpc>
            </a:pPr>
            <a:r>
              <a:rPr lang="ko-KR" sz="2000" dirty="0">
                <a:solidFill>
                  <a:srgbClr val="AAAAAA"/>
                </a:solidFill>
                <a:latin typeface="Garet"/>
                <a:ea typeface="Garet"/>
              </a:rPr>
              <a:t>r (raw) = 0.497</a:t>
            </a:r>
          </a:p>
        </p:txBody>
      </p:sp>
      <p:sp>
        <p:nvSpPr>
          <p:cNvPr id="27" name="RDiv2">
            <a:extLst>
              <a:ext uri="{FF2B5EF4-FFF2-40B4-BE49-F238E27FC236}">
                <a16:creationId xmlns:a16="http://schemas.microsoft.com/office/drawing/2014/main" id="{703AC1F3-2EC4-3377-D4BF-03A23EC83008}"/>
              </a:ext>
            </a:extLst>
          </p:cNvPr>
          <p:cNvSpPr>
            <a:spLocks noGrp="1"/>
          </p:cNvSpPr>
          <p:nvPr/>
        </p:nvSpPr>
        <p:spPr>
          <a:xfrm>
            <a:off x="12420600" y="4648200"/>
            <a:ext cx="5080000" cy="127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" name="RLabel2">
            <a:extLst>
              <a:ext uri="{FF2B5EF4-FFF2-40B4-BE49-F238E27FC236}">
                <a16:creationId xmlns:a16="http://schemas.microsoft.com/office/drawing/2014/main" id="{58627D5F-92FB-A405-9F6A-803BFFFE8A72}"/>
              </a:ext>
            </a:extLst>
          </p:cNvPr>
          <p:cNvSpPr>
            <a:spLocks noGrp="1"/>
          </p:cNvSpPr>
          <p:nvPr/>
        </p:nvSpPr>
        <p:spPr>
          <a:xfrm>
            <a:off x="12420600" y="4965700"/>
            <a:ext cx="5080000" cy="406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lnSpc>
                <a:spcPts val="2200"/>
              </a:lnSpc>
            </a:pPr>
            <a:r>
              <a:rPr lang="ko-KR" sz="2800" b="1" dirty="0">
                <a:solidFill>
                  <a:srgbClr val="CCCCCC"/>
                </a:solidFill>
                <a:latin typeface="Garet Bold"/>
                <a:ea typeface="Garet Bold"/>
              </a:rPr>
              <a:t>해석</a:t>
            </a:r>
          </a:p>
        </p:txBody>
      </p:sp>
      <p:sp>
        <p:nvSpPr>
          <p:cNvPr id="29" name="RFindings">
            <a:extLst>
              <a:ext uri="{FF2B5EF4-FFF2-40B4-BE49-F238E27FC236}">
                <a16:creationId xmlns:a16="http://schemas.microsoft.com/office/drawing/2014/main" id="{436C773E-ECF9-345A-C9FA-6682E5FB7B1F}"/>
              </a:ext>
            </a:extLst>
          </p:cNvPr>
          <p:cNvSpPr>
            <a:spLocks noGrp="1"/>
          </p:cNvSpPr>
          <p:nvPr/>
        </p:nvSpPr>
        <p:spPr>
          <a:xfrm>
            <a:off x="12420600" y="5524500"/>
            <a:ext cx="5080000" cy="304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lnSpc>
                <a:spcPts val="2200"/>
              </a:lnSpc>
            </a:pPr>
            <a:r>
              <a:rPr lang="en-US" altLang="ko-KR" dirty="0">
                <a:solidFill>
                  <a:schemeClr val="bg1">
                    <a:lumMod val="85000"/>
                  </a:schemeClr>
                </a:solidFill>
              </a:rPr>
              <a:t>· log1p</a:t>
            </a:r>
            <a:r>
              <a:rPr lang="ko-KR" altLang="en-US" dirty="0">
                <a:solidFill>
                  <a:schemeClr val="bg1">
                    <a:lumMod val="85000"/>
                  </a:schemeClr>
                </a:solidFill>
              </a:rPr>
              <a:t> 변환 후 상관계수가 </a:t>
            </a:r>
            <a:r>
              <a:rPr lang="en-US" altLang="ko-KR" dirty="0">
                <a:solidFill>
                  <a:schemeClr val="bg1">
                    <a:lumMod val="85000"/>
                  </a:schemeClr>
                </a:solidFill>
              </a:rPr>
              <a:t>0.50 → 0.68</a:t>
            </a:r>
            <a:r>
              <a:rPr lang="ko-KR" altLang="en-US" dirty="0">
                <a:solidFill>
                  <a:schemeClr val="bg1">
                    <a:lumMod val="85000"/>
                  </a:schemeClr>
                </a:solidFill>
              </a:rPr>
              <a:t>로 상승</a:t>
            </a:r>
            <a:endParaRPr lang="en-US" altLang="ko-KR" dirty="0">
              <a:solidFill>
                <a:schemeClr val="bg1">
                  <a:lumMod val="85000"/>
                </a:schemeClr>
              </a:solidFill>
            </a:endParaRPr>
          </a:p>
          <a:p>
            <a:pPr>
              <a:lnSpc>
                <a:spcPts val="2200"/>
              </a:lnSpc>
            </a:pPr>
            <a:br>
              <a:rPr lang="ko-KR" altLang="en-US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en-US" altLang="ko-KR" dirty="0">
                <a:solidFill>
                  <a:schemeClr val="bg1">
                    <a:lumMod val="85000"/>
                  </a:schemeClr>
                </a:solidFill>
              </a:rPr>
              <a:t>· </a:t>
            </a:r>
            <a:r>
              <a:rPr lang="ko-KR" altLang="en-US" dirty="0">
                <a:solidFill>
                  <a:schemeClr val="bg1">
                    <a:lumMod val="85000"/>
                  </a:schemeClr>
                </a:solidFill>
              </a:rPr>
              <a:t>오픈 극장수와 전세계 흥행수익 사이에 중간</a:t>
            </a:r>
            <a:r>
              <a:rPr lang="en-US" altLang="ko-KR" dirty="0">
                <a:solidFill>
                  <a:schemeClr val="bg1">
                    <a:lumMod val="85000"/>
                  </a:schemeClr>
                </a:solidFill>
              </a:rPr>
              <a:t>~</a:t>
            </a:r>
            <a:r>
              <a:rPr lang="ko-KR" altLang="en-US" dirty="0">
                <a:solidFill>
                  <a:schemeClr val="bg1">
                    <a:lumMod val="85000"/>
                  </a:schemeClr>
                </a:solidFill>
              </a:rPr>
              <a:t>강한 양의 상관 관계 확인</a:t>
            </a:r>
            <a:endParaRPr lang="en-US" altLang="ko-KR" dirty="0">
              <a:solidFill>
                <a:schemeClr val="bg1">
                  <a:lumMod val="85000"/>
                </a:schemeClr>
              </a:solidFill>
            </a:endParaRPr>
          </a:p>
          <a:p>
            <a:pPr>
              <a:lnSpc>
                <a:spcPts val="2200"/>
              </a:lnSpc>
            </a:pPr>
            <a:br>
              <a:rPr lang="ko-KR" altLang="en-US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en-US" altLang="ko-KR" dirty="0">
                <a:solidFill>
                  <a:schemeClr val="bg1">
                    <a:lumMod val="85000"/>
                  </a:schemeClr>
                </a:solidFill>
              </a:rPr>
              <a:t>· </a:t>
            </a:r>
            <a:r>
              <a:rPr lang="ko-KR" altLang="en-US" dirty="0">
                <a:solidFill>
                  <a:schemeClr val="bg1">
                    <a:lumMod val="85000"/>
                  </a:schemeClr>
                </a:solidFill>
              </a:rPr>
              <a:t>개봉 초기 규모가 큰 영화일수록 흥행수익도 함께 큰 경향</a:t>
            </a:r>
            <a:endParaRPr lang="en-US" altLang="ko-KR" dirty="0">
              <a:solidFill>
                <a:schemeClr val="bg1">
                  <a:lumMod val="85000"/>
                </a:schemeClr>
              </a:solidFill>
            </a:endParaRPr>
          </a:p>
          <a:p>
            <a:pPr>
              <a:lnSpc>
                <a:spcPts val="2200"/>
              </a:lnSpc>
            </a:pPr>
            <a:br>
              <a:rPr lang="ko-KR" altLang="en-US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en-US" altLang="ko-KR" dirty="0">
                <a:solidFill>
                  <a:schemeClr val="bg1">
                    <a:lumMod val="85000"/>
                  </a:schemeClr>
                </a:solidFill>
              </a:rPr>
              <a:t>· </a:t>
            </a:r>
            <a:r>
              <a:rPr lang="ko-KR" altLang="en-US" dirty="0">
                <a:solidFill>
                  <a:schemeClr val="bg1">
                    <a:lumMod val="85000"/>
                  </a:schemeClr>
                </a:solidFill>
              </a:rPr>
              <a:t>다만 최대 상영 극장수보다 상관 강도는 다소 낮음</a:t>
            </a:r>
            <a:endParaRPr lang="ko-KR" sz="1600" dirty="0">
              <a:solidFill>
                <a:schemeClr val="bg1">
                  <a:lumMod val="85000"/>
                </a:schemeClr>
              </a:solidFill>
              <a:latin typeface="Garet"/>
              <a:ea typeface="Garet"/>
            </a:endParaRPr>
          </a:p>
        </p:txBody>
      </p:sp>
    </p:spTree>
    <p:extLst>
      <p:ext uri="{BB962C8B-B14F-4D97-AF65-F5344CB8AC3E}">
        <p14:creationId xmlns:p14="http://schemas.microsoft.com/office/powerpoint/2010/main" val="1511695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g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/>
          <a:lstStyle/>
          <a:p>
            <a:endParaRPr/>
          </a:p>
        </p:txBody>
      </p:sp>
      <p:sp>
        <p:nvSpPr>
          <p:cNvPr id="11" name="titlebar"/>
          <p:cNvSpPr>
            <a:spLocks noGrp="1"/>
          </p:cNvSpPr>
          <p:nvPr/>
        </p:nvSpPr>
        <p:spPr>
          <a:xfrm>
            <a:off x="0" y="0"/>
            <a:ext cx="18288000" cy="1117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wrap="square" lIns="762000" tIns="45720" rIns="91440" bIns="45720" anchor="ctr"/>
          <a:lstStyle/>
          <a:p>
            <a:pPr algn="l">
              <a:lnSpc>
                <a:spcPts val="3400"/>
              </a:lnSpc>
            </a:pPr>
            <a:r>
              <a:rPr lang="ko-KR" sz="4000" b="1" dirty="0">
                <a:solidFill>
                  <a:srgbClr val="FFFFFF"/>
                </a:solidFill>
                <a:latin typeface="Garet Bold"/>
                <a:ea typeface="Garet Bold"/>
              </a:rPr>
              <a:t>수치형 피처 상관계수 비교 요약</a:t>
            </a:r>
          </a:p>
        </p:txBody>
      </p:sp>
      <p:sp>
        <p:nvSpPr>
          <p:cNvPr id="12" name="subtitle"/>
          <p:cNvSpPr>
            <a:spLocks noGrp="1"/>
          </p:cNvSpPr>
          <p:nvPr/>
        </p:nvSpPr>
        <p:spPr>
          <a:xfrm>
            <a:off x="762000" y="127000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>
              <a:lnSpc>
                <a:spcPts val="2000"/>
              </a:lnSpc>
            </a:pPr>
            <a:r>
              <a:rPr lang="ko-KR" dirty="0">
                <a:solidFill>
                  <a:srgbClr val="808080"/>
                </a:solidFill>
                <a:latin typeface="Garet"/>
                <a:ea typeface="Garet"/>
              </a:rPr>
              <a:t>log1p 변환 후 Pearson r 기준 — 두 피처 모두 강한 양의 상관 확인</a:t>
            </a:r>
          </a:p>
        </p:txBody>
      </p:sp>
      <p:sp>
        <p:nvSpPr>
          <p:cNvPr id="13" name="accent"/>
          <p:cNvSpPr>
            <a:spLocks noGrp="1"/>
          </p:cNvSpPr>
          <p:nvPr/>
        </p:nvSpPr>
        <p:spPr>
          <a:xfrm>
            <a:off x="762000" y="1778000"/>
            <a:ext cx="1270000" cy="508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91440" tIns="45720" rIns="91440" bIns="45720"/>
          <a:lstStyle/>
          <a:p>
            <a:endParaRPr/>
          </a:p>
        </p:txBody>
      </p:sp>
      <p:sp>
        <p:nvSpPr>
          <p:cNvPr id="20" name="card_l"/>
          <p:cNvSpPr>
            <a:spLocks noGrp="1"/>
          </p:cNvSpPr>
          <p:nvPr/>
        </p:nvSpPr>
        <p:spPr>
          <a:xfrm>
            <a:off x="762000" y="2095500"/>
            <a:ext cx="7874000" cy="4699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>
              <a:lnSpc>
                <a:spcPts val="2200"/>
              </a:lnSpc>
            </a:pPr>
            <a:endParaRPr lang="en-US" altLang="ko-KR" sz="2400" b="1" dirty="0">
              <a:solidFill>
                <a:srgbClr val="FFFFFF"/>
              </a:solidFill>
              <a:latin typeface="Garet Bold"/>
              <a:ea typeface="Garet Bold"/>
            </a:endParaRPr>
          </a:p>
          <a:p>
            <a:pPr algn="l">
              <a:lnSpc>
                <a:spcPts val="2200"/>
              </a:lnSpc>
            </a:pPr>
            <a:r>
              <a:rPr lang="ko-KR" sz="2400" b="1" dirty="0">
                <a:solidFill>
                  <a:srgbClr val="FFFFFF"/>
                </a:solidFill>
                <a:latin typeface="Garet Bold"/>
                <a:ea typeface="Garet Bold"/>
              </a:rPr>
              <a:t>최대 상영 극장수</a:t>
            </a:r>
          </a:p>
          <a:p>
            <a:pPr algn="l">
              <a:lnSpc>
                <a:spcPts val="2000"/>
              </a:lnSpc>
            </a:pPr>
            <a:r>
              <a:rPr lang="ko-KR" dirty="0">
                <a:solidFill>
                  <a:srgbClr val="909090"/>
                </a:solidFill>
                <a:latin typeface="Garet"/>
                <a:ea typeface="Garet"/>
              </a:rPr>
              <a:t>widest release theaters</a:t>
            </a:r>
          </a:p>
          <a:p>
            <a:pPr algn="l">
              <a:lnSpc>
                <a:spcPts val="2000"/>
              </a:lnSpc>
            </a:pPr>
            <a:endParaRPr lang="ko-KR" sz="1400" dirty="0">
              <a:solidFill>
                <a:srgbClr val="909090"/>
              </a:solidFill>
              <a:latin typeface="Garet"/>
              <a:ea typeface="Garet"/>
            </a:endParaRPr>
          </a:p>
          <a:p>
            <a:pPr algn="l">
              <a:lnSpc>
                <a:spcPts val="6000"/>
              </a:lnSpc>
            </a:pPr>
            <a:r>
              <a:rPr lang="ko-KR" sz="5400" b="1" dirty="0">
                <a:solidFill>
                  <a:srgbClr val="FFFFFF"/>
                </a:solidFill>
                <a:latin typeface="Garet Bold"/>
                <a:ea typeface="Garet Bold"/>
              </a:rPr>
              <a:t>r (log) = 0.762</a:t>
            </a:r>
          </a:p>
          <a:p>
            <a:pPr algn="l">
              <a:lnSpc>
                <a:spcPts val="2000"/>
              </a:lnSpc>
            </a:pPr>
            <a:endParaRPr lang="en-US" altLang="ko-KR" sz="1400" dirty="0">
              <a:solidFill>
                <a:srgbClr val="AAAAAA"/>
              </a:solidFill>
              <a:latin typeface="Garet"/>
              <a:ea typeface="Garet"/>
            </a:endParaRPr>
          </a:p>
          <a:p>
            <a:pPr algn="l">
              <a:lnSpc>
                <a:spcPts val="2000"/>
              </a:lnSpc>
            </a:pPr>
            <a:r>
              <a:rPr lang="ko-KR" sz="1400" dirty="0" err="1">
                <a:solidFill>
                  <a:srgbClr val="AAAAAA"/>
                </a:solidFill>
                <a:latin typeface="Garet"/>
                <a:ea typeface="Garet"/>
              </a:rPr>
              <a:t>r</a:t>
            </a:r>
            <a:r>
              <a:rPr lang="ko-KR" sz="1400" dirty="0">
                <a:solidFill>
                  <a:srgbClr val="AAAAAA"/>
                </a:solidFill>
                <a:latin typeface="Garet"/>
                <a:ea typeface="Garet"/>
              </a:rPr>
              <a:t> (raw) = 0.497   |   n = 5,815쌍</a:t>
            </a:r>
          </a:p>
          <a:p>
            <a:pPr algn="l">
              <a:lnSpc>
                <a:spcPts val="2000"/>
              </a:lnSpc>
            </a:pPr>
            <a:endParaRPr lang="ko-KR" sz="1600" dirty="0">
              <a:solidFill>
                <a:schemeClr val="bg1">
                  <a:lumMod val="85000"/>
                </a:schemeClr>
              </a:solidFill>
              <a:latin typeface="Garet"/>
              <a:ea typeface="Garet"/>
            </a:endParaRPr>
          </a:p>
          <a:p>
            <a:pPr>
              <a:lnSpc>
                <a:spcPts val="2000"/>
              </a:lnSpc>
            </a:pPr>
            <a:r>
              <a:rPr lang="ko-KR" altLang="en-US" sz="2000" dirty="0">
                <a:solidFill>
                  <a:schemeClr val="bg1">
                    <a:lumMod val="85000"/>
                  </a:schemeClr>
                </a:solidFill>
              </a:rPr>
              <a:t>▪ 수치형 피처 중 가장 높은 상관계수</a:t>
            </a:r>
            <a:endParaRPr lang="en-US" altLang="ko-KR" sz="2000" dirty="0">
              <a:solidFill>
                <a:schemeClr val="bg1">
                  <a:lumMod val="85000"/>
                </a:schemeClr>
              </a:solidFill>
            </a:endParaRPr>
          </a:p>
          <a:p>
            <a:pPr>
              <a:lnSpc>
                <a:spcPts val="2000"/>
              </a:lnSpc>
            </a:pPr>
            <a:br>
              <a:rPr lang="ko-KR" altLang="en-US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ko-KR" altLang="en-US" sz="2000" dirty="0">
                <a:solidFill>
                  <a:schemeClr val="bg1">
                    <a:lumMod val="85000"/>
                  </a:schemeClr>
                </a:solidFill>
              </a:rPr>
              <a:t>▪ </a:t>
            </a:r>
            <a:r>
              <a:rPr lang="en-US" altLang="ko-KR" sz="2000" dirty="0">
                <a:solidFill>
                  <a:schemeClr val="bg1">
                    <a:lumMod val="85000"/>
                  </a:schemeClr>
                </a:solidFill>
              </a:rPr>
              <a:t>log </a:t>
            </a:r>
            <a:r>
              <a:rPr lang="ko-KR" altLang="en-US" sz="2000" dirty="0">
                <a:solidFill>
                  <a:schemeClr val="bg1">
                    <a:lumMod val="85000"/>
                  </a:schemeClr>
                </a:solidFill>
              </a:rPr>
              <a:t>변환 후 선형 관계가 더 뚜렷하게 확인</a:t>
            </a:r>
            <a:endParaRPr lang="en-US" altLang="ko-KR" sz="2000" dirty="0">
              <a:solidFill>
                <a:schemeClr val="bg1">
                  <a:lumMod val="85000"/>
                </a:schemeClr>
              </a:solidFill>
            </a:endParaRPr>
          </a:p>
          <a:p>
            <a:pPr>
              <a:lnSpc>
                <a:spcPts val="2000"/>
              </a:lnSpc>
            </a:pPr>
            <a:br>
              <a:rPr lang="ko-KR" altLang="en-US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ko-KR" altLang="en-US" sz="2000" dirty="0">
                <a:solidFill>
                  <a:schemeClr val="bg1">
                    <a:lumMod val="85000"/>
                  </a:schemeClr>
                </a:solidFill>
              </a:rPr>
              <a:t>▪ 영화의 전체 배급 규모를 보여주는 핵심 지표</a:t>
            </a:r>
            <a:endParaRPr lang="ko-KR" sz="1600" dirty="0">
              <a:solidFill>
                <a:schemeClr val="bg1">
                  <a:lumMod val="85000"/>
                </a:schemeClr>
              </a:solidFill>
              <a:latin typeface="Garet"/>
              <a:ea typeface="Garet"/>
            </a:endParaRPr>
          </a:p>
        </p:txBody>
      </p:sp>
      <p:sp>
        <p:nvSpPr>
          <p:cNvPr id="21" name="card_r"/>
          <p:cNvSpPr>
            <a:spLocks noGrp="1"/>
          </p:cNvSpPr>
          <p:nvPr/>
        </p:nvSpPr>
        <p:spPr>
          <a:xfrm>
            <a:off x="9144000" y="2095500"/>
            <a:ext cx="7874000" cy="4699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>
              <a:lnSpc>
                <a:spcPts val="2200"/>
              </a:lnSpc>
            </a:pPr>
            <a:endParaRPr lang="en-US" altLang="ko-KR" sz="2400" b="1" dirty="0">
              <a:solidFill>
                <a:srgbClr val="FFFFFF"/>
              </a:solidFill>
              <a:latin typeface="Garet Bold"/>
              <a:ea typeface="Garet Bold"/>
            </a:endParaRPr>
          </a:p>
          <a:p>
            <a:pPr algn="l">
              <a:lnSpc>
                <a:spcPts val="2200"/>
              </a:lnSpc>
            </a:pPr>
            <a:r>
              <a:rPr lang="ko-KR" sz="2400" b="1" dirty="0">
                <a:solidFill>
                  <a:srgbClr val="FFFFFF"/>
                </a:solidFill>
                <a:latin typeface="Garet Bold"/>
                <a:ea typeface="Garet Bold"/>
              </a:rPr>
              <a:t>오픈 극장수</a:t>
            </a:r>
          </a:p>
          <a:p>
            <a:pPr algn="l">
              <a:lnSpc>
                <a:spcPts val="2000"/>
              </a:lnSpc>
            </a:pPr>
            <a:r>
              <a:rPr lang="ko-KR" dirty="0">
                <a:solidFill>
                  <a:srgbClr val="909090"/>
                </a:solidFill>
                <a:latin typeface="Garet"/>
                <a:ea typeface="Garet"/>
              </a:rPr>
              <a:t>opening theaters</a:t>
            </a:r>
          </a:p>
          <a:p>
            <a:pPr algn="l">
              <a:lnSpc>
                <a:spcPts val="2000"/>
              </a:lnSpc>
            </a:pPr>
            <a:endParaRPr lang="ko-KR" sz="1400" dirty="0">
              <a:solidFill>
                <a:srgbClr val="909090"/>
              </a:solidFill>
              <a:latin typeface="Garet"/>
              <a:ea typeface="Garet"/>
            </a:endParaRPr>
          </a:p>
          <a:p>
            <a:pPr algn="l">
              <a:lnSpc>
                <a:spcPts val="6000"/>
              </a:lnSpc>
            </a:pPr>
            <a:r>
              <a:rPr lang="ko-KR" sz="5400" b="1" dirty="0">
                <a:solidFill>
                  <a:srgbClr val="DDDDDD"/>
                </a:solidFill>
                <a:latin typeface="Garet Bold"/>
                <a:ea typeface="Garet Bold"/>
              </a:rPr>
              <a:t>r (log) = 0.678</a:t>
            </a:r>
          </a:p>
          <a:p>
            <a:pPr algn="l">
              <a:lnSpc>
                <a:spcPts val="2000"/>
              </a:lnSpc>
            </a:pPr>
            <a:endParaRPr lang="en-US" altLang="ko-KR" sz="1400" dirty="0">
              <a:solidFill>
                <a:srgbClr val="AAAAAA"/>
              </a:solidFill>
              <a:latin typeface="Garet"/>
              <a:ea typeface="Garet"/>
            </a:endParaRPr>
          </a:p>
          <a:p>
            <a:pPr algn="l">
              <a:lnSpc>
                <a:spcPts val="2000"/>
              </a:lnSpc>
            </a:pPr>
            <a:r>
              <a:rPr lang="ko-KR" sz="1400" dirty="0" err="1">
                <a:solidFill>
                  <a:srgbClr val="AAAAAA"/>
                </a:solidFill>
                <a:latin typeface="Garet"/>
                <a:ea typeface="Garet"/>
              </a:rPr>
              <a:t>r</a:t>
            </a:r>
            <a:r>
              <a:rPr lang="ko-KR" sz="1400" dirty="0">
                <a:solidFill>
                  <a:srgbClr val="AAAAAA"/>
                </a:solidFill>
                <a:latin typeface="Garet"/>
                <a:ea typeface="Garet"/>
              </a:rPr>
              <a:t> (raw) = 0.497   |   n = 5,307쌍</a:t>
            </a:r>
          </a:p>
          <a:p>
            <a:pPr algn="l">
              <a:lnSpc>
                <a:spcPts val="2000"/>
              </a:lnSpc>
            </a:pPr>
            <a:endParaRPr lang="ko-KR" sz="1400" dirty="0">
              <a:solidFill>
                <a:srgbClr val="AAAAAA"/>
              </a:solidFill>
              <a:latin typeface="Garet"/>
              <a:ea typeface="Garet"/>
            </a:endParaRPr>
          </a:p>
          <a:p>
            <a:pPr>
              <a:lnSpc>
                <a:spcPts val="2000"/>
              </a:lnSpc>
            </a:pPr>
            <a:r>
              <a:rPr lang="ko-KR" altLang="en-US" sz="2000" dirty="0">
                <a:solidFill>
                  <a:schemeClr val="bg1">
                    <a:lumMod val="85000"/>
                  </a:schemeClr>
                </a:solidFill>
              </a:rPr>
              <a:t>▪ 유의미한 양의 상관을 보인 두 번째 피처</a:t>
            </a:r>
            <a:endParaRPr lang="en-US" altLang="ko-KR" sz="2000" dirty="0">
              <a:solidFill>
                <a:schemeClr val="bg1">
                  <a:lumMod val="85000"/>
                </a:schemeClr>
              </a:solidFill>
            </a:endParaRPr>
          </a:p>
          <a:p>
            <a:pPr>
              <a:lnSpc>
                <a:spcPts val="2000"/>
              </a:lnSpc>
            </a:pPr>
            <a:br>
              <a:rPr lang="ko-KR" altLang="en-US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ko-KR" altLang="en-US" sz="2000" dirty="0">
                <a:solidFill>
                  <a:schemeClr val="bg1">
                    <a:lumMod val="85000"/>
                  </a:schemeClr>
                </a:solidFill>
              </a:rPr>
              <a:t>▪ 개봉 초기 배급 규모를 보여주는 지표</a:t>
            </a:r>
            <a:endParaRPr lang="en-US" altLang="ko-KR" sz="2000" dirty="0">
              <a:solidFill>
                <a:schemeClr val="bg1">
                  <a:lumMod val="85000"/>
                </a:schemeClr>
              </a:solidFill>
            </a:endParaRPr>
          </a:p>
          <a:p>
            <a:pPr>
              <a:lnSpc>
                <a:spcPts val="2000"/>
              </a:lnSpc>
            </a:pPr>
            <a:br>
              <a:rPr lang="ko-KR" altLang="en-US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ko-KR" altLang="en-US" sz="2000" dirty="0">
                <a:solidFill>
                  <a:schemeClr val="bg1">
                    <a:lumMod val="85000"/>
                  </a:schemeClr>
                </a:solidFill>
              </a:rPr>
              <a:t>▪ 최대 상영 극장수와 함께 배급 전략 해석을 보완</a:t>
            </a:r>
            <a:endParaRPr lang="ko-KR" sz="1500" dirty="0">
              <a:solidFill>
                <a:srgbClr val="E8E8E8"/>
              </a:solidFill>
              <a:latin typeface="Garet"/>
              <a:ea typeface="Garet"/>
            </a:endParaRPr>
          </a:p>
        </p:txBody>
      </p:sp>
      <p:sp>
        <p:nvSpPr>
          <p:cNvPr id="22" name="insight"/>
          <p:cNvSpPr>
            <a:spLocks noGrp="1"/>
          </p:cNvSpPr>
          <p:nvPr/>
        </p:nvSpPr>
        <p:spPr>
          <a:xfrm>
            <a:off x="762000" y="6985000"/>
            <a:ext cx="16256000" cy="21209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>
              <a:lnSpc>
                <a:spcPts val="1800"/>
              </a:lnSpc>
            </a:pPr>
            <a:endParaRPr lang="en-US" altLang="ko-KR" sz="2800" b="1" dirty="0">
              <a:solidFill>
                <a:srgbClr val="111111"/>
              </a:solidFill>
              <a:latin typeface="Garet Bold"/>
              <a:ea typeface="Garet Bold"/>
            </a:endParaRPr>
          </a:p>
          <a:p>
            <a:pPr algn="l">
              <a:lnSpc>
                <a:spcPts val="1800"/>
              </a:lnSpc>
            </a:pPr>
            <a:r>
              <a:rPr lang="ko-KR" sz="2800" b="1" dirty="0">
                <a:solidFill>
                  <a:srgbClr val="111111"/>
                </a:solidFill>
                <a:latin typeface="Garet Bold"/>
                <a:ea typeface="Garet Bold"/>
              </a:rPr>
              <a:t>핵심 결론</a:t>
            </a:r>
            <a:endParaRPr lang="en-US" altLang="ko-KR" sz="2800" b="1" dirty="0">
              <a:solidFill>
                <a:srgbClr val="111111"/>
              </a:solidFill>
              <a:latin typeface="Garet Bold"/>
              <a:ea typeface="Garet Bold"/>
            </a:endParaRPr>
          </a:p>
          <a:p>
            <a:pPr algn="l">
              <a:lnSpc>
                <a:spcPts val="1800"/>
              </a:lnSpc>
            </a:pPr>
            <a:endParaRPr lang="ko-KR" sz="2800" b="1" dirty="0">
              <a:solidFill>
                <a:srgbClr val="111111"/>
              </a:solidFill>
              <a:latin typeface="Garet Bold"/>
              <a:ea typeface="Garet Bold"/>
            </a:endParaRPr>
          </a:p>
          <a:p>
            <a:pPr>
              <a:lnSpc>
                <a:spcPts val="1800"/>
              </a:lnSpc>
            </a:pPr>
            <a:r>
              <a:rPr lang="ko-KR" altLang="en-US" sz="2400" dirty="0"/>
              <a:t>두 피처 모두 </a:t>
            </a:r>
            <a:r>
              <a:rPr lang="ko-KR" altLang="en-US" sz="2400" dirty="0" err="1"/>
              <a:t>원값에서는</a:t>
            </a:r>
            <a:r>
              <a:rPr lang="ko-KR" altLang="en-US" sz="2400" dirty="0"/>
              <a:t> </a:t>
            </a:r>
            <a:r>
              <a:rPr lang="en-US" altLang="ko-KR" sz="2400" dirty="0"/>
              <a:t>r≈0.50</a:t>
            </a:r>
            <a:r>
              <a:rPr lang="ko-KR" altLang="en-US" sz="2400" dirty="0"/>
              <a:t> 수준이었지만</a:t>
            </a:r>
            <a:r>
              <a:rPr lang="en-US" altLang="ko-KR" sz="2400" dirty="0"/>
              <a:t> log1p</a:t>
            </a:r>
            <a:r>
              <a:rPr lang="ko-KR" altLang="en-US" sz="2400" dirty="0"/>
              <a:t> 변환 후 관계가 더 </a:t>
            </a:r>
            <a:r>
              <a:rPr lang="ko-KR" altLang="en-US" sz="2400" dirty="0" err="1"/>
              <a:t>뚜렷해졌다</a:t>
            </a:r>
            <a:r>
              <a:rPr lang="en-US" altLang="ko-KR" sz="2400" dirty="0"/>
              <a:t>.</a:t>
            </a:r>
          </a:p>
          <a:p>
            <a:pPr>
              <a:lnSpc>
                <a:spcPts val="1800"/>
              </a:lnSpc>
            </a:pPr>
            <a:br>
              <a:rPr lang="ko-KR" altLang="en-US" sz="2800" dirty="0"/>
            </a:br>
            <a:r>
              <a:rPr lang="ko-KR" altLang="en-US" sz="2400" dirty="0"/>
              <a:t>특히 최대 상영 </a:t>
            </a:r>
            <a:r>
              <a:rPr lang="ko-KR" altLang="en-US" sz="2400" dirty="0" err="1"/>
              <a:t>극장수</a:t>
            </a:r>
            <a:r>
              <a:rPr lang="en-US" altLang="ko-KR" sz="2400" dirty="0"/>
              <a:t>(r=0.762)</a:t>
            </a:r>
            <a:r>
              <a:rPr lang="ko-KR" altLang="en-US" sz="2400" dirty="0"/>
              <a:t>가 오픈 </a:t>
            </a:r>
            <a:r>
              <a:rPr lang="ko-KR" altLang="en-US" sz="2400" dirty="0" err="1"/>
              <a:t>극장수</a:t>
            </a:r>
            <a:r>
              <a:rPr lang="en-US" altLang="ko-KR" sz="2400" dirty="0"/>
              <a:t>(r=0.678)</a:t>
            </a:r>
            <a:r>
              <a:rPr lang="ko-KR" altLang="en-US" sz="2400" dirty="0"/>
              <a:t>보다 더 강한 상관을 보여</a:t>
            </a:r>
            <a:r>
              <a:rPr lang="en-US" altLang="ko-KR" sz="2400" dirty="0"/>
              <a:t> </a:t>
            </a:r>
            <a:r>
              <a:rPr lang="ko-KR" altLang="en-US" sz="2400" dirty="0"/>
              <a:t>수치형 피처 중 </a:t>
            </a:r>
            <a:endParaRPr lang="en-US" altLang="ko-KR" sz="2400" dirty="0"/>
          </a:p>
          <a:p>
            <a:pPr>
              <a:lnSpc>
                <a:spcPts val="1800"/>
              </a:lnSpc>
            </a:pPr>
            <a:endParaRPr lang="en-US" altLang="ko-KR" sz="2400" dirty="0"/>
          </a:p>
          <a:p>
            <a:pPr>
              <a:lnSpc>
                <a:spcPts val="1800"/>
              </a:lnSpc>
            </a:pPr>
            <a:r>
              <a:rPr lang="ko-KR" altLang="en-US" sz="2400" dirty="0"/>
              <a:t>우선적으로 선택할 근거가 되었다</a:t>
            </a:r>
            <a:r>
              <a:rPr lang="en-US" altLang="ko-KR" sz="2400" dirty="0"/>
              <a:t>.</a:t>
            </a:r>
            <a:endParaRPr lang="ko-KR" sz="2800" dirty="0">
              <a:solidFill>
                <a:srgbClr val="222222"/>
              </a:solidFill>
              <a:latin typeface="Garet"/>
              <a:ea typeface="Garet"/>
            </a:endParaRPr>
          </a:p>
        </p:txBody>
      </p:sp>
    </p:spTree>
    <p:extLst>
      <p:ext uri="{BB962C8B-B14F-4D97-AF65-F5344CB8AC3E}">
        <p14:creationId xmlns:p14="http://schemas.microsoft.com/office/powerpoint/2010/main" val="29840431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g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/>
          <a:lstStyle/>
          <a:p>
            <a:endParaRPr/>
          </a:p>
        </p:txBody>
      </p:sp>
      <p:sp>
        <p:nvSpPr>
          <p:cNvPr id="11" name="titlebar"/>
          <p:cNvSpPr>
            <a:spLocks noGrp="1"/>
          </p:cNvSpPr>
          <p:nvPr/>
        </p:nvSpPr>
        <p:spPr>
          <a:xfrm>
            <a:off x="0" y="0"/>
            <a:ext cx="18288000" cy="1117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wrap="square" lIns="762000" tIns="45720" rIns="91440" bIns="45720" anchor="ctr"/>
          <a:lstStyle/>
          <a:p>
            <a:pPr algn="l">
              <a:lnSpc>
                <a:spcPts val="3400"/>
              </a:lnSpc>
            </a:pPr>
            <a:r>
              <a:rPr lang="ko-KR" sz="4000" b="1" dirty="0">
                <a:solidFill>
                  <a:srgbClr val="FFFFFF"/>
                </a:solidFill>
                <a:latin typeface="Garet Bold"/>
                <a:ea typeface="Garet Bold"/>
              </a:rPr>
              <a:t>대표장르별 전세계 흥행수익 분포</a:t>
            </a:r>
          </a:p>
        </p:txBody>
      </p:sp>
      <p:sp>
        <p:nvSpPr>
          <p:cNvPr id="12" name="left_panel"/>
          <p:cNvSpPr>
            <a:spLocks noGrp="1"/>
          </p:cNvSpPr>
          <p:nvPr/>
        </p:nvSpPr>
        <p:spPr>
          <a:xfrm>
            <a:off x="0" y="1117600"/>
            <a:ext cx="4572000" cy="9169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>
              <a:lnSpc>
                <a:spcPts val="2000"/>
              </a:lnSpc>
            </a:pPr>
            <a:endParaRPr lang="en-US" altLang="ko-KR" sz="2000" b="1" dirty="0">
              <a:solidFill>
                <a:srgbClr val="FFFFFF"/>
              </a:solidFill>
              <a:latin typeface="Garet Bold"/>
              <a:ea typeface="Garet Bold"/>
            </a:endParaRPr>
          </a:p>
          <a:p>
            <a:pPr algn="l">
              <a:lnSpc>
                <a:spcPts val="2000"/>
              </a:lnSpc>
            </a:pPr>
            <a:r>
              <a:rPr lang="ko-KR" sz="2000" b="1" dirty="0">
                <a:solidFill>
                  <a:srgbClr val="FFFFFF"/>
                </a:solidFill>
                <a:latin typeface="Garet Bold"/>
                <a:ea typeface="Garet Bold"/>
              </a:rPr>
              <a:t>범주형 피처</a:t>
            </a:r>
            <a:endParaRPr lang="en-US" altLang="ko-KR" sz="2000" b="1" dirty="0">
              <a:solidFill>
                <a:srgbClr val="FFFFFF"/>
              </a:solidFill>
              <a:latin typeface="Garet Bold"/>
              <a:ea typeface="Garet Bold"/>
            </a:endParaRPr>
          </a:p>
          <a:p>
            <a:pPr algn="l">
              <a:lnSpc>
                <a:spcPts val="2000"/>
              </a:lnSpc>
            </a:pPr>
            <a:endParaRPr lang="en-US" altLang="ko-KR" sz="2000" b="1" dirty="0">
              <a:solidFill>
                <a:srgbClr val="FFFFFF"/>
              </a:solidFill>
              <a:latin typeface="Garet Bold"/>
              <a:ea typeface="Garet Bold"/>
            </a:endParaRPr>
          </a:p>
          <a:p>
            <a:pPr algn="l">
              <a:lnSpc>
                <a:spcPts val="2000"/>
              </a:lnSpc>
            </a:pPr>
            <a:endParaRPr lang="ko-KR" sz="2000" b="1" dirty="0">
              <a:solidFill>
                <a:srgbClr val="FFFFFF"/>
              </a:solidFill>
              <a:latin typeface="Garet Bold"/>
              <a:ea typeface="Garet Bold"/>
            </a:endParaRPr>
          </a:p>
          <a:p>
            <a:pPr algn="l">
              <a:lnSpc>
                <a:spcPts val="2800"/>
              </a:lnSpc>
            </a:pPr>
            <a:r>
              <a:rPr lang="ko-KR" sz="3200" b="1" dirty="0">
                <a:solidFill>
                  <a:srgbClr val="FFFFFF"/>
                </a:solidFill>
                <a:latin typeface="Garet Bold"/>
                <a:ea typeface="Garet Bold"/>
              </a:rPr>
              <a:t>대표 장르</a:t>
            </a:r>
          </a:p>
          <a:p>
            <a:pPr algn="l">
              <a:lnSpc>
                <a:spcPts val="2000"/>
              </a:lnSpc>
            </a:pPr>
            <a:endParaRPr lang="en-US" altLang="ko-KR" sz="3200" b="1" dirty="0">
              <a:solidFill>
                <a:srgbClr val="FFFFFF"/>
              </a:solidFill>
              <a:latin typeface="Garet Bold"/>
              <a:ea typeface="Garet Bold"/>
            </a:endParaRPr>
          </a:p>
          <a:p>
            <a:pPr algn="l">
              <a:lnSpc>
                <a:spcPts val="2000"/>
              </a:lnSpc>
            </a:pPr>
            <a:endParaRPr lang="ko-KR" sz="3200" b="1" dirty="0">
              <a:solidFill>
                <a:srgbClr val="FFFFFF"/>
              </a:solidFill>
              <a:latin typeface="Garet Bold"/>
              <a:ea typeface="Garet Bold"/>
            </a:endParaRPr>
          </a:p>
          <a:p>
            <a:pPr algn="l">
              <a:lnSpc>
                <a:spcPts val="1800"/>
              </a:lnSpc>
            </a:pPr>
            <a:r>
              <a:rPr lang="ko-KR" dirty="0">
                <a:solidFill>
                  <a:srgbClr val="AAAAAA"/>
                </a:solidFill>
                <a:latin typeface="Garet"/>
                <a:ea typeface="Garet"/>
              </a:rPr>
              <a:t>상위 10개 장르</a:t>
            </a:r>
          </a:p>
          <a:p>
            <a:pPr algn="l">
              <a:lnSpc>
                <a:spcPts val="1800"/>
              </a:lnSpc>
            </a:pPr>
            <a:r>
              <a:rPr lang="ko-KR" dirty="0">
                <a:solidFill>
                  <a:srgbClr val="AAAAAA"/>
                </a:solidFill>
                <a:latin typeface="Garet"/>
                <a:ea typeface="Garet"/>
              </a:rPr>
              <a:t>log scale 기준 비교</a:t>
            </a:r>
          </a:p>
          <a:p>
            <a:pPr algn="l">
              <a:lnSpc>
                <a:spcPts val="2000"/>
              </a:lnSpc>
            </a:pPr>
            <a:endParaRPr lang="en-US" altLang="ko-KR" dirty="0">
              <a:solidFill>
                <a:srgbClr val="AAAAAA"/>
              </a:solidFill>
              <a:latin typeface="Garet"/>
              <a:ea typeface="Garet"/>
            </a:endParaRPr>
          </a:p>
          <a:p>
            <a:pPr algn="l">
              <a:lnSpc>
                <a:spcPts val="2000"/>
              </a:lnSpc>
            </a:pPr>
            <a:endParaRPr lang="en-US" altLang="ko-KR" dirty="0">
              <a:solidFill>
                <a:srgbClr val="AAAAAA"/>
              </a:solidFill>
              <a:latin typeface="Garet"/>
              <a:ea typeface="Garet"/>
            </a:endParaRPr>
          </a:p>
          <a:p>
            <a:pPr algn="l">
              <a:lnSpc>
                <a:spcPts val="2000"/>
              </a:lnSpc>
            </a:pPr>
            <a:endParaRPr lang="ko-KR" dirty="0">
              <a:solidFill>
                <a:srgbClr val="AAAAAA"/>
              </a:solidFill>
              <a:latin typeface="Garet"/>
              <a:ea typeface="Garet"/>
            </a:endParaRPr>
          </a:p>
          <a:p>
            <a:pPr algn="l">
              <a:lnSpc>
                <a:spcPts val="2000"/>
              </a:lnSpc>
            </a:pPr>
            <a:r>
              <a:rPr lang="ko-KR" b="1" dirty="0">
                <a:solidFill>
                  <a:srgbClr val="FFFFFF"/>
                </a:solidFill>
                <a:latin typeface="Garet Bold"/>
                <a:ea typeface="Garet Bold"/>
              </a:rPr>
              <a:t>핵심 발견</a:t>
            </a:r>
          </a:p>
          <a:p>
            <a:pPr algn="l">
              <a:lnSpc>
                <a:spcPts val="2000"/>
              </a:lnSpc>
            </a:pPr>
            <a:endParaRPr lang="ko-KR" b="1" dirty="0">
              <a:solidFill>
                <a:srgbClr val="FFFFFF"/>
              </a:solidFill>
              <a:latin typeface="Garet Bold"/>
              <a:ea typeface="Garet Bold"/>
            </a:endParaRPr>
          </a:p>
          <a:p>
            <a:pPr algn="l">
              <a:lnSpc>
                <a:spcPts val="1900"/>
              </a:lnSpc>
            </a:pPr>
            <a:r>
              <a:rPr lang="ko-KR" dirty="0">
                <a:solidFill>
                  <a:srgbClr val="E0E0E0"/>
                </a:solidFill>
                <a:latin typeface="Garet"/>
                <a:ea typeface="Garet"/>
              </a:rPr>
              <a:t>▪ </a:t>
            </a:r>
            <a:r>
              <a:rPr lang="ko-KR" dirty="0" err="1">
                <a:solidFill>
                  <a:srgbClr val="E0E0E0"/>
                </a:solidFill>
                <a:latin typeface="Garet"/>
                <a:ea typeface="Garet"/>
              </a:rPr>
              <a:t>Adventure</a:t>
            </a:r>
            <a:r>
              <a:rPr lang="en-US" altLang="ko-KR" dirty="0">
                <a:solidFill>
                  <a:srgbClr val="E0E0E0"/>
                </a:solidFill>
                <a:latin typeface="Garet"/>
                <a:ea typeface="Garet"/>
              </a:rPr>
              <a:t>,</a:t>
            </a:r>
            <a:r>
              <a:rPr lang="ko-KR" dirty="0">
                <a:solidFill>
                  <a:srgbClr val="E0E0E0"/>
                </a:solidFill>
                <a:latin typeface="Garet"/>
                <a:ea typeface="Garet"/>
              </a:rPr>
              <a:t> Action</a:t>
            </a:r>
          </a:p>
          <a:p>
            <a:pPr algn="l">
              <a:lnSpc>
                <a:spcPts val="1900"/>
              </a:lnSpc>
            </a:pPr>
            <a:r>
              <a:rPr lang="ko-KR" dirty="0">
                <a:solidFill>
                  <a:srgbClr val="AAAAAA"/>
                </a:solidFill>
                <a:latin typeface="Garet"/>
                <a:ea typeface="Garet"/>
              </a:rPr>
              <a:t>  </a:t>
            </a:r>
            <a:endParaRPr lang="en-US" altLang="ko-KR" dirty="0">
              <a:solidFill>
                <a:srgbClr val="AAAAAA"/>
              </a:solidFill>
              <a:latin typeface="Garet"/>
              <a:ea typeface="Garet"/>
            </a:endParaRPr>
          </a:p>
          <a:p>
            <a:pPr algn="l">
              <a:lnSpc>
                <a:spcPts val="1900"/>
              </a:lnSpc>
            </a:pPr>
            <a:r>
              <a:rPr lang="en-US" altLang="ko-KR" dirty="0">
                <a:solidFill>
                  <a:srgbClr val="AAAAAA"/>
                </a:solidFill>
                <a:latin typeface="Garet"/>
                <a:ea typeface="Garet"/>
              </a:rPr>
              <a:t>   </a:t>
            </a:r>
            <a:r>
              <a:rPr lang="ko-KR" dirty="0">
                <a:solidFill>
                  <a:srgbClr val="AAAAAA"/>
                </a:solidFill>
                <a:latin typeface="Garet"/>
                <a:ea typeface="Garet"/>
              </a:rPr>
              <a:t>중앙값 최상위</a:t>
            </a:r>
          </a:p>
          <a:p>
            <a:pPr algn="l">
              <a:lnSpc>
                <a:spcPts val="2000"/>
              </a:lnSpc>
            </a:pPr>
            <a:endParaRPr lang="en-US" altLang="ko-KR" dirty="0">
              <a:solidFill>
                <a:srgbClr val="AAAAAA"/>
              </a:solidFill>
              <a:latin typeface="Garet"/>
              <a:ea typeface="Garet"/>
            </a:endParaRPr>
          </a:p>
          <a:p>
            <a:pPr algn="l">
              <a:lnSpc>
                <a:spcPts val="2000"/>
              </a:lnSpc>
            </a:pPr>
            <a:endParaRPr lang="ko-KR" dirty="0">
              <a:solidFill>
                <a:srgbClr val="AAAAAA"/>
              </a:solidFill>
              <a:latin typeface="Garet"/>
              <a:ea typeface="Garet"/>
            </a:endParaRPr>
          </a:p>
          <a:p>
            <a:pPr algn="l">
              <a:lnSpc>
                <a:spcPts val="1900"/>
              </a:lnSpc>
            </a:pPr>
            <a:r>
              <a:rPr lang="ko-KR" dirty="0">
                <a:solidFill>
                  <a:srgbClr val="E0E0E0"/>
                </a:solidFill>
                <a:latin typeface="Garet"/>
                <a:ea typeface="Garet"/>
              </a:rPr>
              <a:t>▪ </a:t>
            </a:r>
            <a:r>
              <a:rPr lang="ko-KR" dirty="0" err="1">
                <a:solidFill>
                  <a:srgbClr val="E0E0E0"/>
                </a:solidFill>
                <a:latin typeface="Garet"/>
                <a:ea typeface="Garet"/>
              </a:rPr>
              <a:t>Documentary</a:t>
            </a:r>
            <a:r>
              <a:rPr lang="en-US" altLang="ko-KR" dirty="0">
                <a:solidFill>
                  <a:srgbClr val="E0E0E0"/>
                </a:solidFill>
                <a:latin typeface="Garet"/>
                <a:ea typeface="Garet"/>
              </a:rPr>
              <a:t>, </a:t>
            </a:r>
            <a:r>
              <a:rPr lang="ko-KR" dirty="0">
                <a:solidFill>
                  <a:srgbClr val="E0E0E0"/>
                </a:solidFill>
                <a:latin typeface="Garet"/>
                <a:ea typeface="Garet"/>
              </a:rPr>
              <a:t> Thriller</a:t>
            </a:r>
          </a:p>
          <a:p>
            <a:pPr algn="l">
              <a:lnSpc>
                <a:spcPts val="1900"/>
              </a:lnSpc>
            </a:pPr>
            <a:r>
              <a:rPr lang="en-US" altLang="ko-KR" dirty="0">
                <a:solidFill>
                  <a:srgbClr val="AAAAAA"/>
                </a:solidFill>
                <a:latin typeface="Garet"/>
                <a:ea typeface="Garet"/>
              </a:rPr>
              <a:t>  </a:t>
            </a:r>
          </a:p>
          <a:p>
            <a:pPr algn="l">
              <a:lnSpc>
                <a:spcPts val="1900"/>
              </a:lnSpc>
            </a:pPr>
            <a:r>
              <a:rPr lang="en-US" altLang="ko-KR" dirty="0">
                <a:solidFill>
                  <a:srgbClr val="AAAAAA"/>
                </a:solidFill>
                <a:latin typeface="Garet"/>
                <a:ea typeface="Garet"/>
              </a:rPr>
              <a:t> </a:t>
            </a:r>
            <a:r>
              <a:rPr lang="ko-KR" dirty="0">
                <a:solidFill>
                  <a:srgbClr val="AAAAAA"/>
                </a:solidFill>
                <a:latin typeface="Garet"/>
                <a:ea typeface="Garet"/>
              </a:rPr>
              <a:t>  중앙값 최하위</a:t>
            </a:r>
            <a:endParaRPr lang="en-US" altLang="ko-KR" dirty="0">
              <a:solidFill>
                <a:srgbClr val="AAAAAA"/>
              </a:solidFill>
              <a:latin typeface="Garet"/>
              <a:ea typeface="Garet"/>
            </a:endParaRPr>
          </a:p>
          <a:p>
            <a:pPr algn="l">
              <a:lnSpc>
                <a:spcPts val="1900"/>
              </a:lnSpc>
            </a:pPr>
            <a:endParaRPr lang="ko-KR" dirty="0">
              <a:solidFill>
                <a:srgbClr val="AAAAAA"/>
              </a:solidFill>
              <a:latin typeface="Garet"/>
              <a:ea typeface="Garet"/>
            </a:endParaRPr>
          </a:p>
          <a:p>
            <a:pPr algn="l">
              <a:lnSpc>
                <a:spcPts val="2000"/>
              </a:lnSpc>
            </a:pPr>
            <a:endParaRPr lang="ko-KR" dirty="0">
              <a:solidFill>
                <a:srgbClr val="AAAAAA"/>
              </a:solidFill>
              <a:latin typeface="Garet"/>
              <a:ea typeface="Garet"/>
            </a:endParaRPr>
          </a:p>
          <a:p>
            <a:pPr algn="l">
              <a:lnSpc>
                <a:spcPts val="1900"/>
              </a:lnSpc>
            </a:pPr>
            <a:r>
              <a:rPr lang="ko-KR" dirty="0">
                <a:solidFill>
                  <a:srgbClr val="E0E0E0"/>
                </a:solidFill>
                <a:latin typeface="Garet"/>
                <a:ea typeface="Garet"/>
              </a:rPr>
              <a:t>▪ 장르 간 중앙값</a:t>
            </a:r>
            <a:endParaRPr lang="en-US" altLang="ko-KR" dirty="0">
              <a:solidFill>
                <a:srgbClr val="E0E0E0"/>
              </a:solidFill>
              <a:latin typeface="Garet"/>
              <a:ea typeface="Garet"/>
            </a:endParaRPr>
          </a:p>
          <a:p>
            <a:pPr algn="l">
              <a:lnSpc>
                <a:spcPts val="1900"/>
              </a:lnSpc>
            </a:pPr>
            <a:endParaRPr lang="en-US" altLang="ko-KR" dirty="0">
              <a:solidFill>
                <a:srgbClr val="AAAAAA"/>
              </a:solidFill>
              <a:latin typeface="Garet"/>
              <a:ea typeface="Garet"/>
            </a:endParaRPr>
          </a:p>
          <a:p>
            <a:pPr algn="l">
              <a:lnSpc>
                <a:spcPts val="1900"/>
              </a:lnSpc>
            </a:pPr>
            <a:r>
              <a:rPr lang="en-US" altLang="ko-KR" dirty="0">
                <a:solidFill>
                  <a:srgbClr val="AAAAAA"/>
                </a:solidFill>
                <a:latin typeface="Garet"/>
                <a:ea typeface="Garet"/>
              </a:rPr>
              <a:t>   Adventure, Documentary </a:t>
            </a:r>
            <a:r>
              <a:rPr lang="ko-KR" altLang="en-US" dirty="0">
                <a:solidFill>
                  <a:srgbClr val="AAAAAA"/>
                </a:solidFill>
                <a:latin typeface="Garet"/>
                <a:ea typeface="Garet"/>
              </a:rPr>
              <a:t>기준 </a:t>
            </a:r>
            <a:endParaRPr lang="en-US" altLang="ko-KR" dirty="0">
              <a:solidFill>
                <a:srgbClr val="AAAAAA"/>
              </a:solidFill>
              <a:latin typeface="Garet"/>
              <a:ea typeface="Garet"/>
            </a:endParaRPr>
          </a:p>
          <a:p>
            <a:pPr algn="l">
              <a:lnSpc>
                <a:spcPts val="1900"/>
              </a:lnSpc>
            </a:pPr>
            <a:r>
              <a:rPr lang="ko-KR" altLang="en-US" dirty="0">
                <a:solidFill>
                  <a:srgbClr val="AAAAAA"/>
                </a:solidFill>
                <a:latin typeface="Garet"/>
                <a:ea typeface="Garet"/>
              </a:rPr>
              <a:t>   약 </a:t>
            </a:r>
            <a:r>
              <a:rPr lang="en-US" altLang="ko-KR" dirty="0">
                <a:solidFill>
                  <a:srgbClr val="AAAAAA"/>
                </a:solidFill>
                <a:latin typeface="Garet"/>
                <a:ea typeface="Garet"/>
              </a:rPr>
              <a:t>542</a:t>
            </a:r>
            <a:r>
              <a:rPr lang="ko-KR" altLang="en-US" dirty="0">
                <a:solidFill>
                  <a:srgbClr val="AAAAAA"/>
                </a:solidFill>
                <a:latin typeface="Garet"/>
                <a:ea typeface="Garet"/>
              </a:rPr>
              <a:t>배 차이</a:t>
            </a:r>
            <a:endParaRPr lang="ko-KR" dirty="0">
              <a:solidFill>
                <a:srgbClr val="E0E0E0"/>
              </a:solidFill>
              <a:latin typeface="Garet"/>
              <a:ea typeface="Garet"/>
            </a:endParaRPr>
          </a:p>
        </p:txBody>
      </p:sp>
      <p:sp>
        <p:nvSpPr>
          <p:cNvPr id="13" name="img_bg"/>
          <p:cNvSpPr>
            <a:spLocks noGrp="1"/>
          </p:cNvSpPr>
          <p:nvPr/>
        </p:nvSpPr>
        <p:spPr>
          <a:xfrm>
            <a:off x="4572000" y="1117600"/>
            <a:ext cx="13716000" cy="8382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91440" tIns="45720" rIns="91440" bIns="45720"/>
          <a:lstStyle/>
          <a:p>
            <a:endParaRPr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473D7B7-37C1-71D3-07EC-AFC2A7BBE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547" y="1765300"/>
            <a:ext cx="13650902" cy="773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9207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g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4300" tIns="91440" rIns="114300" bIns="91440"/>
          <a:lstStyle/>
          <a:p>
            <a:endParaRPr/>
          </a:p>
        </p:txBody>
      </p:sp>
      <p:sp>
        <p:nvSpPr>
          <p:cNvPr id="11" name="titlebar"/>
          <p:cNvSpPr>
            <a:spLocks noGrp="1"/>
          </p:cNvSpPr>
          <p:nvPr/>
        </p:nvSpPr>
        <p:spPr>
          <a:xfrm>
            <a:off x="0" y="0"/>
            <a:ext cx="18288000" cy="1117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wrap="square" lIns="762000" tIns="91440" rIns="114300" bIns="91440" anchor="ctr"/>
          <a:lstStyle/>
          <a:p>
            <a:pPr algn="l">
              <a:lnSpc>
                <a:spcPts val="3400"/>
              </a:lnSpc>
              <a:spcBef>
                <a:spcPts val="0"/>
              </a:spcBef>
            </a:pPr>
            <a:r>
              <a:rPr lang="ko-KR" sz="4000" b="1" dirty="0">
                <a:solidFill>
                  <a:srgbClr val="FFFFFF"/>
                </a:solidFill>
                <a:latin typeface="Garet Bold"/>
                <a:ea typeface="Garet Bold"/>
              </a:rPr>
              <a:t>대표장르별 흥행수익 — 결과 해석</a:t>
            </a:r>
          </a:p>
        </p:txBody>
      </p:sp>
      <p:sp>
        <p:nvSpPr>
          <p:cNvPr id="20" name="genre_0"/>
          <p:cNvSpPr>
            <a:spLocks noGrp="1"/>
          </p:cNvSpPr>
          <p:nvPr/>
        </p:nvSpPr>
        <p:spPr>
          <a:xfrm>
            <a:off x="1270000" y="1333500"/>
            <a:ext cx="7620000" cy="2921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wrap="square" lIns="114300" tIns="91440" rIns="114300" bIns="91440"/>
          <a:lstStyle/>
          <a:p>
            <a:pPr algn="l">
              <a:lnSpc>
                <a:spcPts val="2400"/>
              </a:lnSpc>
              <a:spcBef>
                <a:spcPts val="0"/>
              </a:spcBef>
            </a:pPr>
            <a:endParaRPr lang="en-US" altLang="ko-KR" sz="3200" b="1" dirty="0">
              <a:solidFill>
                <a:srgbClr val="FFFFFF"/>
              </a:solidFill>
              <a:latin typeface="Garet Bold"/>
              <a:ea typeface="Garet Bold"/>
            </a:endParaRPr>
          </a:p>
          <a:p>
            <a:pPr algn="l">
              <a:lnSpc>
                <a:spcPts val="2400"/>
              </a:lnSpc>
              <a:spcBef>
                <a:spcPts val="0"/>
              </a:spcBef>
            </a:pPr>
            <a:r>
              <a:rPr lang="ko-KR" sz="3200" b="1" dirty="0">
                <a:solidFill>
                  <a:srgbClr val="FFFFFF"/>
                </a:solidFill>
                <a:latin typeface="Garet Bold"/>
                <a:ea typeface="Garet Bold"/>
              </a:rPr>
              <a:t>1위  Adventure</a:t>
            </a:r>
          </a:p>
          <a:p>
            <a:pPr>
              <a:lnSpc>
                <a:spcPts val="800"/>
              </a:lnSpc>
            </a:pPr>
            <a:endParaRPr lang="en-US" sz="2400" dirty="0"/>
          </a:p>
          <a:p>
            <a:pPr>
              <a:lnSpc>
                <a:spcPts val="800"/>
              </a:lnSpc>
            </a:pPr>
            <a:endParaRPr sz="2400" dirty="0"/>
          </a:p>
          <a:p>
            <a:pPr algn="l">
              <a:lnSpc>
                <a:spcPts val="3800"/>
              </a:lnSpc>
              <a:spcBef>
                <a:spcPts val="0"/>
              </a:spcBef>
            </a:pPr>
            <a:r>
              <a:rPr lang="ko-KR" sz="2400" dirty="0">
                <a:solidFill>
                  <a:srgbClr val="AAAAAA"/>
                </a:solidFill>
                <a:latin typeface="Garet"/>
                <a:ea typeface="Garet"/>
              </a:rPr>
              <a:t>중앙값  </a:t>
            </a:r>
            <a:r>
              <a:rPr lang="ko-KR" sz="4400" b="1" dirty="0">
                <a:solidFill>
                  <a:srgbClr val="FFFFFF"/>
                </a:solidFill>
                <a:latin typeface="Garet Bold"/>
                <a:ea typeface="Garet Bold"/>
              </a:rPr>
              <a:t>$28.7M</a:t>
            </a:r>
            <a:r>
              <a:rPr lang="ko-KR" sz="2400" dirty="0">
                <a:solidFill>
                  <a:srgbClr val="AAAAAA"/>
                </a:solidFill>
                <a:latin typeface="Garet"/>
                <a:ea typeface="Garet"/>
              </a:rPr>
              <a:t>  (약 </a:t>
            </a:r>
            <a:r>
              <a:rPr lang="en-US" altLang="ko-KR" sz="2400" dirty="0">
                <a:solidFill>
                  <a:srgbClr val="AAAAAA"/>
                </a:solidFill>
                <a:latin typeface="Garet"/>
                <a:ea typeface="Garet"/>
              </a:rPr>
              <a:t>352</a:t>
            </a:r>
            <a:r>
              <a:rPr lang="ko-KR" sz="2400" dirty="0">
                <a:solidFill>
                  <a:srgbClr val="AAAAAA"/>
                </a:solidFill>
                <a:latin typeface="Garet"/>
                <a:ea typeface="Garet"/>
              </a:rPr>
              <a:t>억원)</a:t>
            </a:r>
          </a:p>
          <a:p>
            <a:pPr algn="l">
              <a:lnSpc>
                <a:spcPts val="1800"/>
              </a:lnSpc>
              <a:spcBef>
                <a:spcPts val="0"/>
              </a:spcBef>
            </a:pPr>
            <a:endParaRPr lang="en-US" altLang="ko-KR" sz="2400" dirty="0">
              <a:solidFill>
                <a:srgbClr val="AAAAAA"/>
              </a:solidFill>
              <a:latin typeface="Garet"/>
              <a:ea typeface="Garet"/>
            </a:endParaRPr>
          </a:p>
          <a:p>
            <a:pPr algn="l">
              <a:lnSpc>
                <a:spcPts val="1800"/>
              </a:lnSpc>
              <a:spcBef>
                <a:spcPts val="0"/>
              </a:spcBef>
            </a:pPr>
            <a:r>
              <a:rPr lang="ko-KR" sz="2400" dirty="0">
                <a:solidFill>
                  <a:srgbClr val="AAAAAA"/>
                </a:solidFill>
                <a:latin typeface="Garet"/>
                <a:ea typeface="Garet"/>
              </a:rPr>
              <a:t>편수: 494편</a:t>
            </a:r>
          </a:p>
          <a:p>
            <a:pPr>
              <a:lnSpc>
                <a:spcPts val="800"/>
              </a:lnSpc>
            </a:pPr>
            <a:endParaRPr sz="2400" dirty="0"/>
          </a:p>
          <a:p>
            <a:pPr algn="l">
              <a:lnSpc>
                <a:spcPts val="1800"/>
              </a:lnSpc>
              <a:spcBef>
                <a:spcPts val="0"/>
              </a:spcBef>
            </a:pPr>
            <a:endParaRPr lang="en-US" altLang="ko-KR" sz="3200" dirty="0">
              <a:solidFill>
                <a:schemeClr val="bg1">
                  <a:lumMod val="85000"/>
                </a:schemeClr>
              </a:solidFill>
              <a:latin typeface="Garet"/>
              <a:ea typeface="Garet"/>
            </a:endParaRPr>
          </a:p>
          <a:p>
            <a:pPr>
              <a:lnSpc>
                <a:spcPts val="1800"/>
              </a:lnSpc>
            </a:pPr>
            <a:r>
              <a:rPr lang="ko-KR" altLang="en-US" sz="2400" spc="-150" dirty="0">
                <a:solidFill>
                  <a:schemeClr val="bg1">
                    <a:lumMod val="85000"/>
                  </a:schemeClr>
                </a:solidFill>
              </a:rPr>
              <a:t>블록버스터와 프랜차이즈 영화 비중이 높아 중앙값  높음 </a:t>
            </a:r>
            <a:endParaRPr lang="ko-KR" sz="3200" spc="-150" dirty="0">
              <a:solidFill>
                <a:schemeClr val="bg1">
                  <a:lumMod val="85000"/>
                </a:schemeClr>
              </a:solidFill>
              <a:latin typeface="Garet"/>
              <a:ea typeface="Garet"/>
            </a:endParaRPr>
          </a:p>
        </p:txBody>
      </p:sp>
      <p:sp>
        <p:nvSpPr>
          <p:cNvPr id="21" name="genre_1"/>
          <p:cNvSpPr>
            <a:spLocks noGrp="1"/>
          </p:cNvSpPr>
          <p:nvPr/>
        </p:nvSpPr>
        <p:spPr>
          <a:xfrm>
            <a:off x="9398000" y="1333500"/>
            <a:ext cx="7620000" cy="2921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wrap="square" lIns="114300" tIns="91440" rIns="114300" bIns="91440"/>
          <a:lstStyle/>
          <a:p>
            <a:pPr algn="l">
              <a:lnSpc>
                <a:spcPts val="2400"/>
              </a:lnSpc>
              <a:spcBef>
                <a:spcPts val="0"/>
              </a:spcBef>
            </a:pPr>
            <a:endParaRPr lang="en-US" altLang="ko-KR" sz="3200" b="1" dirty="0">
              <a:solidFill>
                <a:srgbClr val="FFFFFF"/>
              </a:solidFill>
              <a:latin typeface="Garet Bold"/>
              <a:ea typeface="Garet Bold"/>
            </a:endParaRPr>
          </a:p>
          <a:p>
            <a:pPr algn="l">
              <a:lnSpc>
                <a:spcPts val="2400"/>
              </a:lnSpc>
              <a:spcBef>
                <a:spcPts val="0"/>
              </a:spcBef>
            </a:pPr>
            <a:r>
              <a:rPr lang="ko-KR" sz="3200" b="1" dirty="0">
                <a:solidFill>
                  <a:srgbClr val="FFFFFF"/>
                </a:solidFill>
                <a:latin typeface="Garet Bold"/>
                <a:ea typeface="Garet Bold"/>
              </a:rPr>
              <a:t>2위  Action</a:t>
            </a:r>
          </a:p>
          <a:p>
            <a:pPr>
              <a:lnSpc>
                <a:spcPts val="800"/>
              </a:lnSpc>
            </a:pPr>
            <a:endParaRPr lang="en-US" sz="2400" dirty="0"/>
          </a:p>
          <a:p>
            <a:pPr>
              <a:lnSpc>
                <a:spcPts val="800"/>
              </a:lnSpc>
            </a:pPr>
            <a:endParaRPr sz="2400" dirty="0"/>
          </a:p>
          <a:p>
            <a:pPr algn="l">
              <a:lnSpc>
                <a:spcPts val="3800"/>
              </a:lnSpc>
              <a:spcBef>
                <a:spcPts val="0"/>
              </a:spcBef>
            </a:pPr>
            <a:r>
              <a:rPr lang="ko-KR" sz="2400" dirty="0">
                <a:solidFill>
                  <a:srgbClr val="AAAAAA"/>
                </a:solidFill>
                <a:latin typeface="Garet"/>
                <a:ea typeface="Garet"/>
              </a:rPr>
              <a:t>중앙값  </a:t>
            </a:r>
            <a:r>
              <a:rPr lang="ko-KR" sz="4400" b="1" dirty="0">
                <a:solidFill>
                  <a:srgbClr val="FFFFFF"/>
                </a:solidFill>
                <a:latin typeface="Garet Bold"/>
                <a:ea typeface="Garet Bold"/>
              </a:rPr>
              <a:t>$18.9M</a:t>
            </a:r>
            <a:r>
              <a:rPr lang="ko-KR" sz="2400" dirty="0">
                <a:solidFill>
                  <a:srgbClr val="AAAAAA"/>
                </a:solidFill>
                <a:latin typeface="Garet"/>
                <a:ea typeface="Garet"/>
              </a:rPr>
              <a:t>  (약 </a:t>
            </a:r>
            <a:r>
              <a:rPr lang="en-US" altLang="ko-KR" sz="2400" dirty="0">
                <a:solidFill>
                  <a:srgbClr val="AAAAAA"/>
                </a:solidFill>
                <a:latin typeface="Garet"/>
                <a:ea typeface="Garet"/>
              </a:rPr>
              <a:t>232</a:t>
            </a:r>
            <a:r>
              <a:rPr lang="ko-KR" sz="2400" dirty="0">
                <a:solidFill>
                  <a:srgbClr val="AAAAAA"/>
                </a:solidFill>
                <a:latin typeface="Garet"/>
                <a:ea typeface="Garet"/>
              </a:rPr>
              <a:t>억원)</a:t>
            </a:r>
          </a:p>
          <a:p>
            <a:pPr algn="l">
              <a:lnSpc>
                <a:spcPts val="1800"/>
              </a:lnSpc>
              <a:spcBef>
                <a:spcPts val="0"/>
              </a:spcBef>
            </a:pPr>
            <a:endParaRPr lang="en-US" altLang="ko-KR" sz="2400" dirty="0">
              <a:solidFill>
                <a:srgbClr val="AAAAAA"/>
              </a:solidFill>
              <a:latin typeface="Garet"/>
              <a:ea typeface="Garet"/>
            </a:endParaRPr>
          </a:p>
          <a:p>
            <a:pPr algn="l">
              <a:lnSpc>
                <a:spcPts val="1800"/>
              </a:lnSpc>
              <a:spcBef>
                <a:spcPts val="0"/>
              </a:spcBef>
            </a:pPr>
            <a:r>
              <a:rPr lang="ko-KR" sz="2400" dirty="0">
                <a:solidFill>
                  <a:srgbClr val="AAAAAA"/>
                </a:solidFill>
                <a:latin typeface="Garet"/>
                <a:ea typeface="Garet"/>
              </a:rPr>
              <a:t>편수: 1,150편</a:t>
            </a:r>
          </a:p>
          <a:p>
            <a:pPr>
              <a:lnSpc>
                <a:spcPts val="800"/>
              </a:lnSpc>
            </a:pPr>
            <a:endParaRPr sz="2400" dirty="0"/>
          </a:p>
          <a:p>
            <a:pPr algn="l">
              <a:lnSpc>
                <a:spcPts val="1800"/>
              </a:lnSpc>
              <a:spcBef>
                <a:spcPts val="0"/>
              </a:spcBef>
            </a:pPr>
            <a:endParaRPr lang="en-US" altLang="ko-KR" sz="2400" dirty="0">
              <a:solidFill>
                <a:srgbClr val="CCCCCC"/>
              </a:solidFill>
              <a:latin typeface="Garet"/>
              <a:ea typeface="Garet"/>
            </a:endParaRPr>
          </a:p>
          <a:p>
            <a:pPr>
              <a:lnSpc>
                <a:spcPts val="1800"/>
              </a:lnSpc>
            </a:pPr>
            <a:r>
              <a:rPr lang="ko-KR" altLang="en-US" sz="2400" dirty="0">
                <a:solidFill>
                  <a:schemeClr val="bg1">
                    <a:lumMod val="85000"/>
                  </a:schemeClr>
                </a:solidFill>
              </a:rPr>
              <a:t>대중성이 높고 배급 규모가 큰 작품이 많아 상위권 분포</a:t>
            </a:r>
            <a:endParaRPr lang="ko-KR" sz="3200" dirty="0">
              <a:solidFill>
                <a:schemeClr val="bg1">
                  <a:lumMod val="85000"/>
                </a:schemeClr>
              </a:solidFill>
              <a:latin typeface="Garet"/>
              <a:ea typeface="Garet"/>
            </a:endParaRPr>
          </a:p>
        </p:txBody>
      </p:sp>
      <p:sp>
        <p:nvSpPr>
          <p:cNvPr id="22" name="genre_2"/>
          <p:cNvSpPr>
            <a:spLocks noGrp="1"/>
          </p:cNvSpPr>
          <p:nvPr/>
        </p:nvSpPr>
        <p:spPr>
          <a:xfrm>
            <a:off x="1249218" y="4508500"/>
            <a:ext cx="7620000" cy="2921000"/>
          </a:xfrm>
          <a:prstGeom prst="rect">
            <a:avLst/>
          </a:prstGeom>
          <a:solidFill>
            <a:srgbClr val="3A1E1E"/>
          </a:solidFill>
          <a:ln>
            <a:noFill/>
          </a:ln>
        </p:spPr>
        <p:txBody>
          <a:bodyPr wrap="square" lIns="114300" tIns="91440" rIns="114300" bIns="91440"/>
          <a:lstStyle/>
          <a:p>
            <a:pPr algn="l">
              <a:lnSpc>
                <a:spcPts val="2400"/>
              </a:lnSpc>
              <a:spcBef>
                <a:spcPts val="0"/>
              </a:spcBef>
            </a:pPr>
            <a:endParaRPr lang="en-US" altLang="ko-KR" sz="3200" b="1" dirty="0">
              <a:solidFill>
                <a:srgbClr val="FFFFFF"/>
              </a:solidFill>
              <a:latin typeface="Garet Bold"/>
              <a:ea typeface="Garet Bold"/>
            </a:endParaRPr>
          </a:p>
          <a:p>
            <a:pPr algn="l">
              <a:lnSpc>
                <a:spcPts val="2400"/>
              </a:lnSpc>
              <a:spcBef>
                <a:spcPts val="0"/>
              </a:spcBef>
            </a:pPr>
            <a:r>
              <a:rPr lang="ko-KR" sz="3200" b="1" dirty="0">
                <a:solidFill>
                  <a:srgbClr val="FFFFFF"/>
                </a:solidFill>
                <a:latin typeface="Garet Bold"/>
                <a:ea typeface="Garet Bold"/>
              </a:rPr>
              <a:t>최하  Documentary</a:t>
            </a:r>
          </a:p>
          <a:p>
            <a:pPr>
              <a:lnSpc>
                <a:spcPts val="800"/>
              </a:lnSpc>
            </a:pPr>
            <a:endParaRPr lang="en-US" sz="2400" dirty="0"/>
          </a:p>
          <a:p>
            <a:pPr>
              <a:lnSpc>
                <a:spcPts val="800"/>
              </a:lnSpc>
            </a:pPr>
            <a:endParaRPr sz="2400" dirty="0"/>
          </a:p>
          <a:p>
            <a:pPr algn="l">
              <a:lnSpc>
                <a:spcPts val="3800"/>
              </a:lnSpc>
              <a:spcBef>
                <a:spcPts val="0"/>
              </a:spcBef>
            </a:pPr>
            <a:r>
              <a:rPr lang="ko-KR" sz="2400" dirty="0">
                <a:solidFill>
                  <a:srgbClr val="AAAAAA"/>
                </a:solidFill>
                <a:latin typeface="Garet"/>
                <a:ea typeface="Garet"/>
              </a:rPr>
              <a:t>중앙값  </a:t>
            </a:r>
            <a:r>
              <a:rPr lang="ko-KR" sz="4400" b="1" dirty="0">
                <a:solidFill>
                  <a:srgbClr val="FFFFFF"/>
                </a:solidFill>
                <a:latin typeface="Garet Bold"/>
                <a:ea typeface="Garet Bold"/>
              </a:rPr>
              <a:t>$53K</a:t>
            </a:r>
            <a:r>
              <a:rPr lang="ko-KR" sz="2400" dirty="0">
                <a:solidFill>
                  <a:srgbClr val="AAAAAA"/>
                </a:solidFill>
                <a:latin typeface="Garet"/>
                <a:ea typeface="Garet"/>
              </a:rPr>
              <a:t>  (약 </a:t>
            </a:r>
            <a:r>
              <a:rPr lang="en-US" altLang="ko-KR" sz="2400" dirty="0">
                <a:solidFill>
                  <a:srgbClr val="AAAAAA"/>
                </a:solidFill>
                <a:latin typeface="Garet"/>
                <a:ea typeface="Garet"/>
              </a:rPr>
              <a:t>6,500</a:t>
            </a:r>
            <a:r>
              <a:rPr lang="ko-KR" sz="2400" dirty="0">
                <a:solidFill>
                  <a:srgbClr val="AAAAAA"/>
                </a:solidFill>
                <a:latin typeface="Garet"/>
                <a:ea typeface="Garet"/>
              </a:rPr>
              <a:t>만원)</a:t>
            </a:r>
          </a:p>
          <a:p>
            <a:pPr algn="l">
              <a:lnSpc>
                <a:spcPts val="1800"/>
              </a:lnSpc>
              <a:spcBef>
                <a:spcPts val="0"/>
              </a:spcBef>
            </a:pPr>
            <a:endParaRPr lang="en-US" altLang="ko-KR" sz="2400" dirty="0">
              <a:solidFill>
                <a:srgbClr val="AAAAAA"/>
              </a:solidFill>
              <a:latin typeface="Garet"/>
              <a:ea typeface="Garet"/>
            </a:endParaRPr>
          </a:p>
          <a:p>
            <a:pPr algn="l">
              <a:lnSpc>
                <a:spcPts val="1800"/>
              </a:lnSpc>
              <a:spcBef>
                <a:spcPts val="0"/>
              </a:spcBef>
            </a:pPr>
            <a:r>
              <a:rPr lang="ko-KR" sz="2400" dirty="0">
                <a:solidFill>
                  <a:srgbClr val="AAAAAA"/>
                </a:solidFill>
                <a:latin typeface="Garet"/>
                <a:ea typeface="Garet"/>
              </a:rPr>
              <a:t>편수: 758편</a:t>
            </a:r>
          </a:p>
          <a:p>
            <a:pPr>
              <a:lnSpc>
                <a:spcPts val="800"/>
              </a:lnSpc>
            </a:pPr>
            <a:endParaRPr sz="2400" dirty="0"/>
          </a:p>
          <a:p>
            <a:pPr algn="l">
              <a:lnSpc>
                <a:spcPts val="1800"/>
              </a:lnSpc>
              <a:spcBef>
                <a:spcPts val="0"/>
              </a:spcBef>
            </a:pPr>
            <a:endParaRPr lang="en-US" altLang="ko-KR" sz="2400" dirty="0">
              <a:solidFill>
                <a:srgbClr val="CCCCCC"/>
              </a:solidFill>
              <a:latin typeface="Garet"/>
              <a:ea typeface="Garet"/>
            </a:endParaRPr>
          </a:p>
          <a:p>
            <a:r>
              <a:rPr lang="ko-KR" altLang="en-US" sz="2400" dirty="0">
                <a:solidFill>
                  <a:schemeClr val="bg1">
                    <a:lumMod val="85000"/>
                  </a:schemeClr>
                </a:solidFill>
              </a:rPr>
              <a:t>독립</a:t>
            </a:r>
            <a:r>
              <a:rPr lang="en-US" altLang="ko-KR" sz="2400" dirty="0">
                <a:solidFill>
                  <a:schemeClr val="bg1">
                    <a:lumMod val="85000"/>
                  </a:schemeClr>
                </a:solidFill>
              </a:rPr>
              <a:t>·</a:t>
            </a:r>
            <a:r>
              <a:rPr lang="ko-KR" altLang="en-US" sz="2400" dirty="0">
                <a:solidFill>
                  <a:schemeClr val="bg1">
                    <a:lumMod val="85000"/>
                  </a:schemeClr>
                </a:solidFill>
              </a:rPr>
              <a:t>소규모 배급 영화 비중이 커 중앙값 낮음</a:t>
            </a:r>
          </a:p>
          <a:p>
            <a:br>
              <a:rPr lang="ko-KR" altLang="en-US" sz="2400" dirty="0"/>
            </a:br>
            <a:endParaRPr lang="ko-KR" sz="2400" dirty="0">
              <a:solidFill>
                <a:srgbClr val="CCCCCC"/>
              </a:solidFill>
              <a:latin typeface="Garet"/>
              <a:ea typeface="Garet"/>
            </a:endParaRPr>
          </a:p>
        </p:txBody>
      </p:sp>
      <p:sp>
        <p:nvSpPr>
          <p:cNvPr id="23" name="genre_3"/>
          <p:cNvSpPr>
            <a:spLocks noGrp="1"/>
          </p:cNvSpPr>
          <p:nvPr/>
        </p:nvSpPr>
        <p:spPr>
          <a:xfrm>
            <a:off x="9398000" y="4508500"/>
            <a:ext cx="7620000" cy="2921000"/>
          </a:xfrm>
          <a:prstGeom prst="rect">
            <a:avLst/>
          </a:prstGeom>
          <a:solidFill>
            <a:srgbClr val="3A1E1E"/>
          </a:solidFill>
          <a:ln>
            <a:noFill/>
          </a:ln>
        </p:spPr>
        <p:txBody>
          <a:bodyPr wrap="square" lIns="114300" tIns="91440" rIns="114300" bIns="91440"/>
          <a:lstStyle/>
          <a:p>
            <a:pPr algn="l">
              <a:lnSpc>
                <a:spcPts val="2400"/>
              </a:lnSpc>
              <a:spcBef>
                <a:spcPts val="0"/>
              </a:spcBef>
            </a:pPr>
            <a:endParaRPr lang="en-US" altLang="ko-KR" sz="3200" b="1" dirty="0">
              <a:solidFill>
                <a:srgbClr val="FFFFFF"/>
              </a:solidFill>
              <a:latin typeface="Garet Bold"/>
              <a:ea typeface="Garet Bold"/>
            </a:endParaRPr>
          </a:p>
          <a:p>
            <a:pPr algn="l">
              <a:lnSpc>
                <a:spcPts val="2400"/>
              </a:lnSpc>
              <a:spcBef>
                <a:spcPts val="0"/>
              </a:spcBef>
            </a:pPr>
            <a:r>
              <a:rPr lang="ko-KR" sz="3200" b="1" dirty="0">
                <a:solidFill>
                  <a:srgbClr val="FFFFFF"/>
                </a:solidFill>
                <a:latin typeface="Garet Bold"/>
                <a:ea typeface="Garet Bold"/>
              </a:rPr>
              <a:t>최하  Thriller</a:t>
            </a:r>
          </a:p>
          <a:p>
            <a:pPr>
              <a:lnSpc>
                <a:spcPts val="800"/>
              </a:lnSpc>
            </a:pPr>
            <a:endParaRPr lang="en-US" sz="2400" dirty="0"/>
          </a:p>
          <a:p>
            <a:pPr>
              <a:lnSpc>
                <a:spcPts val="800"/>
              </a:lnSpc>
            </a:pPr>
            <a:endParaRPr sz="2400" dirty="0"/>
          </a:p>
          <a:p>
            <a:pPr algn="l">
              <a:lnSpc>
                <a:spcPts val="3800"/>
              </a:lnSpc>
              <a:spcBef>
                <a:spcPts val="0"/>
              </a:spcBef>
            </a:pPr>
            <a:r>
              <a:rPr lang="ko-KR" sz="2400" dirty="0">
                <a:solidFill>
                  <a:srgbClr val="AAAAAA"/>
                </a:solidFill>
                <a:latin typeface="Garet"/>
                <a:ea typeface="Garet"/>
              </a:rPr>
              <a:t>중앙값  </a:t>
            </a:r>
            <a:r>
              <a:rPr lang="ko-KR" sz="4400" b="1" dirty="0">
                <a:solidFill>
                  <a:srgbClr val="FFFFFF"/>
                </a:solidFill>
                <a:latin typeface="Garet Bold"/>
                <a:ea typeface="Garet Bold"/>
              </a:rPr>
              <a:t>$93K</a:t>
            </a:r>
            <a:r>
              <a:rPr lang="ko-KR" sz="2400" dirty="0">
                <a:solidFill>
                  <a:srgbClr val="AAAAAA"/>
                </a:solidFill>
                <a:latin typeface="Garet"/>
                <a:ea typeface="Garet"/>
              </a:rPr>
              <a:t>  (약 1.</a:t>
            </a:r>
            <a:r>
              <a:rPr lang="en-US" altLang="ko-KR" sz="2400" dirty="0">
                <a:solidFill>
                  <a:srgbClr val="AAAAAA"/>
                </a:solidFill>
                <a:latin typeface="Garet"/>
                <a:ea typeface="Garet"/>
              </a:rPr>
              <a:t>1</a:t>
            </a:r>
            <a:r>
              <a:rPr lang="ko-KR" sz="2400" dirty="0">
                <a:solidFill>
                  <a:srgbClr val="AAAAAA"/>
                </a:solidFill>
                <a:latin typeface="Garet"/>
                <a:ea typeface="Garet"/>
              </a:rPr>
              <a:t>억원)</a:t>
            </a:r>
          </a:p>
          <a:p>
            <a:pPr algn="l">
              <a:lnSpc>
                <a:spcPts val="1800"/>
              </a:lnSpc>
              <a:spcBef>
                <a:spcPts val="0"/>
              </a:spcBef>
            </a:pPr>
            <a:endParaRPr lang="en-US" altLang="ko-KR" sz="2400" dirty="0">
              <a:solidFill>
                <a:srgbClr val="AAAAAA"/>
              </a:solidFill>
              <a:latin typeface="Garet"/>
              <a:ea typeface="Garet"/>
            </a:endParaRPr>
          </a:p>
          <a:p>
            <a:pPr algn="l">
              <a:lnSpc>
                <a:spcPts val="1800"/>
              </a:lnSpc>
              <a:spcBef>
                <a:spcPts val="0"/>
              </a:spcBef>
            </a:pPr>
            <a:r>
              <a:rPr lang="ko-KR" sz="2400" dirty="0">
                <a:solidFill>
                  <a:srgbClr val="AAAAAA"/>
                </a:solidFill>
                <a:latin typeface="Garet"/>
                <a:ea typeface="Garet"/>
              </a:rPr>
              <a:t>편수: 43편</a:t>
            </a:r>
          </a:p>
          <a:p>
            <a:pPr>
              <a:lnSpc>
                <a:spcPts val="800"/>
              </a:lnSpc>
            </a:pPr>
            <a:endParaRPr sz="2400" dirty="0"/>
          </a:p>
          <a:p>
            <a:pPr algn="l">
              <a:lnSpc>
                <a:spcPts val="1800"/>
              </a:lnSpc>
              <a:spcBef>
                <a:spcPts val="0"/>
              </a:spcBef>
            </a:pPr>
            <a:endParaRPr lang="en-US" altLang="ko-KR" sz="2400" dirty="0">
              <a:solidFill>
                <a:srgbClr val="CCCCCC"/>
              </a:solidFill>
              <a:latin typeface="Garet"/>
              <a:ea typeface="Garet"/>
            </a:endParaRPr>
          </a:p>
          <a:p>
            <a:r>
              <a:rPr lang="ko-KR" altLang="en-US" sz="2400" dirty="0">
                <a:solidFill>
                  <a:schemeClr val="bg1">
                    <a:lumMod val="85000"/>
                  </a:schemeClr>
                </a:solidFill>
              </a:rPr>
              <a:t>표본 수는 적지만 상대적으로 낮은 흥행수익 분포</a:t>
            </a:r>
          </a:p>
          <a:p>
            <a:br>
              <a:rPr lang="ko-KR" altLang="en-US" sz="2400" dirty="0"/>
            </a:br>
            <a:endParaRPr lang="ko-KR" sz="2400" dirty="0">
              <a:solidFill>
                <a:srgbClr val="CCCCCC"/>
              </a:solidFill>
              <a:latin typeface="Garet"/>
              <a:ea typeface="Garet"/>
            </a:endParaRPr>
          </a:p>
        </p:txBody>
      </p:sp>
      <p:sp>
        <p:nvSpPr>
          <p:cNvPr id="30" name="interp"/>
          <p:cNvSpPr>
            <a:spLocks noGrp="1"/>
          </p:cNvSpPr>
          <p:nvPr/>
        </p:nvSpPr>
        <p:spPr>
          <a:xfrm>
            <a:off x="1263073" y="7683500"/>
            <a:ext cx="15748000" cy="22606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114300" tIns="91440" rIns="114300" bIns="91440"/>
          <a:lstStyle/>
          <a:p>
            <a:pPr algn="l">
              <a:lnSpc>
                <a:spcPts val="2000"/>
              </a:lnSpc>
              <a:spcBef>
                <a:spcPts val="0"/>
              </a:spcBef>
            </a:pPr>
            <a:endParaRPr lang="en-US" altLang="ko-KR" sz="3200" b="1" dirty="0">
              <a:solidFill>
                <a:srgbClr val="111111"/>
              </a:solidFill>
              <a:latin typeface="Garet Bold"/>
              <a:ea typeface="Garet Bold"/>
            </a:endParaRP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ko-KR" sz="3200" b="1" dirty="0">
                <a:solidFill>
                  <a:srgbClr val="111111"/>
                </a:solidFill>
                <a:latin typeface="Garet Bold"/>
                <a:ea typeface="Garet Bold"/>
              </a:rPr>
              <a:t>해석 및 피처 선택 근거</a:t>
            </a:r>
          </a:p>
          <a:p>
            <a:pPr>
              <a:lnSpc>
                <a:spcPts val="800"/>
              </a:lnSpc>
            </a:pPr>
            <a:endParaRPr sz="3200" dirty="0"/>
          </a:p>
          <a:p>
            <a:pPr algn="l">
              <a:lnSpc>
                <a:spcPts val="1900"/>
              </a:lnSpc>
              <a:spcBef>
                <a:spcPts val="0"/>
              </a:spcBef>
            </a:pPr>
            <a:endParaRPr lang="en-US" altLang="ko-KR" sz="3200" dirty="0">
              <a:solidFill>
                <a:srgbClr val="333333"/>
              </a:solidFill>
              <a:latin typeface="Garet"/>
              <a:ea typeface="Garet"/>
            </a:endParaRPr>
          </a:p>
          <a:p>
            <a:pPr>
              <a:lnSpc>
                <a:spcPts val="1900"/>
              </a:lnSpc>
            </a:pPr>
            <a:r>
              <a:rPr lang="ko-KR" altLang="en-US" sz="2400" dirty="0"/>
              <a:t>장르는 흥행수익 분포의 수준과 범위를 구분하는 핵심 범주형 피처</a:t>
            </a:r>
            <a:r>
              <a:rPr lang="en-US" altLang="ko-KR" sz="2400" dirty="0"/>
              <a:t>.</a:t>
            </a:r>
          </a:p>
          <a:p>
            <a:pPr>
              <a:lnSpc>
                <a:spcPts val="1900"/>
              </a:lnSpc>
            </a:pPr>
            <a:br>
              <a:rPr lang="ko-KR" altLang="en-US" sz="4000" dirty="0"/>
            </a:br>
            <a:r>
              <a:rPr lang="ko-KR" altLang="en-US" sz="2400" dirty="0"/>
              <a:t>특히 </a:t>
            </a:r>
            <a:r>
              <a:rPr lang="en-US" altLang="ko-KR" sz="2400" dirty="0"/>
              <a:t>Adventure</a:t>
            </a:r>
            <a:r>
              <a:rPr lang="ko-KR" altLang="en-US" sz="2400" dirty="0"/>
              <a:t> 중앙값</a:t>
            </a:r>
            <a:r>
              <a:rPr lang="en-US" altLang="ko-KR" sz="2400" dirty="0"/>
              <a:t>($28.7M)</a:t>
            </a:r>
            <a:r>
              <a:rPr lang="ko-KR" altLang="en-US" sz="2400" dirty="0"/>
              <a:t>과 </a:t>
            </a:r>
            <a:r>
              <a:rPr lang="en-US" altLang="ko-KR" sz="2400" dirty="0"/>
              <a:t>Documentary</a:t>
            </a:r>
            <a:r>
              <a:rPr lang="ko-KR" altLang="en-US" sz="2400" dirty="0"/>
              <a:t> 중앙값</a:t>
            </a:r>
            <a:r>
              <a:rPr lang="en-US" altLang="ko-KR" sz="2400" dirty="0"/>
              <a:t>($53K) </a:t>
            </a:r>
            <a:r>
              <a:rPr lang="ko-KR" altLang="en-US" sz="2400" dirty="0"/>
              <a:t>사이에는 약 </a:t>
            </a:r>
            <a:r>
              <a:rPr lang="en-US" altLang="ko-KR" sz="2400" dirty="0"/>
              <a:t>542</a:t>
            </a:r>
            <a:r>
              <a:rPr lang="ko-KR" altLang="en-US" sz="2400" dirty="0"/>
              <a:t>배 격차가 나타남</a:t>
            </a:r>
            <a:r>
              <a:rPr lang="en-US" altLang="ko-KR" sz="2400" dirty="0"/>
              <a:t>.</a:t>
            </a:r>
          </a:p>
          <a:p>
            <a:pPr>
              <a:lnSpc>
                <a:spcPts val="1900"/>
              </a:lnSpc>
            </a:pPr>
            <a:br>
              <a:rPr lang="ko-KR" altLang="en-US" sz="4000" dirty="0"/>
            </a:br>
            <a:r>
              <a:rPr lang="ko-KR" altLang="en-US" sz="2400" dirty="0"/>
              <a:t>이 결과는 장르가 흥행수익 차이를 설명하는 데 의미 있는 변수임을 보여줌</a:t>
            </a:r>
            <a:endParaRPr lang="ko-KR" sz="4000" dirty="0">
              <a:solidFill>
                <a:srgbClr val="333333"/>
              </a:solidFill>
              <a:latin typeface="Garet"/>
              <a:ea typeface="Garet"/>
            </a:endParaRPr>
          </a:p>
        </p:txBody>
      </p:sp>
    </p:spTree>
    <p:extLst>
      <p:ext uri="{BB962C8B-B14F-4D97-AF65-F5344CB8AC3E}">
        <p14:creationId xmlns:p14="http://schemas.microsoft.com/office/powerpoint/2010/main" val="12594321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g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/>
          <a:lstStyle/>
          <a:p>
            <a:endParaRPr/>
          </a:p>
        </p:txBody>
      </p:sp>
      <p:sp>
        <p:nvSpPr>
          <p:cNvPr id="11" name="titlebar"/>
          <p:cNvSpPr>
            <a:spLocks noGrp="1"/>
          </p:cNvSpPr>
          <p:nvPr/>
        </p:nvSpPr>
        <p:spPr>
          <a:xfrm>
            <a:off x="0" y="0"/>
            <a:ext cx="18288000" cy="1117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wrap="square" lIns="762000" tIns="45720" rIns="91440" bIns="45720" anchor="ctr"/>
          <a:lstStyle/>
          <a:p>
            <a:pPr algn="l">
              <a:lnSpc>
                <a:spcPts val="3400"/>
              </a:lnSpc>
            </a:pPr>
            <a:r>
              <a:rPr lang="ko-KR" sz="4000" b="1" dirty="0">
                <a:solidFill>
                  <a:srgbClr val="FFFFFF"/>
                </a:solidFill>
                <a:latin typeface="Garet Bold"/>
                <a:ea typeface="Garet Bold"/>
              </a:rPr>
              <a:t>개봉시기별 전세계 흥행수익 분포</a:t>
            </a:r>
          </a:p>
        </p:txBody>
      </p:sp>
      <p:sp>
        <p:nvSpPr>
          <p:cNvPr id="12" name="left_panel"/>
          <p:cNvSpPr>
            <a:spLocks noGrp="1"/>
          </p:cNvSpPr>
          <p:nvPr/>
        </p:nvSpPr>
        <p:spPr>
          <a:xfrm>
            <a:off x="0" y="1117600"/>
            <a:ext cx="4572000" cy="9169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>
              <a:lnSpc>
                <a:spcPts val="2000"/>
              </a:lnSpc>
            </a:pPr>
            <a:endParaRPr lang="en-US" altLang="ko-KR" b="1" dirty="0">
              <a:solidFill>
                <a:srgbClr val="FFFFFF"/>
              </a:solidFill>
              <a:latin typeface="Garet Bold"/>
              <a:ea typeface="Garet Bold"/>
            </a:endParaRPr>
          </a:p>
          <a:p>
            <a:pPr algn="l">
              <a:lnSpc>
                <a:spcPts val="2000"/>
              </a:lnSpc>
            </a:pPr>
            <a:r>
              <a:rPr lang="ko-KR" b="1" dirty="0">
                <a:solidFill>
                  <a:srgbClr val="FFFFFF"/>
                </a:solidFill>
                <a:latin typeface="Garet Bold"/>
                <a:ea typeface="Garet Bold"/>
              </a:rPr>
              <a:t>범주형 피처</a:t>
            </a:r>
            <a:endParaRPr lang="en-US" altLang="ko-KR" b="1" dirty="0">
              <a:solidFill>
                <a:srgbClr val="FFFFFF"/>
              </a:solidFill>
              <a:latin typeface="Garet Bold"/>
              <a:ea typeface="Garet Bold"/>
            </a:endParaRPr>
          </a:p>
          <a:p>
            <a:pPr algn="l">
              <a:lnSpc>
                <a:spcPts val="2000"/>
              </a:lnSpc>
            </a:pPr>
            <a:endParaRPr lang="en-US" altLang="ko-KR" b="1" dirty="0">
              <a:solidFill>
                <a:srgbClr val="FFFFFF"/>
              </a:solidFill>
              <a:latin typeface="Garet Bold"/>
              <a:ea typeface="Garet Bold"/>
            </a:endParaRPr>
          </a:p>
          <a:p>
            <a:pPr algn="l">
              <a:lnSpc>
                <a:spcPts val="2000"/>
              </a:lnSpc>
            </a:pPr>
            <a:endParaRPr lang="ko-KR" b="1" dirty="0">
              <a:solidFill>
                <a:srgbClr val="FFFFFF"/>
              </a:solidFill>
              <a:latin typeface="Garet Bold"/>
              <a:ea typeface="Garet Bold"/>
            </a:endParaRPr>
          </a:p>
          <a:p>
            <a:pPr algn="l">
              <a:lnSpc>
                <a:spcPts val="2800"/>
              </a:lnSpc>
            </a:pPr>
            <a:r>
              <a:rPr lang="ko-KR" sz="3200" b="1" dirty="0">
                <a:solidFill>
                  <a:srgbClr val="FFFFFF"/>
                </a:solidFill>
                <a:latin typeface="Garet Bold"/>
                <a:ea typeface="Garet Bold"/>
              </a:rPr>
              <a:t>개봉시기</a:t>
            </a:r>
          </a:p>
          <a:p>
            <a:pPr algn="l">
              <a:lnSpc>
                <a:spcPts val="2000"/>
              </a:lnSpc>
            </a:pPr>
            <a:endParaRPr lang="en-US" altLang="ko-KR" sz="3200" b="1" dirty="0">
              <a:solidFill>
                <a:srgbClr val="FFFFFF"/>
              </a:solidFill>
              <a:latin typeface="Garet Bold"/>
              <a:ea typeface="Garet Bold"/>
            </a:endParaRPr>
          </a:p>
          <a:p>
            <a:pPr algn="l">
              <a:lnSpc>
                <a:spcPts val="2000"/>
              </a:lnSpc>
            </a:pPr>
            <a:endParaRPr lang="ko-KR" sz="3200" b="1" dirty="0">
              <a:solidFill>
                <a:srgbClr val="FFFFFF"/>
              </a:solidFill>
              <a:latin typeface="Garet Bold"/>
              <a:ea typeface="Garet Bold"/>
            </a:endParaRPr>
          </a:p>
          <a:p>
            <a:pPr algn="l">
              <a:lnSpc>
                <a:spcPts val="1800"/>
              </a:lnSpc>
            </a:pPr>
            <a:r>
              <a:rPr lang="ko-KR" dirty="0">
                <a:solidFill>
                  <a:srgbClr val="AAAAAA"/>
                </a:solidFill>
                <a:latin typeface="Garet"/>
                <a:ea typeface="Garet"/>
              </a:rPr>
              <a:t>3개 시기 구분</a:t>
            </a:r>
          </a:p>
          <a:p>
            <a:pPr algn="l">
              <a:lnSpc>
                <a:spcPts val="1800"/>
              </a:lnSpc>
            </a:pPr>
            <a:endParaRPr lang="en-US" altLang="ko-KR" dirty="0">
              <a:solidFill>
                <a:srgbClr val="AAAAAA"/>
              </a:solidFill>
              <a:latin typeface="Garet"/>
              <a:ea typeface="Garet"/>
            </a:endParaRPr>
          </a:p>
          <a:p>
            <a:pPr algn="l">
              <a:lnSpc>
                <a:spcPts val="1800"/>
              </a:lnSpc>
            </a:pPr>
            <a:r>
              <a:rPr lang="ko-KR" dirty="0" err="1">
                <a:solidFill>
                  <a:srgbClr val="AAAAAA"/>
                </a:solidFill>
                <a:latin typeface="Garet"/>
                <a:ea typeface="Garet"/>
              </a:rPr>
              <a:t>log</a:t>
            </a:r>
            <a:r>
              <a:rPr lang="ko-KR" dirty="0">
                <a:solidFill>
                  <a:srgbClr val="AAAAAA"/>
                </a:solidFill>
                <a:latin typeface="Garet"/>
                <a:ea typeface="Garet"/>
              </a:rPr>
              <a:t> scale 기준 비교</a:t>
            </a:r>
          </a:p>
          <a:p>
            <a:pPr algn="l">
              <a:lnSpc>
                <a:spcPts val="2000"/>
              </a:lnSpc>
            </a:pPr>
            <a:endParaRPr lang="en-US" altLang="ko-KR" dirty="0">
              <a:solidFill>
                <a:srgbClr val="AAAAAA"/>
              </a:solidFill>
              <a:latin typeface="Garet"/>
              <a:ea typeface="Garet"/>
            </a:endParaRPr>
          </a:p>
          <a:p>
            <a:pPr algn="l">
              <a:lnSpc>
                <a:spcPts val="2000"/>
              </a:lnSpc>
            </a:pPr>
            <a:endParaRPr lang="en-US" altLang="ko-KR" dirty="0">
              <a:solidFill>
                <a:srgbClr val="AAAAAA"/>
              </a:solidFill>
              <a:latin typeface="Garet"/>
              <a:ea typeface="Garet"/>
            </a:endParaRPr>
          </a:p>
          <a:p>
            <a:pPr algn="l">
              <a:lnSpc>
                <a:spcPts val="2000"/>
              </a:lnSpc>
            </a:pPr>
            <a:endParaRPr lang="ko-KR" dirty="0">
              <a:solidFill>
                <a:srgbClr val="AAAAAA"/>
              </a:solidFill>
              <a:latin typeface="Garet"/>
              <a:ea typeface="Garet"/>
            </a:endParaRPr>
          </a:p>
          <a:p>
            <a:pPr algn="l">
              <a:lnSpc>
                <a:spcPts val="2000"/>
              </a:lnSpc>
            </a:pPr>
            <a:r>
              <a:rPr lang="ko-KR" b="1" dirty="0">
                <a:solidFill>
                  <a:srgbClr val="FFFFFF"/>
                </a:solidFill>
                <a:latin typeface="Garet Bold"/>
                <a:ea typeface="Garet Bold"/>
              </a:rPr>
              <a:t>핵심 발견</a:t>
            </a:r>
          </a:p>
          <a:p>
            <a:pPr algn="l">
              <a:lnSpc>
                <a:spcPts val="2000"/>
              </a:lnSpc>
            </a:pPr>
            <a:endParaRPr lang="ko-KR" b="1" dirty="0">
              <a:solidFill>
                <a:srgbClr val="FFFFFF"/>
              </a:solidFill>
              <a:latin typeface="Garet Bold"/>
              <a:ea typeface="Garet Bold"/>
            </a:endParaRPr>
          </a:p>
          <a:p>
            <a:pPr>
              <a:lnSpc>
                <a:spcPts val="1900"/>
              </a:lnSpc>
            </a:pPr>
            <a:r>
              <a:rPr lang="ko-KR" dirty="0">
                <a:solidFill>
                  <a:schemeClr val="bg1">
                    <a:lumMod val="85000"/>
                  </a:schemeClr>
                </a:solidFill>
                <a:latin typeface="Garet"/>
                <a:ea typeface="Garet"/>
              </a:rPr>
              <a:t>▪ </a:t>
            </a:r>
            <a:r>
              <a:rPr lang="ko-KR" altLang="en-US" dirty="0">
                <a:solidFill>
                  <a:schemeClr val="bg1">
                    <a:lumMod val="85000"/>
                  </a:schemeClr>
                </a:solidFill>
              </a:rPr>
              <a:t> 연말 성수기 중앙값 최상위</a:t>
            </a:r>
            <a:endParaRPr lang="en-US" altLang="ko-KR" dirty="0">
              <a:solidFill>
                <a:schemeClr val="bg1">
                  <a:lumMod val="85000"/>
                </a:schemeClr>
              </a:solidFill>
            </a:endParaRPr>
          </a:p>
          <a:p>
            <a:pPr>
              <a:lnSpc>
                <a:spcPts val="1900"/>
              </a:lnSpc>
            </a:pPr>
            <a:br>
              <a:rPr lang="ko-KR" altLang="en-US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ko-KR" altLang="en-US" dirty="0">
                <a:solidFill>
                  <a:schemeClr val="bg1">
                    <a:lumMod val="85000"/>
                  </a:schemeClr>
                </a:solidFill>
              </a:rPr>
              <a:t>중앙값 </a:t>
            </a:r>
            <a:r>
              <a:rPr lang="en-US" altLang="ko-KR" dirty="0">
                <a:solidFill>
                  <a:schemeClr val="bg1">
                    <a:lumMod val="85000"/>
                  </a:schemeClr>
                </a:solidFill>
              </a:rPr>
              <a:t>$1.36M (</a:t>
            </a:r>
            <a:r>
              <a:rPr lang="ko-KR" altLang="en-US" dirty="0">
                <a:solidFill>
                  <a:schemeClr val="bg1">
                    <a:lumMod val="85000"/>
                  </a:schemeClr>
                </a:solidFill>
              </a:rPr>
              <a:t>약 </a:t>
            </a:r>
            <a:r>
              <a:rPr lang="en-US" altLang="ko-KR" dirty="0">
                <a:solidFill>
                  <a:schemeClr val="bg1">
                    <a:lumMod val="85000"/>
                  </a:schemeClr>
                </a:solidFill>
              </a:rPr>
              <a:t>16.7</a:t>
            </a:r>
            <a:r>
              <a:rPr lang="ko-KR" altLang="en-US" dirty="0">
                <a:solidFill>
                  <a:schemeClr val="bg1">
                    <a:lumMod val="85000"/>
                  </a:schemeClr>
                </a:solidFill>
              </a:rPr>
              <a:t>억 원</a:t>
            </a:r>
            <a:r>
              <a:rPr lang="en-US" altLang="ko-KR" dirty="0">
                <a:solidFill>
                  <a:schemeClr val="bg1">
                    <a:lumMod val="85000"/>
                  </a:schemeClr>
                </a:solidFill>
              </a:rPr>
              <a:t>)</a:t>
            </a:r>
          </a:p>
          <a:p>
            <a:pPr>
              <a:lnSpc>
                <a:spcPts val="1900"/>
              </a:lnSpc>
            </a:pPr>
            <a:endParaRPr lang="en-US" altLang="ko-KR" dirty="0">
              <a:solidFill>
                <a:schemeClr val="bg1">
                  <a:lumMod val="85000"/>
                </a:schemeClr>
              </a:solidFill>
              <a:latin typeface="Garet"/>
              <a:ea typeface="Garet"/>
            </a:endParaRPr>
          </a:p>
          <a:p>
            <a:pPr algn="l">
              <a:lnSpc>
                <a:spcPts val="2000"/>
              </a:lnSpc>
            </a:pPr>
            <a:endParaRPr lang="ko-KR" dirty="0">
              <a:solidFill>
                <a:schemeClr val="bg1">
                  <a:lumMod val="85000"/>
                </a:schemeClr>
              </a:solidFill>
              <a:latin typeface="Garet"/>
              <a:ea typeface="Garet"/>
            </a:endParaRPr>
          </a:p>
          <a:p>
            <a:pPr>
              <a:lnSpc>
                <a:spcPts val="1900"/>
              </a:lnSpc>
            </a:pPr>
            <a:r>
              <a:rPr lang="ko-KR" dirty="0">
                <a:solidFill>
                  <a:schemeClr val="bg1">
                    <a:lumMod val="85000"/>
                  </a:schemeClr>
                </a:solidFill>
                <a:latin typeface="Garet"/>
                <a:ea typeface="Garet"/>
              </a:rPr>
              <a:t>▪ </a:t>
            </a:r>
            <a:r>
              <a:rPr lang="ko-KR" altLang="en-US" dirty="0">
                <a:solidFill>
                  <a:schemeClr val="bg1">
                    <a:lumMod val="85000"/>
                  </a:schemeClr>
                </a:solidFill>
              </a:rPr>
              <a:t>여름 성수기와 일반기는 유사한 수준</a:t>
            </a:r>
            <a:endParaRPr lang="en-US" altLang="ko-KR" dirty="0">
              <a:solidFill>
                <a:schemeClr val="bg1">
                  <a:lumMod val="85000"/>
                </a:schemeClr>
              </a:solidFill>
            </a:endParaRPr>
          </a:p>
          <a:p>
            <a:pPr>
              <a:lnSpc>
                <a:spcPts val="1900"/>
              </a:lnSpc>
            </a:pPr>
            <a:br>
              <a:rPr lang="ko-KR" altLang="en-US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ko-KR" altLang="en-US" dirty="0">
                <a:solidFill>
                  <a:schemeClr val="bg1">
                    <a:lumMod val="85000"/>
                  </a:schemeClr>
                </a:solidFill>
              </a:rPr>
              <a:t>중앙값 </a:t>
            </a:r>
            <a:r>
              <a:rPr lang="en-US" altLang="ko-KR" dirty="0">
                <a:solidFill>
                  <a:schemeClr val="bg1">
                    <a:lumMod val="85000"/>
                  </a:schemeClr>
                </a:solidFill>
              </a:rPr>
              <a:t>$767K (</a:t>
            </a:r>
            <a:r>
              <a:rPr lang="ko-KR" altLang="en-US" dirty="0">
                <a:solidFill>
                  <a:schemeClr val="bg1">
                    <a:lumMod val="85000"/>
                  </a:schemeClr>
                </a:solidFill>
              </a:rPr>
              <a:t>약 </a:t>
            </a:r>
            <a:r>
              <a:rPr lang="en-US" altLang="ko-KR" dirty="0">
                <a:solidFill>
                  <a:schemeClr val="bg1">
                    <a:lumMod val="85000"/>
                  </a:schemeClr>
                </a:solidFill>
              </a:rPr>
              <a:t>9.4</a:t>
            </a:r>
            <a:r>
              <a:rPr lang="ko-KR" altLang="en-US" dirty="0">
                <a:solidFill>
                  <a:schemeClr val="bg1">
                    <a:lumMod val="85000"/>
                  </a:schemeClr>
                </a:solidFill>
              </a:rPr>
              <a:t>억 원</a:t>
            </a:r>
            <a:r>
              <a:rPr lang="en-US" altLang="ko-KR" dirty="0">
                <a:solidFill>
                  <a:schemeClr val="bg1">
                    <a:lumMod val="85000"/>
                  </a:schemeClr>
                </a:solidFill>
              </a:rPr>
              <a:t>), </a:t>
            </a:r>
          </a:p>
          <a:p>
            <a:pPr>
              <a:lnSpc>
                <a:spcPts val="1900"/>
              </a:lnSpc>
            </a:pPr>
            <a:r>
              <a:rPr lang="en-US" altLang="ko-KR" dirty="0">
                <a:solidFill>
                  <a:schemeClr val="bg1">
                    <a:lumMod val="85000"/>
                  </a:schemeClr>
                </a:solidFill>
              </a:rPr>
              <a:t>              $753K (</a:t>
            </a:r>
            <a:r>
              <a:rPr lang="ko-KR" altLang="en-US" dirty="0">
                <a:solidFill>
                  <a:schemeClr val="bg1">
                    <a:lumMod val="85000"/>
                  </a:schemeClr>
                </a:solidFill>
              </a:rPr>
              <a:t>약 </a:t>
            </a:r>
            <a:r>
              <a:rPr lang="en-US" altLang="ko-KR" dirty="0">
                <a:solidFill>
                  <a:schemeClr val="bg1">
                    <a:lumMod val="85000"/>
                  </a:schemeClr>
                </a:solidFill>
              </a:rPr>
              <a:t>9.2</a:t>
            </a:r>
            <a:r>
              <a:rPr lang="ko-KR" altLang="en-US" dirty="0">
                <a:solidFill>
                  <a:schemeClr val="bg1">
                    <a:lumMod val="85000"/>
                  </a:schemeClr>
                </a:solidFill>
              </a:rPr>
              <a:t>억 원</a:t>
            </a:r>
            <a:r>
              <a:rPr lang="en-US" altLang="ko-KR" dirty="0">
                <a:solidFill>
                  <a:schemeClr val="bg1">
                    <a:lumMod val="85000"/>
                  </a:schemeClr>
                </a:solidFill>
              </a:rPr>
              <a:t>)</a:t>
            </a:r>
            <a:endParaRPr lang="en-US" altLang="ko-KR" dirty="0">
              <a:solidFill>
                <a:schemeClr val="bg1">
                  <a:lumMod val="85000"/>
                </a:schemeClr>
              </a:solidFill>
              <a:latin typeface="Garet"/>
              <a:ea typeface="Garet"/>
            </a:endParaRPr>
          </a:p>
          <a:p>
            <a:pPr algn="l">
              <a:lnSpc>
                <a:spcPts val="1900"/>
              </a:lnSpc>
            </a:pPr>
            <a:endParaRPr lang="en-US" altLang="ko-KR" dirty="0">
              <a:solidFill>
                <a:schemeClr val="bg1">
                  <a:lumMod val="85000"/>
                </a:schemeClr>
              </a:solidFill>
              <a:latin typeface="Garet"/>
              <a:ea typeface="Garet"/>
            </a:endParaRPr>
          </a:p>
          <a:p>
            <a:pPr algn="l">
              <a:lnSpc>
                <a:spcPts val="1900"/>
              </a:lnSpc>
            </a:pPr>
            <a:endParaRPr lang="ko-KR" dirty="0">
              <a:solidFill>
                <a:schemeClr val="bg1">
                  <a:lumMod val="85000"/>
                </a:schemeClr>
              </a:solidFill>
              <a:latin typeface="Garet"/>
              <a:ea typeface="Garet"/>
            </a:endParaRPr>
          </a:p>
          <a:p>
            <a:pPr algn="l">
              <a:lnSpc>
                <a:spcPts val="1900"/>
              </a:lnSpc>
            </a:pPr>
            <a:r>
              <a:rPr lang="ko-KR" dirty="0">
                <a:solidFill>
                  <a:schemeClr val="bg1">
                    <a:lumMod val="85000"/>
                  </a:schemeClr>
                </a:solidFill>
                <a:latin typeface="Garet"/>
                <a:ea typeface="Garet"/>
              </a:rPr>
              <a:t>▪ 일반기</a:t>
            </a:r>
          </a:p>
          <a:p>
            <a:pPr algn="l">
              <a:lnSpc>
                <a:spcPts val="1900"/>
              </a:lnSpc>
            </a:pPr>
            <a:endParaRPr lang="en-US" altLang="ko-KR" dirty="0">
              <a:solidFill>
                <a:schemeClr val="bg1">
                  <a:lumMod val="85000"/>
                </a:schemeClr>
              </a:solidFill>
              <a:latin typeface="Garet"/>
              <a:ea typeface="Garet"/>
            </a:endParaRPr>
          </a:p>
          <a:p>
            <a:pPr algn="l">
              <a:lnSpc>
                <a:spcPts val="1900"/>
              </a:lnSpc>
            </a:pPr>
            <a:r>
              <a:rPr lang="ko-KR" dirty="0">
                <a:solidFill>
                  <a:schemeClr val="bg1">
                    <a:lumMod val="85000"/>
                  </a:schemeClr>
                </a:solidFill>
                <a:latin typeface="Garet"/>
                <a:ea typeface="Garet"/>
              </a:rPr>
              <a:t>  $753K (</a:t>
            </a:r>
            <a:r>
              <a:rPr lang="ko-KR" altLang="en-US" dirty="0">
                <a:solidFill>
                  <a:schemeClr val="bg1">
                    <a:lumMod val="85000"/>
                  </a:schemeClr>
                </a:solidFill>
                <a:latin typeface="Garet"/>
                <a:ea typeface="Garet"/>
              </a:rPr>
              <a:t>약 </a:t>
            </a:r>
            <a:r>
              <a:rPr lang="en-US" altLang="ko-KR" dirty="0">
                <a:solidFill>
                  <a:schemeClr val="bg1">
                    <a:lumMod val="85000"/>
                  </a:schemeClr>
                </a:solidFill>
                <a:latin typeface="Garet"/>
                <a:ea typeface="Garet"/>
              </a:rPr>
              <a:t>9.2</a:t>
            </a:r>
            <a:r>
              <a:rPr lang="ko-KR" altLang="en-US" dirty="0">
                <a:solidFill>
                  <a:schemeClr val="bg1">
                    <a:lumMod val="85000"/>
                  </a:schemeClr>
                </a:solidFill>
                <a:latin typeface="Garet"/>
                <a:ea typeface="Garet"/>
              </a:rPr>
              <a:t>억</a:t>
            </a:r>
            <a:r>
              <a:rPr lang="ko-KR" dirty="0">
                <a:solidFill>
                  <a:schemeClr val="bg1">
                    <a:lumMod val="85000"/>
                  </a:schemeClr>
                </a:solidFill>
                <a:latin typeface="Garet"/>
                <a:ea typeface="Garet"/>
              </a:rPr>
              <a:t>)</a:t>
            </a:r>
            <a:endParaRPr lang="en-US" altLang="ko-KR" dirty="0">
              <a:solidFill>
                <a:schemeClr val="bg1">
                  <a:lumMod val="85000"/>
                </a:schemeClr>
              </a:solidFill>
              <a:latin typeface="Garet"/>
              <a:ea typeface="Garet"/>
            </a:endParaRPr>
          </a:p>
          <a:p>
            <a:pPr algn="l">
              <a:lnSpc>
                <a:spcPts val="1900"/>
              </a:lnSpc>
            </a:pPr>
            <a:endParaRPr lang="en-US" altLang="ko-KR" dirty="0">
              <a:solidFill>
                <a:schemeClr val="bg1">
                  <a:lumMod val="85000"/>
                </a:schemeClr>
              </a:solidFill>
              <a:latin typeface="Garet"/>
              <a:ea typeface="Garet"/>
            </a:endParaRPr>
          </a:p>
          <a:p>
            <a:pPr algn="l">
              <a:lnSpc>
                <a:spcPts val="1900"/>
              </a:lnSpc>
            </a:pPr>
            <a:endParaRPr lang="en-US" altLang="ko-KR" dirty="0">
              <a:solidFill>
                <a:schemeClr val="bg1">
                  <a:lumMod val="85000"/>
                </a:schemeClr>
              </a:solidFill>
              <a:latin typeface="Garet"/>
              <a:ea typeface="Garet"/>
            </a:endParaRPr>
          </a:p>
          <a:p>
            <a:pPr>
              <a:lnSpc>
                <a:spcPts val="1900"/>
              </a:lnSpc>
            </a:pPr>
            <a:r>
              <a:rPr lang="ko-KR" altLang="en-US" dirty="0">
                <a:solidFill>
                  <a:schemeClr val="bg1">
                    <a:lumMod val="85000"/>
                  </a:schemeClr>
                </a:solidFill>
              </a:rPr>
              <a:t>▪ 시즌 효과 확인</a:t>
            </a:r>
            <a:br>
              <a:rPr lang="ko-KR" altLang="en-US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ko-KR" altLang="en-US" dirty="0">
                <a:solidFill>
                  <a:schemeClr val="bg1">
                    <a:lumMod val="85000"/>
                  </a:schemeClr>
                </a:solidFill>
              </a:rPr>
              <a:t>연말 성수기에서 상대적으로 높은 흥행 분포</a:t>
            </a:r>
            <a:endParaRPr lang="ko-KR" dirty="0">
              <a:solidFill>
                <a:schemeClr val="bg1">
                  <a:lumMod val="85000"/>
                </a:schemeClr>
              </a:solidFill>
              <a:latin typeface="Garet"/>
              <a:ea typeface="Garet"/>
            </a:endParaRPr>
          </a:p>
        </p:txBody>
      </p:sp>
      <p:sp>
        <p:nvSpPr>
          <p:cNvPr id="13" name="img_bg"/>
          <p:cNvSpPr>
            <a:spLocks noGrp="1"/>
          </p:cNvSpPr>
          <p:nvPr/>
        </p:nvSpPr>
        <p:spPr>
          <a:xfrm>
            <a:off x="4572000" y="1117600"/>
            <a:ext cx="13716000" cy="8382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91440" tIns="45720" rIns="91440" bIns="45720"/>
          <a:lstStyle/>
          <a:p>
            <a:endParaRPr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1B96554-4A52-2532-2BB8-A88E94172B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8055" y="1544890"/>
            <a:ext cx="13734128" cy="796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9108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g"/>
          <p:cNvSpPr>
            <a:spLocks noGrp="1"/>
          </p:cNvSpPr>
          <p:nvPr/>
        </p:nvSpPr>
        <p:spPr>
          <a:xfrm>
            <a:off x="24245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4300" tIns="91440" rIns="114300" bIns="91440"/>
          <a:lstStyle/>
          <a:p>
            <a:endParaRPr dirty="0"/>
          </a:p>
        </p:txBody>
      </p:sp>
      <p:sp>
        <p:nvSpPr>
          <p:cNvPr id="11" name="titlebar"/>
          <p:cNvSpPr>
            <a:spLocks noGrp="1"/>
          </p:cNvSpPr>
          <p:nvPr/>
        </p:nvSpPr>
        <p:spPr>
          <a:xfrm>
            <a:off x="0" y="0"/>
            <a:ext cx="18288000" cy="1117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wrap="square" lIns="762000" tIns="91440" rIns="114300" bIns="91440" anchor="ctr"/>
          <a:lstStyle/>
          <a:p>
            <a:pPr algn="l">
              <a:lnSpc>
                <a:spcPts val="3400"/>
              </a:lnSpc>
            </a:pPr>
            <a:r>
              <a:rPr lang="ko-KR" sz="4000" b="1" dirty="0">
                <a:solidFill>
                  <a:srgbClr val="FFFFFF"/>
                </a:solidFill>
                <a:latin typeface="Garet Bold"/>
                <a:ea typeface="Garet Bold"/>
              </a:rPr>
              <a:t>개봉시기별 흥행수익 — 결과 해석</a:t>
            </a:r>
          </a:p>
        </p:txBody>
      </p:sp>
      <p:sp>
        <p:nvSpPr>
          <p:cNvPr id="20" name="timing_0"/>
          <p:cNvSpPr>
            <a:spLocks noGrp="1"/>
          </p:cNvSpPr>
          <p:nvPr/>
        </p:nvSpPr>
        <p:spPr>
          <a:xfrm>
            <a:off x="1270000" y="2070100"/>
            <a:ext cx="5080000" cy="3556000"/>
          </a:xfrm>
          <a:prstGeom prst="rect">
            <a:avLst/>
          </a:prstGeom>
          <a:solidFill>
            <a:srgbClr val="2E5C3A"/>
          </a:solidFill>
          <a:ln>
            <a:noFill/>
          </a:ln>
        </p:spPr>
        <p:txBody>
          <a:bodyPr wrap="square" lIns="114300" tIns="91440" rIns="114300" bIns="91440"/>
          <a:lstStyle/>
          <a:p>
            <a:pPr algn="l">
              <a:lnSpc>
                <a:spcPts val="2400"/>
              </a:lnSpc>
            </a:pPr>
            <a:endParaRPr lang="en-US" altLang="ko-KR" sz="2800" b="1" dirty="0">
              <a:solidFill>
                <a:srgbClr val="FFFFFF"/>
              </a:solidFill>
              <a:latin typeface="Garet Bold"/>
              <a:ea typeface="Garet Bold"/>
            </a:endParaRPr>
          </a:p>
          <a:p>
            <a:pPr algn="l">
              <a:lnSpc>
                <a:spcPts val="2400"/>
              </a:lnSpc>
            </a:pPr>
            <a:r>
              <a:rPr lang="ko-KR" sz="2800" b="1" dirty="0">
                <a:solidFill>
                  <a:srgbClr val="FFFFFF"/>
                </a:solidFill>
                <a:latin typeface="Garet Bold"/>
                <a:ea typeface="Garet Bold"/>
              </a:rPr>
              <a:t>연말 성수기</a:t>
            </a:r>
            <a:endParaRPr lang="ko-KR" sz="1000" b="1" dirty="0">
              <a:solidFill>
                <a:srgbClr val="FFFFFF"/>
              </a:solidFill>
              <a:latin typeface="Garet Bold"/>
              <a:ea typeface="Garet Bold"/>
            </a:endParaRPr>
          </a:p>
          <a:p>
            <a:pPr algn="l">
              <a:lnSpc>
                <a:spcPts val="1800"/>
              </a:lnSpc>
            </a:pPr>
            <a:r>
              <a:rPr lang="ko-KR" sz="1800" dirty="0">
                <a:solidFill>
                  <a:srgbClr val="BBBBBB"/>
                </a:solidFill>
                <a:latin typeface="Garet"/>
                <a:ea typeface="Garet"/>
              </a:rPr>
              <a:t>11~12월</a:t>
            </a:r>
          </a:p>
          <a:p>
            <a:pPr>
              <a:lnSpc>
                <a:spcPts val="700"/>
              </a:lnSpc>
            </a:pPr>
            <a:endParaRPr lang="en-US" dirty="0"/>
          </a:p>
          <a:p>
            <a:pPr>
              <a:lnSpc>
                <a:spcPts val="700"/>
              </a:lnSpc>
            </a:pPr>
            <a:endParaRPr dirty="0"/>
          </a:p>
          <a:p>
            <a:pPr>
              <a:lnSpc>
                <a:spcPts val="700"/>
              </a:lnSpc>
            </a:pPr>
            <a:endParaRPr dirty="0"/>
          </a:p>
          <a:p>
            <a:pPr algn="l">
              <a:lnSpc>
                <a:spcPts val="1800"/>
              </a:lnSpc>
            </a:pPr>
            <a:r>
              <a:rPr lang="ko-KR" sz="1800" dirty="0">
                <a:solidFill>
                  <a:srgbClr val="AAAAAA"/>
                </a:solidFill>
                <a:latin typeface="Garet"/>
                <a:ea typeface="Garet"/>
              </a:rPr>
              <a:t>중앙값</a:t>
            </a:r>
            <a:endParaRPr lang="en-US" altLang="ko-KR" sz="1800" dirty="0">
              <a:solidFill>
                <a:srgbClr val="AAAAAA"/>
              </a:solidFill>
              <a:latin typeface="Garet"/>
              <a:ea typeface="Garet"/>
            </a:endParaRPr>
          </a:p>
          <a:p>
            <a:pPr algn="l">
              <a:lnSpc>
                <a:spcPts val="1800"/>
              </a:lnSpc>
            </a:pPr>
            <a:endParaRPr lang="ko-KR" sz="1800" dirty="0">
              <a:solidFill>
                <a:srgbClr val="AAAAAA"/>
              </a:solidFill>
              <a:latin typeface="Garet"/>
              <a:ea typeface="Garet"/>
            </a:endParaRPr>
          </a:p>
          <a:p>
            <a:pPr>
              <a:lnSpc>
                <a:spcPts val="2800"/>
              </a:lnSpc>
            </a:pPr>
            <a:r>
              <a:rPr lang="ko-KR" sz="3200" b="1" dirty="0">
                <a:solidFill>
                  <a:srgbClr val="FFFFFF"/>
                </a:solidFill>
                <a:latin typeface="Garet Bold"/>
                <a:ea typeface="Garet Bold"/>
              </a:rPr>
              <a:t>$1,358,652</a:t>
            </a:r>
            <a:r>
              <a:rPr lang="en-US" altLang="ko-KR" sz="3200" b="1" dirty="0">
                <a:solidFill>
                  <a:srgbClr val="FFFFFF"/>
                </a:solidFill>
                <a:latin typeface="Garet Bold"/>
                <a:ea typeface="Garet Bold"/>
              </a:rPr>
              <a:t> </a:t>
            </a:r>
            <a:r>
              <a:rPr lang="en-US" altLang="ko-KR" sz="2000" dirty="0">
                <a:solidFill>
                  <a:schemeClr val="bg1">
                    <a:lumMod val="85000"/>
                  </a:schemeClr>
                </a:solidFill>
              </a:rPr>
              <a:t>(</a:t>
            </a:r>
            <a:r>
              <a:rPr lang="ko-KR" altLang="en-US" sz="2000" dirty="0">
                <a:solidFill>
                  <a:schemeClr val="bg1">
                    <a:lumMod val="85000"/>
                  </a:schemeClr>
                </a:solidFill>
              </a:rPr>
              <a:t>약 </a:t>
            </a:r>
            <a:r>
              <a:rPr lang="en-US" altLang="ko-KR" sz="2000" dirty="0">
                <a:solidFill>
                  <a:schemeClr val="bg1">
                    <a:lumMod val="85000"/>
                  </a:schemeClr>
                </a:solidFill>
              </a:rPr>
              <a:t>16.7</a:t>
            </a:r>
            <a:r>
              <a:rPr lang="ko-KR" altLang="en-US" sz="2000" dirty="0">
                <a:solidFill>
                  <a:schemeClr val="bg1">
                    <a:lumMod val="85000"/>
                  </a:schemeClr>
                </a:solidFill>
              </a:rPr>
              <a:t>억 원</a:t>
            </a:r>
            <a:r>
              <a:rPr lang="en-US" altLang="ko-KR" sz="2000" dirty="0">
                <a:solidFill>
                  <a:schemeClr val="bg1">
                    <a:lumMod val="85000"/>
                  </a:schemeClr>
                </a:solidFill>
              </a:rPr>
              <a:t>)</a:t>
            </a:r>
            <a:endParaRPr lang="ko-KR" sz="3200" b="1" dirty="0">
              <a:solidFill>
                <a:schemeClr val="bg1">
                  <a:lumMod val="85000"/>
                </a:schemeClr>
              </a:solidFill>
              <a:latin typeface="Garet Bold"/>
              <a:ea typeface="Garet Bold"/>
            </a:endParaRPr>
          </a:p>
          <a:p>
            <a:pPr>
              <a:lnSpc>
                <a:spcPts val="700"/>
              </a:lnSpc>
            </a:pPr>
            <a:endParaRPr dirty="0"/>
          </a:p>
          <a:p>
            <a:pPr algn="l">
              <a:lnSpc>
                <a:spcPts val="1800"/>
              </a:lnSpc>
            </a:pPr>
            <a:r>
              <a:rPr lang="ko-KR" sz="1800" dirty="0">
                <a:solidFill>
                  <a:srgbClr val="AAAAAA"/>
                </a:solidFill>
                <a:latin typeface="Garet"/>
                <a:ea typeface="Garet"/>
              </a:rPr>
              <a:t>편수: 1,012편</a:t>
            </a:r>
            <a:endParaRPr lang="en-US" altLang="ko-KR" sz="1800" dirty="0">
              <a:solidFill>
                <a:srgbClr val="AAAAAA"/>
              </a:solidFill>
              <a:latin typeface="Garet"/>
              <a:ea typeface="Garet"/>
            </a:endParaRPr>
          </a:p>
          <a:p>
            <a:pPr algn="l">
              <a:lnSpc>
                <a:spcPts val="1800"/>
              </a:lnSpc>
            </a:pPr>
            <a:endParaRPr sz="2000" dirty="0"/>
          </a:p>
          <a:p>
            <a:r>
              <a:rPr lang="ko-KR" altLang="en-US" sz="2000" dirty="0">
                <a:solidFill>
                  <a:schemeClr val="bg1">
                    <a:lumMod val="85000"/>
                  </a:schemeClr>
                </a:solidFill>
              </a:rPr>
              <a:t>추수감사절</a:t>
            </a:r>
            <a:r>
              <a:rPr lang="en-US" altLang="ko-KR" sz="2000" dirty="0">
                <a:solidFill>
                  <a:schemeClr val="bg1">
                    <a:lumMod val="85000"/>
                  </a:schemeClr>
                </a:solidFill>
              </a:rPr>
              <a:t>, </a:t>
            </a:r>
            <a:r>
              <a:rPr lang="ko-KR" altLang="en-US" sz="2000" dirty="0">
                <a:solidFill>
                  <a:schemeClr val="bg1">
                    <a:lumMod val="85000"/>
                  </a:schemeClr>
                </a:solidFill>
              </a:rPr>
              <a:t>크리스마스</a:t>
            </a:r>
            <a:r>
              <a:rPr lang="en-US" altLang="ko-KR" sz="2000" dirty="0">
                <a:solidFill>
                  <a:schemeClr val="bg1">
                    <a:lumMod val="85000"/>
                  </a:schemeClr>
                </a:solidFill>
              </a:rPr>
              <a:t>, </a:t>
            </a:r>
            <a:r>
              <a:rPr lang="ko-KR" altLang="en-US" sz="2000" dirty="0">
                <a:solidFill>
                  <a:schemeClr val="bg1">
                    <a:lumMod val="85000"/>
                  </a:schemeClr>
                </a:solidFill>
              </a:rPr>
              <a:t>연말 연휴가 포함</a:t>
            </a:r>
            <a:br>
              <a:rPr lang="ko-KR" altLang="en-US" sz="20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ko-KR" altLang="en-US" sz="2000" dirty="0">
                <a:solidFill>
                  <a:schemeClr val="bg1">
                    <a:lumMod val="85000"/>
                  </a:schemeClr>
                </a:solidFill>
              </a:rPr>
              <a:t>가족 관람 수요와 대작 개봉이 집중</a:t>
            </a:r>
            <a:endParaRPr lang="en-US" altLang="ko-KR" sz="20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ko-KR" altLang="en-US" sz="2000" dirty="0">
                <a:solidFill>
                  <a:schemeClr val="bg1">
                    <a:lumMod val="85000"/>
                  </a:schemeClr>
                </a:solidFill>
              </a:rPr>
              <a:t>중앙값이 가장 높게 나타남</a:t>
            </a:r>
            <a:endParaRPr lang="ko-KR" sz="2000" dirty="0">
              <a:solidFill>
                <a:schemeClr val="bg1">
                  <a:lumMod val="85000"/>
                </a:schemeClr>
              </a:solidFill>
              <a:latin typeface="Garet"/>
              <a:ea typeface="Garet"/>
            </a:endParaRPr>
          </a:p>
        </p:txBody>
      </p:sp>
      <p:sp>
        <p:nvSpPr>
          <p:cNvPr id="21" name="timing_1"/>
          <p:cNvSpPr>
            <a:spLocks noGrp="1"/>
          </p:cNvSpPr>
          <p:nvPr/>
        </p:nvSpPr>
        <p:spPr>
          <a:xfrm>
            <a:off x="6731000" y="2070100"/>
            <a:ext cx="5080000" cy="3556000"/>
          </a:xfrm>
          <a:prstGeom prst="rect">
            <a:avLst/>
          </a:prstGeom>
          <a:solidFill>
            <a:srgbClr val="5C4A1E"/>
          </a:solidFill>
          <a:ln>
            <a:noFill/>
          </a:ln>
        </p:spPr>
        <p:txBody>
          <a:bodyPr wrap="square" lIns="114300" tIns="91440" rIns="114300" bIns="91440"/>
          <a:lstStyle/>
          <a:p>
            <a:pPr algn="l">
              <a:lnSpc>
                <a:spcPts val="2400"/>
              </a:lnSpc>
            </a:pPr>
            <a:endParaRPr lang="en-US" altLang="ko-KR" sz="2800" b="1" dirty="0">
              <a:solidFill>
                <a:srgbClr val="FFFFFF"/>
              </a:solidFill>
              <a:latin typeface="Garet Bold"/>
              <a:ea typeface="Garet Bold"/>
            </a:endParaRPr>
          </a:p>
          <a:p>
            <a:pPr algn="l">
              <a:lnSpc>
                <a:spcPts val="2400"/>
              </a:lnSpc>
            </a:pPr>
            <a:r>
              <a:rPr lang="ko-KR" sz="2800" b="1" dirty="0">
                <a:solidFill>
                  <a:srgbClr val="FFFFFF"/>
                </a:solidFill>
                <a:latin typeface="Garet Bold"/>
                <a:ea typeface="Garet Bold"/>
              </a:rPr>
              <a:t>여름 성수기</a:t>
            </a:r>
          </a:p>
          <a:p>
            <a:pPr algn="l">
              <a:lnSpc>
                <a:spcPts val="1800"/>
              </a:lnSpc>
            </a:pPr>
            <a:r>
              <a:rPr lang="ko-KR" sz="1800" dirty="0">
                <a:solidFill>
                  <a:srgbClr val="BBBBBB"/>
                </a:solidFill>
                <a:latin typeface="Garet"/>
                <a:ea typeface="Garet"/>
              </a:rPr>
              <a:t>5~8월</a:t>
            </a:r>
          </a:p>
          <a:p>
            <a:pPr>
              <a:lnSpc>
                <a:spcPts val="700"/>
              </a:lnSpc>
            </a:pPr>
            <a:endParaRPr lang="en-US" dirty="0"/>
          </a:p>
          <a:p>
            <a:pPr>
              <a:lnSpc>
                <a:spcPts val="700"/>
              </a:lnSpc>
            </a:pPr>
            <a:endParaRPr dirty="0"/>
          </a:p>
          <a:p>
            <a:pPr>
              <a:lnSpc>
                <a:spcPts val="700"/>
              </a:lnSpc>
            </a:pPr>
            <a:endParaRPr dirty="0"/>
          </a:p>
          <a:p>
            <a:pPr algn="l">
              <a:lnSpc>
                <a:spcPts val="1800"/>
              </a:lnSpc>
            </a:pPr>
            <a:r>
              <a:rPr lang="ko-KR" sz="1800" dirty="0">
                <a:solidFill>
                  <a:srgbClr val="AAAAAA"/>
                </a:solidFill>
                <a:latin typeface="Garet"/>
                <a:ea typeface="Garet"/>
              </a:rPr>
              <a:t>중앙값</a:t>
            </a:r>
            <a:endParaRPr lang="en-US" altLang="ko-KR" sz="1800" dirty="0">
              <a:solidFill>
                <a:srgbClr val="AAAAAA"/>
              </a:solidFill>
              <a:latin typeface="Garet"/>
              <a:ea typeface="Garet"/>
            </a:endParaRPr>
          </a:p>
          <a:p>
            <a:pPr algn="l">
              <a:lnSpc>
                <a:spcPts val="1800"/>
              </a:lnSpc>
            </a:pPr>
            <a:endParaRPr lang="ko-KR" sz="1800" dirty="0">
              <a:solidFill>
                <a:srgbClr val="AAAAAA"/>
              </a:solidFill>
              <a:latin typeface="Garet"/>
              <a:ea typeface="Garet"/>
            </a:endParaRPr>
          </a:p>
          <a:p>
            <a:pPr>
              <a:lnSpc>
                <a:spcPts val="2800"/>
              </a:lnSpc>
            </a:pPr>
            <a:r>
              <a:rPr lang="ko-KR" sz="3200" b="1" dirty="0">
                <a:solidFill>
                  <a:srgbClr val="FFFFFF"/>
                </a:solidFill>
                <a:latin typeface="Garet Bold"/>
                <a:ea typeface="Garet Bold"/>
              </a:rPr>
              <a:t>$766,567</a:t>
            </a:r>
            <a:r>
              <a:rPr lang="en-US" altLang="ko-KR" sz="3200" b="1" dirty="0">
                <a:solidFill>
                  <a:srgbClr val="FFFFFF"/>
                </a:solidFill>
                <a:latin typeface="Garet Bold"/>
                <a:ea typeface="Garet Bold"/>
              </a:rPr>
              <a:t> </a:t>
            </a:r>
            <a:r>
              <a:rPr lang="en-US" altLang="ko-KR" dirty="0">
                <a:solidFill>
                  <a:schemeClr val="bg1">
                    <a:lumMod val="85000"/>
                  </a:schemeClr>
                </a:solidFill>
              </a:rPr>
              <a:t>(</a:t>
            </a:r>
            <a:r>
              <a:rPr lang="ko-KR" altLang="en-US" dirty="0">
                <a:solidFill>
                  <a:schemeClr val="bg1">
                    <a:lumMod val="85000"/>
                  </a:schemeClr>
                </a:solidFill>
              </a:rPr>
              <a:t>약 </a:t>
            </a:r>
            <a:r>
              <a:rPr lang="en-US" altLang="ko-KR" dirty="0">
                <a:solidFill>
                  <a:schemeClr val="bg1">
                    <a:lumMod val="85000"/>
                  </a:schemeClr>
                </a:solidFill>
              </a:rPr>
              <a:t>9.4</a:t>
            </a:r>
            <a:r>
              <a:rPr lang="ko-KR" altLang="en-US" dirty="0">
                <a:solidFill>
                  <a:schemeClr val="bg1">
                    <a:lumMod val="85000"/>
                  </a:schemeClr>
                </a:solidFill>
              </a:rPr>
              <a:t>억 원</a:t>
            </a:r>
            <a:r>
              <a:rPr lang="en-US" altLang="ko-KR" dirty="0">
                <a:solidFill>
                  <a:schemeClr val="bg1">
                    <a:lumMod val="85000"/>
                  </a:schemeClr>
                </a:solidFill>
              </a:rPr>
              <a:t>)</a:t>
            </a:r>
            <a:endParaRPr lang="ko-KR" sz="3200" b="1" dirty="0">
              <a:solidFill>
                <a:schemeClr val="bg1">
                  <a:lumMod val="85000"/>
                </a:schemeClr>
              </a:solidFill>
              <a:latin typeface="Garet Bold"/>
              <a:ea typeface="Garet Bold"/>
            </a:endParaRPr>
          </a:p>
          <a:p>
            <a:pPr>
              <a:lnSpc>
                <a:spcPts val="700"/>
              </a:lnSpc>
            </a:pPr>
            <a:endParaRPr dirty="0"/>
          </a:p>
          <a:p>
            <a:pPr algn="l">
              <a:lnSpc>
                <a:spcPts val="1800"/>
              </a:lnSpc>
            </a:pPr>
            <a:r>
              <a:rPr lang="ko-KR" sz="1800" dirty="0">
                <a:solidFill>
                  <a:srgbClr val="AAAAAA"/>
                </a:solidFill>
                <a:latin typeface="Garet"/>
                <a:ea typeface="Garet"/>
              </a:rPr>
              <a:t>편수: 2,122편</a:t>
            </a:r>
          </a:p>
          <a:p>
            <a:pPr>
              <a:lnSpc>
                <a:spcPts val="700"/>
              </a:lnSpc>
            </a:pPr>
            <a:endParaRPr dirty="0"/>
          </a:p>
          <a:p>
            <a:pPr>
              <a:lnSpc>
                <a:spcPts val="700"/>
              </a:lnSpc>
            </a:pPr>
            <a:endParaRPr dirty="0"/>
          </a:p>
          <a:p>
            <a:r>
              <a:rPr lang="ko-KR" altLang="en-US" sz="2000" dirty="0">
                <a:solidFill>
                  <a:schemeClr val="bg1">
                    <a:lumMod val="85000"/>
                  </a:schemeClr>
                </a:solidFill>
              </a:rPr>
              <a:t>여름방학과 휴가 시즌이 포함된 흥행 시기</a:t>
            </a:r>
            <a:br>
              <a:rPr lang="ko-KR" altLang="en-US" sz="20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ko-KR" altLang="en-US" sz="2000" dirty="0">
                <a:solidFill>
                  <a:schemeClr val="bg1">
                    <a:lumMod val="85000"/>
                  </a:schemeClr>
                </a:solidFill>
              </a:rPr>
              <a:t>대작 개봉이 많지만 </a:t>
            </a:r>
            <a:r>
              <a:rPr lang="ko-KR" altLang="en-US" sz="2000" dirty="0" err="1">
                <a:solidFill>
                  <a:schemeClr val="bg1">
                    <a:lumMod val="85000"/>
                  </a:schemeClr>
                </a:solidFill>
              </a:rPr>
              <a:t>경쟁작도</a:t>
            </a:r>
            <a:r>
              <a:rPr lang="ko-KR" altLang="en-US" sz="2000" dirty="0">
                <a:solidFill>
                  <a:schemeClr val="bg1">
                    <a:lumMod val="85000"/>
                  </a:schemeClr>
                </a:solidFill>
              </a:rPr>
              <a:t> 많아 중앙값은 연말 성수기보다 낮게 나타남</a:t>
            </a:r>
            <a:endParaRPr lang="ko-KR" sz="2000" dirty="0">
              <a:solidFill>
                <a:schemeClr val="bg1">
                  <a:lumMod val="85000"/>
                </a:schemeClr>
              </a:solidFill>
              <a:latin typeface="Garet"/>
              <a:ea typeface="Garet"/>
            </a:endParaRPr>
          </a:p>
        </p:txBody>
      </p:sp>
      <p:sp>
        <p:nvSpPr>
          <p:cNvPr id="22" name="timing_2"/>
          <p:cNvSpPr>
            <a:spLocks noGrp="1"/>
          </p:cNvSpPr>
          <p:nvPr/>
        </p:nvSpPr>
        <p:spPr>
          <a:xfrm>
            <a:off x="12192000" y="2070100"/>
            <a:ext cx="5080000" cy="355600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txBody>
          <a:bodyPr wrap="square" lIns="114300" tIns="91440" rIns="114300" bIns="91440"/>
          <a:lstStyle/>
          <a:p>
            <a:pPr algn="l">
              <a:lnSpc>
                <a:spcPts val="2400"/>
              </a:lnSpc>
            </a:pPr>
            <a:endParaRPr lang="en-US" altLang="ko-KR" sz="2800" b="1" dirty="0">
              <a:solidFill>
                <a:srgbClr val="FFFFFF"/>
              </a:solidFill>
              <a:latin typeface="Garet Bold"/>
              <a:ea typeface="Garet Bold"/>
            </a:endParaRPr>
          </a:p>
          <a:p>
            <a:pPr algn="l">
              <a:lnSpc>
                <a:spcPts val="2400"/>
              </a:lnSpc>
            </a:pPr>
            <a:r>
              <a:rPr lang="ko-KR" sz="2800" b="1" dirty="0" err="1">
                <a:solidFill>
                  <a:srgbClr val="FFFFFF"/>
                </a:solidFill>
                <a:latin typeface="Garet Bold"/>
                <a:ea typeface="Garet Bold"/>
              </a:rPr>
              <a:t>일반기</a:t>
            </a:r>
            <a:endParaRPr lang="ko-KR" sz="2800" b="1" dirty="0">
              <a:solidFill>
                <a:srgbClr val="FFFFFF"/>
              </a:solidFill>
              <a:latin typeface="Garet Bold"/>
              <a:ea typeface="Garet Bold"/>
            </a:endParaRPr>
          </a:p>
          <a:p>
            <a:pPr algn="l">
              <a:lnSpc>
                <a:spcPts val="1800"/>
              </a:lnSpc>
            </a:pPr>
            <a:r>
              <a:rPr lang="ko-KR" sz="1800" dirty="0">
                <a:solidFill>
                  <a:srgbClr val="BBBBBB"/>
                </a:solidFill>
                <a:latin typeface="Garet"/>
                <a:ea typeface="Garet"/>
              </a:rPr>
              <a:t>1~4월, 9~10월</a:t>
            </a:r>
          </a:p>
          <a:p>
            <a:pPr>
              <a:lnSpc>
                <a:spcPts val="700"/>
              </a:lnSpc>
            </a:pPr>
            <a:endParaRPr dirty="0"/>
          </a:p>
          <a:p>
            <a:pPr>
              <a:lnSpc>
                <a:spcPts val="700"/>
              </a:lnSpc>
            </a:pPr>
            <a:endParaRPr lang="en-US" dirty="0"/>
          </a:p>
          <a:p>
            <a:pPr>
              <a:lnSpc>
                <a:spcPts val="700"/>
              </a:lnSpc>
            </a:pPr>
            <a:endParaRPr dirty="0"/>
          </a:p>
          <a:p>
            <a:pPr algn="l">
              <a:lnSpc>
                <a:spcPts val="1800"/>
              </a:lnSpc>
            </a:pPr>
            <a:r>
              <a:rPr lang="ko-KR" sz="1800" dirty="0">
                <a:solidFill>
                  <a:srgbClr val="AAAAAA"/>
                </a:solidFill>
                <a:latin typeface="Garet"/>
                <a:ea typeface="Garet"/>
              </a:rPr>
              <a:t>중앙값</a:t>
            </a:r>
            <a:endParaRPr lang="en-US" altLang="ko-KR" sz="1800" dirty="0">
              <a:solidFill>
                <a:srgbClr val="AAAAAA"/>
              </a:solidFill>
              <a:latin typeface="Garet"/>
              <a:ea typeface="Garet"/>
            </a:endParaRPr>
          </a:p>
          <a:p>
            <a:pPr algn="l">
              <a:lnSpc>
                <a:spcPts val="1800"/>
              </a:lnSpc>
            </a:pPr>
            <a:endParaRPr lang="ko-KR" sz="1800" dirty="0">
              <a:solidFill>
                <a:srgbClr val="AAAAAA"/>
              </a:solidFill>
              <a:latin typeface="Garet"/>
              <a:ea typeface="Garet"/>
            </a:endParaRPr>
          </a:p>
          <a:p>
            <a:pPr>
              <a:lnSpc>
                <a:spcPts val="2800"/>
              </a:lnSpc>
            </a:pPr>
            <a:r>
              <a:rPr lang="ko-KR" sz="3200" b="1" dirty="0">
                <a:solidFill>
                  <a:srgbClr val="FFFFFF"/>
                </a:solidFill>
                <a:latin typeface="Garet Bold"/>
                <a:ea typeface="Garet Bold"/>
              </a:rPr>
              <a:t>$753,103</a:t>
            </a:r>
            <a:r>
              <a:rPr lang="en-US" altLang="ko-KR" sz="3200" b="1" dirty="0">
                <a:solidFill>
                  <a:srgbClr val="FFFFFF"/>
                </a:solidFill>
                <a:latin typeface="Garet Bold"/>
                <a:ea typeface="Garet Bold"/>
              </a:rPr>
              <a:t> </a:t>
            </a:r>
            <a:r>
              <a:rPr lang="en-US" altLang="ko-KR" dirty="0">
                <a:solidFill>
                  <a:schemeClr val="bg1">
                    <a:lumMod val="85000"/>
                  </a:schemeClr>
                </a:solidFill>
              </a:rPr>
              <a:t>(</a:t>
            </a:r>
            <a:r>
              <a:rPr lang="ko-KR" altLang="en-US" dirty="0">
                <a:solidFill>
                  <a:schemeClr val="bg1">
                    <a:lumMod val="85000"/>
                  </a:schemeClr>
                </a:solidFill>
              </a:rPr>
              <a:t>약 </a:t>
            </a:r>
            <a:r>
              <a:rPr lang="en-US" altLang="ko-KR" dirty="0">
                <a:solidFill>
                  <a:schemeClr val="bg1">
                    <a:lumMod val="85000"/>
                  </a:schemeClr>
                </a:solidFill>
              </a:rPr>
              <a:t>9.2</a:t>
            </a:r>
            <a:r>
              <a:rPr lang="ko-KR" altLang="en-US" dirty="0">
                <a:solidFill>
                  <a:schemeClr val="bg1">
                    <a:lumMod val="85000"/>
                  </a:schemeClr>
                </a:solidFill>
              </a:rPr>
              <a:t>억 원</a:t>
            </a:r>
            <a:r>
              <a:rPr lang="en-US" altLang="ko-KR" dirty="0">
                <a:solidFill>
                  <a:schemeClr val="bg1">
                    <a:lumMod val="85000"/>
                  </a:schemeClr>
                </a:solidFill>
              </a:rPr>
              <a:t>)</a:t>
            </a:r>
            <a:endParaRPr lang="ko-KR" sz="3200" b="1" dirty="0">
              <a:solidFill>
                <a:schemeClr val="bg1">
                  <a:lumMod val="85000"/>
                </a:schemeClr>
              </a:solidFill>
              <a:latin typeface="Garet Bold"/>
              <a:ea typeface="Garet Bold"/>
            </a:endParaRPr>
          </a:p>
          <a:p>
            <a:pPr>
              <a:lnSpc>
                <a:spcPts val="700"/>
              </a:lnSpc>
            </a:pPr>
            <a:endParaRPr dirty="0"/>
          </a:p>
          <a:p>
            <a:pPr algn="l">
              <a:lnSpc>
                <a:spcPts val="1800"/>
              </a:lnSpc>
            </a:pPr>
            <a:r>
              <a:rPr lang="ko-KR" sz="1800" dirty="0">
                <a:solidFill>
                  <a:srgbClr val="AAAAAA"/>
                </a:solidFill>
                <a:latin typeface="Garet"/>
                <a:ea typeface="Garet"/>
              </a:rPr>
              <a:t>편수: 3,312편</a:t>
            </a:r>
          </a:p>
          <a:p>
            <a:pPr>
              <a:lnSpc>
                <a:spcPts val="700"/>
              </a:lnSpc>
            </a:pPr>
            <a:endParaRPr dirty="0"/>
          </a:p>
          <a:p>
            <a:pPr>
              <a:lnSpc>
                <a:spcPts val="700"/>
              </a:lnSpc>
            </a:pPr>
            <a:endParaRPr sz="20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ko-KR" altLang="en-US" sz="2000" dirty="0">
                <a:solidFill>
                  <a:schemeClr val="bg1">
                    <a:lumMod val="85000"/>
                  </a:schemeClr>
                </a:solidFill>
              </a:rPr>
              <a:t>소규모 </a:t>
            </a:r>
            <a:r>
              <a:rPr lang="ko-KR" altLang="en-US" sz="2000" dirty="0" err="1">
                <a:solidFill>
                  <a:schemeClr val="bg1">
                    <a:lumMod val="85000"/>
                  </a:schemeClr>
                </a:solidFill>
              </a:rPr>
              <a:t>개봉작</a:t>
            </a:r>
            <a:r>
              <a:rPr lang="ko-KR" altLang="en-US" sz="2000" dirty="0">
                <a:solidFill>
                  <a:schemeClr val="bg1">
                    <a:lumMod val="85000"/>
                  </a:schemeClr>
                </a:solidFill>
              </a:rPr>
              <a:t> 비중이 큰 구간</a:t>
            </a:r>
            <a:br>
              <a:rPr lang="ko-KR" altLang="en-US" sz="20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ko-KR" altLang="en-US" sz="2000" dirty="0">
                <a:solidFill>
                  <a:schemeClr val="bg1">
                    <a:lumMod val="85000"/>
                  </a:schemeClr>
                </a:solidFill>
              </a:rPr>
              <a:t>중앙값이 가장 낮았으며 흥행 분포도 상대적으로 낮게 형성됨</a:t>
            </a:r>
            <a:endParaRPr lang="ko-KR" sz="2000" dirty="0">
              <a:solidFill>
                <a:schemeClr val="bg1">
                  <a:lumMod val="85000"/>
                </a:schemeClr>
              </a:solidFill>
              <a:latin typeface="Garet"/>
              <a:ea typeface="Garet"/>
            </a:endParaRPr>
          </a:p>
        </p:txBody>
      </p:sp>
      <p:sp>
        <p:nvSpPr>
          <p:cNvPr id="30" name="interp"/>
          <p:cNvSpPr>
            <a:spLocks noGrp="1"/>
          </p:cNvSpPr>
          <p:nvPr/>
        </p:nvSpPr>
        <p:spPr>
          <a:xfrm>
            <a:off x="1280390" y="6223000"/>
            <a:ext cx="15991609" cy="31877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114300" tIns="91440" rIns="114300" bIns="91440"/>
          <a:lstStyle/>
          <a:p>
            <a:pPr algn="l"/>
            <a:r>
              <a:rPr lang="ko-KR" sz="3200" b="1" dirty="0">
                <a:solidFill>
                  <a:srgbClr val="111111"/>
                </a:solidFill>
                <a:latin typeface="Garet Bold"/>
                <a:ea typeface="Garet Bold"/>
              </a:rPr>
              <a:t>해석 및 피처 선택 근거</a:t>
            </a:r>
            <a:endParaRPr lang="en-US" altLang="ko-KR" sz="3200" b="1" dirty="0">
              <a:solidFill>
                <a:srgbClr val="111111"/>
              </a:solidFill>
              <a:latin typeface="Garet Bold"/>
              <a:ea typeface="Garet Bold"/>
            </a:endParaRPr>
          </a:p>
          <a:p>
            <a:endParaRPr dirty="0"/>
          </a:p>
          <a:p>
            <a:r>
              <a:rPr lang="ko-KR" altLang="en-US" sz="2400" dirty="0"/>
              <a:t>연말 성수기 중앙값은 일반기보다 약 </a:t>
            </a:r>
            <a:r>
              <a:rPr lang="en-US" altLang="ko-KR" sz="2400" dirty="0"/>
              <a:t>1.8</a:t>
            </a:r>
            <a:r>
              <a:rPr lang="ko-KR" altLang="en-US" sz="2400" dirty="0"/>
              <a:t>배 높게 나타나</a:t>
            </a:r>
            <a:r>
              <a:rPr lang="en-US" altLang="ko-KR" sz="2400" dirty="0"/>
              <a:t> </a:t>
            </a:r>
            <a:r>
              <a:rPr lang="ko-KR" altLang="en-US" sz="2400" dirty="0"/>
              <a:t>개봉시기가 흥행수익 분포에 일정한 영향을 주는 것을 확인함</a:t>
            </a:r>
            <a:r>
              <a:rPr lang="en-US" altLang="ko-KR" sz="2400" dirty="0"/>
              <a:t>.</a:t>
            </a:r>
          </a:p>
          <a:p>
            <a:br>
              <a:rPr lang="ko-KR" altLang="en-US" sz="2400" dirty="0"/>
            </a:br>
            <a:r>
              <a:rPr lang="ko-KR" altLang="en-US" sz="2400" dirty="0"/>
              <a:t>여름방학과 연말</a:t>
            </a:r>
            <a:r>
              <a:rPr lang="en-US" altLang="ko-KR" sz="2400" dirty="0"/>
              <a:t> </a:t>
            </a:r>
            <a:r>
              <a:rPr lang="ko-KR" altLang="en-US" sz="2400" dirty="0"/>
              <a:t>시즌에 관객 수요와 대작 개봉이 집중되는 경향이 있어</a:t>
            </a:r>
            <a:r>
              <a:rPr lang="en-US" altLang="ko-KR" sz="2400" dirty="0"/>
              <a:t> </a:t>
            </a:r>
            <a:r>
              <a:rPr lang="ko-KR" altLang="en-US" sz="2400" dirty="0"/>
              <a:t>개봉시기는 시장의 계절성과 배급 전략을 함께 반영하는 범주형 피처로 볼 수 있음</a:t>
            </a:r>
            <a:r>
              <a:rPr lang="en-US" altLang="ko-KR" sz="2400" dirty="0"/>
              <a:t>.</a:t>
            </a:r>
          </a:p>
          <a:p>
            <a:br>
              <a:rPr lang="ko-KR" altLang="en-US" sz="2400" dirty="0"/>
            </a:br>
            <a:r>
              <a:rPr lang="ko-KR" altLang="en-US" sz="2400" dirty="0"/>
              <a:t>다만 그룹 간 분포가 일부 겹치므로</a:t>
            </a:r>
            <a:r>
              <a:rPr lang="en-US" altLang="ko-KR" sz="2400" dirty="0"/>
              <a:t> </a:t>
            </a:r>
            <a:r>
              <a:rPr lang="ko-KR" altLang="en-US" sz="2400" dirty="0"/>
              <a:t>단독 변수보다는 다른 피처와 함께 해석할 때 더 유용한 변수로 판단함</a:t>
            </a:r>
            <a:r>
              <a:rPr lang="en-US" altLang="ko-KR" sz="2400" dirty="0"/>
              <a:t>.</a:t>
            </a:r>
            <a:endParaRPr lang="ko-KR" sz="2400" dirty="0">
              <a:solidFill>
                <a:srgbClr val="333333"/>
              </a:solidFill>
              <a:latin typeface="Garet"/>
              <a:ea typeface="Garet"/>
            </a:endParaRPr>
          </a:p>
        </p:txBody>
      </p:sp>
    </p:spTree>
    <p:extLst>
      <p:ext uri="{BB962C8B-B14F-4D97-AF65-F5344CB8AC3E}">
        <p14:creationId xmlns:p14="http://schemas.microsoft.com/office/powerpoint/2010/main" val="41401708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g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4300" tIns="91440" rIns="114300" bIns="91440"/>
          <a:lstStyle/>
          <a:p>
            <a:endParaRPr dirty="0"/>
          </a:p>
        </p:txBody>
      </p:sp>
      <p:sp>
        <p:nvSpPr>
          <p:cNvPr id="11" name="titlebar"/>
          <p:cNvSpPr>
            <a:spLocks noGrp="1"/>
          </p:cNvSpPr>
          <p:nvPr/>
        </p:nvSpPr>
        <p:spPr>
          <a:xfrm>
            <a:off x="0" y="0"/>
            <a:ext cx="18288000" cy="1117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wrap="square" lIns="762000" tIns="91440" rIns="114300" bIns="91440" anchor="ctr"/>
          <a:lstStyle/>
          <a:p>
            <a:pPr algn="l">
              <a:lnSpc>
                <a:spcPts val="3400"/>
              </a:lnSpc>
            </a:pPr>
            <a:r>
              <a:rPr lang="ko-KR" sz="4000" b="1" dirty="0">
                <a:solidFill>
                  <a:srgbClr val="FFFFFF"/>
                </a:solidFill>
                <a:latin typeface="Garet Bold"/>
                <a:ea typeface="Garet Bold"/>
              </a:rPr>
              <a:t>최종 선택 피처 요약</a:t>
            </a:r>
          </a:p>
        </p:txBody>
      </p:sp>
      <p:sp>
        <p:nvSpPr>
          <p:cNvPr id="12" name="sub"/>
          <p:cNvSpPr>
            <a:spLocks noGrp="1"/>
          </p:cNvSpPr>
          <p:nvPr/>
        </p:nvSpPr>
        <p:spPr>
          <a:xfrm>
            <a:off x="762000" y="12954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/>
          <a:lstStyle/>
          <a:p>
            <a:pPr algn="l">
              <a:lnSpc>
                <a:spcPts val="2000"/>
              </a:lnSpc>
            </a:pPr>
            <a:r>
              <a:rPr lang="ko-KR" sz="2000" dirty="0">
                <a:solidFill>
                  <a:srgbClr val="808080"/>
                </a:solidFill>
                <a:latin typeface="Garet"/>
                <a:ea typeface="Garet"/>
              </a:rPr>
              <a:t>2차 분석 결과를 바탕으로 선택한 4개 피처의 선정 근거</a:t>
            </a:r>
          </a:p>
        </p:txBody>
      </p:sp>
      <p:sp>
        <p:nvSpPr>
          <p:cNvPr id="20" name="feat_0"/>
          <p:cNvSpPr>
            <a:spLocks noGrp="1"/>
          </p:cNvSpPr>
          <p:nvPr/>
        </p:nvSpPr>
        <p:spPr>
          <a:xfrm>
            <a:off x="762000" y="1879600"/>
            <a:ext cx="8128000" cy="3810000"/>
          </a:xfrm>
          <a:prstGeom prst="rect">
            <a:avLst/>
          </a:prstGeom>
          <a:solidFill>
            <a:srgbClr val="1A2F4A"/>
          </a:solidFill>
          <a:ln>
            <a:noFill/>
          </a:ln>
        </p:spPr>
        <p:txBody>
          <a:bodyPr wrap="square" lIns="114300" tIns="91440" rIns="114300" bIns="91440"/>
          <a:lstStyle/>
          <a:p>
            <a:pPr algn="l">
              <a:lnSpc>
                <a:spcPts val="1800"/>
              </a:lnSpc>
            </a:pPr>
            <a:r>
              <a:rPr lang="ko-KR" sz="2000" dirty="0">
                <a:solidFill>
                  <a:srgbClr val="AAAAAA"/>
                </a:solidFill>
                <a:latin typeface="Garet"/>
                <a:ea typeface="Garet"/>
              </a:rPr>
              <a:t>01  |  수치형</a:t>
            </a:r>
          </a:p>
          <a:p>
            <a:pPr algn="l">
              <a:lnSpc>
                <a:spcPts val="2600"/>
              </a:lnSpc>
            </a:pPr>
            <a:endParaRPr lang="en-US" altLang="ko-KR" sz="3600" b="1" dirty="0">
              <a:solidFill>
                <a:srgbClr val="FFFFFF"/>
              </a:solidFill>
              <a:latin typeface="Garet Bold"/>
              <a:ea typeface="Garet Bold"/>
            </a:endParaRPr>
          </a:p>
          <a:p>
            <a:pPr algn="l">
              <a:lnSpc>
                <a:spcPts val="2600"/>
              </a:lnSpc>
            </a:pPr>
            <a:r>
              <a:rPr lang="ko-KR" sz="3600" b="1" dirty="0">
                <a:solidFill>
                  <a:srgbClr val="FFFFFF"/>
                </a:solidFill>
                <a:latin typeface="Garet Bold"/>
                <a:ea typeface="Garet Bold"/>
              </a:rPr>
              <a:t>최대 상영 극장수</a:t>
            </a:r>
          </a:p>
          <a:p>
            <a:pPr algn="l">
              <a:lnSpc>
                <a:spcPts val="1800"/>
              </a:lnSpc>
            </a:pPr>
            <a:endParaRPr lang="en-US" altLang="ko-KR" sz="2400" dirty="0">
              <a:solidFill>
                <a:srgbClr val="888888"/>
              </a:solidFill>
              <a:latin typeface="Garet"/>
              <a:ea typeface="Garet"/>
            </a:endParaRPr>
          </a:p>
          <a:p>
            <a:pPr algn="l">
              <a:lnSpc>
                <a:spcPts val="1800"/>
              </a:lnSpc>
            </a:pPr>
            <a:r>
              <a:rPr lang="ko-KR" sz="2400" dirty="0" err="1">
                <a:solidFill>
                  <a:srgbClr val="888888"/>
                </a:solidFill>
                <a:latin typeface="Garet"/>
                <a:ea typeface="Garet"/>
              </a:rPr>
              <a:t>Widest</a:t>
            </a:r>
            <a:r>
              <a:rPr lang="ko-KR" sz="2400" dirty="0">
                <a:solidFill>
                  <a:srgbClr val="888888"/>
                </a:solidFill>
                <a:latin typeface="Garet"/>
                <a:ea typeface="Garet"/>
              </a:rPr>
              <a:t> Release Theaters</a:t>
            </a:r>
          </a:p>
          <a:p>
            <a:pPr>
              <a:lnSpc>
                <a:spcPts val="600"/>
              </a:lnSpc>
            </a:pPr>
            <a:endParaRPr sz="2400" dirty="0"/>
          </a:p>
          <a:p>
            <a:pPr algn="l">
              <a:lnSpc>
                <a:spcPts val="2000"/>
              </a:lnSpc>
            </a:pPr>
            <a:endParaRPr lang="en-US" altLang="ko-KR" sz="3200" b="1" dirty="0">
              <a:solidFill>
                <a:srgbClr val="FFFFFF"/>
              </a:solidFill>
              <a:latin typeface="Garet Bold"/>
              <a:ea typeface="Garet Bold"/>
            </a:endParaRPr>
          </a:p>
          <a:p>
            <a:pPr algn="l">
              <a:lnSpc>
                <a:spcPts val="2000"/>
              </a:lnSpc>
            </a:pPr>
            <a:r>
              <a:rPr lang="ko-KR" sz="3200" b="1" dirty="0" err="1">
                <a:solidFill>
                  <a:srgbClr val="FFFFFF"/>
                </a:solidFill>
                <a:latin typeface="Garet Bold"/>
                <a:ea typeface="Garet Bold"/>
              </a:rPr>
              <a:t>r</a:t>
            </a:r>
            <a:r>
              <a:rPr lang="ko-KR" sz="3200" b="1" dirty="0">
                <a:solidFill>
                  <a:srgbClr val="FFFFFF"/>
                </a:solidFill>
                <a:latin typeface="Garet Bold"/>
                <a:ea typeface="Garet Bold"/>
              </a:rPr>
              <a:t> (log) = 0.762</a:t>
            </a:r>
          </a:p>
          <a:p>
            <a:pPr>
              <a:lnSpc>
                <a:spcPts val="600"/>
              </a:lnSpc>
            </a:pPr>
            <a:endParaRPr sz="2400" dirty="0"/>
          </a:p>
          <a:p>
            <a:pPr algn="l">
              <a:lnSpc>
                <a:spcPts val="1800"/>
              </a:lnSpc>
            </a:pPr>
            <a:endParaRPr lang="en-US" altLang="ko-KR" sz="2400" dirty="0">
              <a:solidFill>
                <a:srgbClr val="CCCCCC"/>
              </a:solidFill>
              <a:latin typeface="Garet"/>
              <a:ea typeface="Garet"/>
            </a:endParaRPr>
          </a:p>
          <a:p>
            <a:pPr>
              <a:lnSpc>
                <a:spcPct val="150000"/>
              </a:lnSpc>
            </a:pPr>
            <a:r>
              <a:rPr lang="ko-KR" altLang="en-US" sz="2400" dirty="0">
                <a:solidFill>
                  <a:schemeClr val="bg1">
                    <a:lumMod val="85000"/>
                  </a:schemeClr>
                </a:solidFill>
              </a:rPr>
              <a:t>전세계 흥행수익과 가장 강한 양의 상관을 보인 수치형 피처</a:t>
            </a:r>
            <a:br>
              <a:rPr lang="ko-KR" altLang="en-US" sz="32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ko-KR" altLang="en-US" sz="2400" dirty="0">
                <a:solidFill>
                  <a:schemeClr val="bg1">
                    <a:lumMod val="85000"/>
                  </a:schemeClr>
                </a:solidFill>
              </a:rPr>
              <a:t>영화의 전체 배급 규모와 흥행 확장 정도를 보여주는 지표</a:t>
            </a:r>
            <a:endParaRPr lang="ko-KR" sz="3200" dirty="0">
              <a:solidFill>
                <a:schemeClr val="bg1">
                  <a:lumMod val="85000"/>
                </a:schemeClr>
              </a:solidFill>
              <a:latin typeface="Garet"/>
              <a:ea typeface="Garet"/>
            </a:endParaRPr>
          </a:p>
        </p:txBody>
      </p:sp>
      <p:sp>
        <p:nvSpPr>
          <p:cNvPr id="21" name="feat_1"/>
          <p:cNvSpPr>
            <a:spLocks noGrp="1"/>
          </p:cNvSpPr>
          <p:nvPr/>
        </p:nvSpPr>
        <p:spPr>
          <a:xfrm>
            <a:off x="9398000" y="1879600"/>
            <a:ext cx="8128000" cy="3810000"/>
          </a:xfrm>
          <a:prstGeom prst="rect">
            <a:avLst/>
          </a:prstGeom>
          <a:solidFill>
            <a:srgbClr val="1A2F4A"/>
          </a:solidFill>
          <a:ln>
            <a:noFill/>
          </a:ln>
        </p:spPr>
        <p:txBody>
          <a:bodyPr wrap="square" lIns="114300" tIns="91440" rIns="114300" bIns="91440"/>
          <a:lstStyle/>
          <a:p>
            <a:pPr algn="l">
              <a:lnSpc>
                <a:spcPts val="1800"/>
              </a:lnSpc>
            </a:pPr>
            <a:r>
              <a:rPr lang="ko-KR" sz="2000" dirty="0">
                <a:solidFill>
                  <a:srgbClr val="AAAAAA"/>
                </a:solidFill>
                <a:latin typeface="Garet"/>
                <a:ea typeface="Garet"/>
              </a:rPr>
              <a:t>02  |  수치형</a:t>
            </a:r>
          </a:p>
          <a:p>
            <a:pPr algn="l">
              <a:lnSpc>
                <a:spcPts val="2600"/>
              </a:lnSpc>
            </a:pPr>
            <a:endParaRPr lang="en-US" altLang="ko-KR" sz="3600" b="1" dirty="0">
              <a:solidFill>
                <a:srgbClr val="FFFFFF"/>
              </a:solidFill>
              <a:latin typeface="Garet Bold"/>
              <a:ea typeface="Garet Bold"/>
            </a:endParaRPr>
          </a:p>
          <a:p>
            <a:pPr algn="l">
              <a:lnSpc>
                <a:spcPts val="2600"/>
              </a:lnSpc>
            </a:pPr>
            <a:r>
              <a:rPr lang="ko-KR" sz="3600" b="1" dirty="0">
                <a:solidFill>
                  <a:srgbClr val="FFFFFF"/>
                </a:solidFill>
                <a:latin typeface="Garet Bold"/>
                <a:ea typeface="Garet Bold"/>
              </a:rPr>
              <a:t>오픈 극장수</a:t>
            </a:r>
          </a:p>
          <a:p>
            <a:pPr algn="l">
              <a:lnSpc>
                <a:spcPts val="1800"/>
              </a:lnSpc>
            </a:pPr>
            <a:endParaRPr lang="en-US" altLang="ko-KR" sz="2400" dirty="0">
              <a:solidFill>
                <a:srgbClr val="888888"/>
              </a:solidFill>
              <a:latin typeface="Garet"/>
              <a:ea typeface="Garet"/>
            </a:endParaRPr>
          </a:p>
          <a:p>
            <a:pPr algn="l">
              <a:lnSpc>
                <a:spcPts val="1800"/>
              </a:lnSpc>
            </a:pPr>
            <a:r>
              <a:rPr lang="ko-KR" sz="2400" dirty="0">
                <a:solidFill>
                  <a:srgbClr val="888888"/>
                </a:solidFill>
                <a:latin typeface="Garet"/>
                <a:ea typeface="Garet"/>
              </a:rPr>
              <a:t>Opening Theaters</a:t>
            </a:r>
          </a:p>
          <a:p>
            <a:pPr>
              <a:lnSpc>
                <a:spcPts val="600"/>
              </a:lnSpc>
            </a:pPr>
            <a:endParaRPr sz="2400" dirty="0"/>
          </a:p>
          <a:p>
            <a:pPr algn="l">
              <a:lnSpc>
                <a:spcPts val="2000"/>
              </a:lnSpc>
            </a:pPr>
            <a:endParaRPr lang="en-US" altLang="ko-KR" sz="3200" b="1" dirty="0">
              <a:solidFill>
                <a:srgbClr val="FFFFFF"/>
              </a:solidFill>
              <a:latin typeface="Garet Bold"/>
              <a:ea typeface="Garet Bold"/>
            </a:endParaRPr>
          </a:p>
          <a:p>
            <a:pPr algn="l">
              <a:lnSpc>
                <a:spcPts val="2000"/>
              </a:lnSpc>
            </a:pPr>
            <a:r>
              <a:rPr lang="ko-KR" sz="3200" b="1" dirty="0">
                <a:solidFill>
                  <a:srgbClr val="FFFFFF"/>
                </a:solidFill>
                <a:latin typeface="Garet Bold"/>
                <a:ea typeface="Garet Bold"/>
              </a:rPr>
              <a:t>r (log) = 0.678</a:t>
            </a:r>
          </a:p>
          <a:p>
            <a:pPr>
              <a:lnSpc>
                <a:spcPts val="600"/>
              </a:lnSpc>
            </a:pPr>
            <a:endParaRPr sz="2400" dirty="0"/>
          </a:p>
          <a:p>
            <a:pPr algn="l">
              <a:lnSpc>
                <a:spcPts val="1800"/>
              </a:lnSpc>
            </a:pPr>
            <a:endParaRPr lang="en-US" altLang="ko-KR" sz="2400" dirty="0">
              <a:solidFill>
                <a:srgbClr val="CCCCCC"/>
              </a:solidFill>
              <a:latin typeface="Garet"/>
              <a:ea typeface="Garet"/>
            </a:endParaRPr>
          </a:p>
          <a:p>
            <a:pPr>
              <a:lnSpc>
                <a:spcPct val="150000"/>
              </a:lnSpc>
            </a:pPr>
            <a:r>
              <a:rPr lang="ko-KR" altLang="en-US" sz="2400" spc="-150" dirty="0">
                <a:solidFill>
                  <a:schemeClr val="bg1">
                    <a:lumMod val="85000"/>
                  </a:schemeClr>
                </a:solidFill>
              </a:rPr>
              <a:t>전세계 흥행수익과 중간</a:t>
            </a:r>
            <a:r>
              <a:rPr lang="en-US" altLang="ko-KR" sz="2400" spc="-150" dirty="0">
                <a:solidFill>
                  <a:schemeClr val="bg1">
                    <a:lumMod val="85000"/>
                  </a:schemeClr>
                </a:solidFill>
              </a:rPr>
              <a:t>~</a:t>
            </a:r>
            <a:r>
              <a:rPr lang="ko-KR" altLang="en-US" sz="2400" spc="-150" dirty="0">
                <a:solidFill>
                  <a:schemeClr val="bg1">
                    <a:lumMod val="85000"/>
                  </a:schemeClr>
                </a:solidFill>
              </a:rPr>
              <a:t>강한 양의 상관을 보인 수치형 피처</a:t>
            </a:r>
            <a:br>
              <a:rPr lang="ko-KR" altLang="en-US" sz="32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ko-KR" altLang="en-US" sz="2400" dirty="0">
                <a:solidFill>
                  <a:schemeClr val="bg1">
                    <a:lumMod val="85000"/>
                  </a:schemeClr>
                </a:solidFill>
              </a:rPr>
              <a:t>영화의 초기 개봉 규모와 배급 전략을 보여주는 지표</a:t>
            </a:r>
            <a:endParaRPr lang="ko-KR" sz="3200" dirty="0">
              <a:solidFill>
                <a:schemeClr val="bg1">
                  <a:lumMod val="85000"/>
                </a:schemeClr>
              </a:solidFill>
              <a:latin typeface="Garet"/>
              <a:ea typeface="Garet"/>
            </a:endParaRPr>
          </a:p>
        </p:txBody>
      </p:sp>
      <p:sp>
        <p:nvSpPr>
          <p:cNvPr id="22" name="feat_2"/>
          <p:cNvSpPr>
            <a:spLocks noGrp="1"/>
          </p:cNvSpPr>
          <p:nvPr/>
        </p:nvSpPr>
        <p:spPr>
          <a:xfrm>
            <a:off x="762000" y="5950527"/>
            <a:ext cx="8128000" cy="3810000"/>
          </a:xfrm>
          <a:prstGeom prst="rect">
            <a:avLst/>
          </a:prstGeom>
          <a:solidFill>
            <a:srgbClr val="2E3A1E"/>
          </a:solidFill>
          <a:ln>
            <a:noFill/>
          </a:ln>
        </p:spPr>
        <p:txBody>
          <a:bodyPr wrap="square" lIns="114300" tIns="91440" rIns="114300" bIns="91440"/>
          <a:lstStyle/>
          <a:p>
            <a:pPr algn="l">
              <a:lnSpc>
                <a:spcPts val="1800"/>
              </a:lnSpc>
            </a:pPr>
            <a:r>
              <a:rPr lang="ko-KR" sz="2000" dirty="0">
                <a:solidFill>
                  <a:srgbClr val="AAAAAA"/>
                </a:solidFill>
                <a:latin typeface="Garet"/>
                <a:ea typeface="Garet"/>
              </a:rPr>
              <a:t>03  |  범주형</a:t>
            </a:r>
          </a:p>
          <a:p>
            <a:pPr algn="l">
              <a:lnSpc>
                <a:spcPts val="2600"/>
              </a:lnSpc>
            </a:pPr>
            <a:endParaRPr lang="en-US" altLang="ko-KR" sz="3600" b="1" dirty="0">
              <a:solidFill>
                <a:srgbClr val="FFFFFF"/>
              </a:solidFill>
              <a:latin typeface="Garet Bold"/>
              <a:ea typeface="Garet Bold"/>
            </a:endParaRPr>
          </a:p>
          <a:p>
            <a:pPr algn="l">
              <a:lnSpc>
                <a:spcPts val="2600"/>
              </a:lnSpc>
            </a:pPr>
            <a:r>
              <a:rPr lang="ko-KR" sz="3600" b="1" dirty="0">
                <a:solidFill>
                  <a:srgbClr val="FFFFFF"/>
                </a:solidFill>
                <a:latin typeface="Garet Bold"/>
                <a:ea typeface="Garet Bold"/>
              </a:rPr>
              <a:t>대표 장르</a:t>
            </a:r>
          </a:p>
          <a:p>
            <a:pPr algn="l">
              <a:lnSpc>
                <a:spcPts val="1800"/>
              </a:lnSpc>
            </a:pPr>
            <a:endParaRPr lang="en-US" altLang="ko-KR" sz="2400" dirty="0">
              <a:solidFill>
                <a:srgbClr val="888888"/>
              </a:solidFill>
              <a:latin typeface="Garet"/>
              <a:ea typeface="Garet"/>
            </a:endParaRPr>
          </a:p>
          <a:p>
            <a:pPr algn="l">
              <a:lnSpc>
                <a:spcPts val="1800"/>
              </a:lnSpc>
            </a:pPr>
            <a:r>
              <a:rPr lang="ko-KR" sz="2400" dirty="0">
                <a:solidFill>
                  <a:srgbClr val="888888"/>
                </a:solidFill>
                <a:latin typeface="Garet"/>
                <a:ea typeface="Garet"/>
              </a:rPr>
              <a:t>Main Genre</a:t>
            </a:r>
          </a:p>
          <a:p>
            <a:pPr>
              <a:lnSpc>
                <a:spcPts val="600"/>
              </a:lnSpc>
            </a:pPr>
            <a:endParaRPr sz="2400" dirty="0"/>
          </a:p>
          <a:p>
            <a:pPr algn="l">
              <a:lnSpc>
                <a:spcPts val="2000"/>
              </a:lnSpc>
            </a:pPr>
            <a:endParaRPr lang="en-US" altLang="ko-KR" sz="3200" b="1" dirty="0">
              <a:solidFill>
                <a:srgbClr val="FFFFFF"/>
              </a:solidFill>
              <a:latin typeface="Garet Bold"/>
              <a:ea typeface="Garet Bold"/>
            </a:endParaRPr>
          </a:p>
          <a:p>
            <a:pPr algn="l">
              <a:lnSpc>
                <a:spcPts val="2000"/>
              </a:lnSpc>
            </a:pPr>
            <a:r>
              <a:rPr lang="ko-KR" sz="3200" b="1" dirty="0">
                <a:solidFill>
                  <a:srgbClr val="FFFFFF"/>
                </a:solidFill>
                <a:latin typeface="Garet Bold"/>
                <a:ea typeface="Garet Bold"/>
              </a:rPr>
              <a:t>중앙값 5</a:t>
            </a:r>
            <a:r>
              <a:rPr lang="en-US" altLang="ko-KR" sz="3200" b="1" dirty="0">
                <a:solidFill>
                  <a:srgbClr val="FFFFFF"/>
                </a:solidFill>
                <a:latin typeface="Garet Bold"/>
                <a:ea typeface="Garet Bold"/>
              </a:rPr>
              <a:t>42</a:t>
            </a:r>
            <a:r>
              <a:rPr lang="ko-KR" sz="3200" b="1" dirty="0">
                <a:solidFill>
                  <a:srgbClr val="FFFFFF"/>
                </a:solidFill>
                <a:latin typeface="Garet Bold"/>
                <a:ea typeface="Garet Bold"/>
              </a:rPr>
              <a:t>배 차이</a:t>
            </a:r>
          </a:p>
          <a:p>
            <a:pPr>
              <a:lnSpc>
                <a:spcPts val="600"/>
              </a:lnSpc>
            </a:pPr>
            <a:endParaRPr sz="2400" dirty="0"/>
          </a:p>
          <a:p>
            <a:pPr algn="l">
              <a:lnSpc>
                <a:spcPts val="1800"/>
              </a:lnSpc>
            </a:pPr>
            <a:endParaRPr lang="en-US" altLang="ko-KR" sz="2400" dirty="0">
              <a:solidFill>
                <a:srgbClr val="CCCCCC"/>
              </a:solidFill>
              <a:latin typeface="Garet"/>
              <a:ea typeface="Garet"/>
            </a:endParaRPr>
          </a:p>
          <a:p>
            <a:pPr>
              <a:lnSpc>
                <a:spcPct val="150000"/>
              </a:lnSpc>
            </a:pPr>
            <a:r>
              <a:rPr lang="ko-KR" altLang="en-US" sz="2400" dirty="0">
                <a:solidFill>
                  <a:schemeClr val="bg1">
                    <a:lumMod val="85000"/>
                  </a:schemeClr>
                </a:solidFill>
              </a:rPr>
              <a:t>장르에 따라 흥행수익 분포 차이가 크게 나타난 범주형 피처</a:t>
            </a:r>
            <a:br>
              <a:rPr lang="ko-KR" altLang="en-US" sz="32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ko-KR" altLang="en-US" sz="2400" dirty="0">
                <a:solidFill>
                  <a:schemeClr val="bg1">
                    <a:lumMod val="85000"/>
                  </a:schemeClr>
                </a:solidFill>
              </a:rPr>
              <a:t>흥행 패턴과 수익 기대치의 차이를 설명하는 데 유용한 변수</a:t>
            </a:r>
            <a:endParaRPr lang="ko-KR" sz="3200" dirty="0">
              <a:solidFill>
                <a:schemeClr val="bg1">
                  <a:lumMod val="85000"/>
                </a:schemeClr>
              </a:solidFill>
              <a:latin typeface="Garet"/>
              <a:ea typeface="Garet"/>
            </a:endParaRPr>
          </a:p>
        </p:txBody>
      </p:sp>
      <p:sp>
        <p:nvSpPr>
          <p:cNvPr id="23" name="feat_3"/>
          <p:cNvSpPr>
            <a:spLocks noGrp="1"/>
          </p:cNvSpPr>
          <p:nvPr/>
        </p:nvSpPr>
        <p:spPr>
          <a:xfrm>
            <a:off x="9398000" y="5943600"/>
            <a:ext cx="8128000" cy="3810000"/>
          </a:xfrm>
          <a:prstGeom prst="rect">
            <a:avLst/>
          </a:prstGeom>
          <a:solidFill>
            <a:srgbClr val="2E3A1E"/>
          </a:solidFill>
          <a:ln>
            <a:noFill/>
          </a:ln>
        </p:spPr>
        <p:txBody>
          <a:bodyPr wrap="square" lIns="114300" tIns="91440" rIns="114300" bIns="91440"/>
          <a:lstStyle/>
          <a:p>
            <a:pPr algn="l">
              <a:lnSpc>
                <a:spcPts val="1800"/>
              </a:lnSpc>
            </a:pPr>
            <a:r>
              <a:rPr lang="ko-KR" sz="2000" dirty="0">
                <a:solidFill>
                  <a:srgbClr val="AAAAAA"/>
                </a:solidFill>
                <a:latin typeface="Garet"/>
                <a:ea typeface="Garet"/>
              </a:rPr>
              <a:t>04  |  범주형</a:t>
            </a:r>
          </a:p>
          <a:p>
            <a:pPr algn="l">
              <a:lnSpc>
                <a:spcPts val="2600"/>
              </a:lnSpc>
            </a:pPr>
            <a:endParaRPr lang="en-US" altLang="ko-KR" sz="3600" b="1" dirty="0">
              <a:solidFill>
                <a:srgbClr val="FFFFFF"/>
              </a:solidFill>
              <a:latin typeface="Garet Bold"/>
              <a:ea typeface="Garet Bold"/>
            </a:endParaRPr>
          </a:p>
          <a:p>
            <a:pPr algn="l">
              <a:lnSpc>
                <a:spcPts val="2600"/>
              </a:lnSpc>
            </a:pPr>
            <a:r>
              <a:rPr lang="ko-KR" sz="3600" b="1" dirty="0">
                <a:solidFill>
                  <a:srgbClr val="FFFFFF"/>
                </a:solidFill>
                <a:latin typeface="Garet Bold"/>
                <a:ea typeface="Garet Bold"/>
              </a:rPr>
              <a:t>개봉시기</a:t>
            </a:r>
          </a:p>
          <a:p>
            <a:pPr algn="l">
              <a:lnSpc>
                <a:spcPts val="1800"/>
              </a:lnSpc>
            </a:pPr>
            <a:endParaRPr lang="en-US" altLang="ko-KR" sz="2400" dirty="0">
              <a:solidFill>
                <a:srgbClr val="888888"/>
              </a:solidFill>
              <a:latin typeface="Garet"/>
              <a:ea typeface="Garet"/>
            </a:endParaRPr>
          </a:p>
          <a:p>
            <a:pPr algn="l">
              <a:lnSpc>
                <a:spcPts val="1800"/>
              </a:lnSpc>
            </a:pPr>
            <a:r>
              <a:rPr lang="ko-KR" sz="2400" dirty="0">
                <a:solidFill>
                  <a:srgbClr val="888888"/>
                </a:solidFill>
                <a:latin typeface="Garet"/>
                <a:ea typeface="Garet"/>
              </a:rPr>
              <a:t>Release Timing</a:t>
            </a:r>
          </a:p>
          <a:p>
            <a:pPr>
              <a:lnSpc>
                <a:spcPts val="600"/>
              </a:lnSpc>
            </a:pPr>
            <a:endParaRPr sz="2400" dirty="0"/>
          </a:p>
          <a:p>
            <a:pPr algn="l">
              <a:lnSpc>
                <a:spcPts val="2000"/>
              </a:lnSpc>
            </a:pPr>
            <a:endParaRPr lang="en-US" altLang="ko-KR" sz="3200" b="1" dirty="0">
              <a:solidFill>
                <a:srgbClr val="FFFFFF"/>
              </a:solidFill>
              <a:latin typeface="Garet Bold"/>
              <a:ea typeface="Garet Bold"/>
            </a:endParaRPr>
          </a:p>
          <a:p>
            <a:pPr algn="l">
              <a:lnSpc>
                <a:spcPts val="2000"/>
              </a:lnSpc>
            </a:pPr>
            <a:r>
              <a:rPr lang="ko-KR" sz="3200" b="1" dirty="0">
                <a:solidFill>
                  <a:srgbClr val="FFFFFF"/>
                </a:solidFill>
                <a:latin typeface="Garet Bold"/>
                <a:ea typeface="Garet Bold"/>
              </a:rPr>
              <a:t>연말 성수기</a:t>
            </a:r>
            <a:r>
              <a:rPr lang="en-US" altLang="ko-KR" sz="3200" b="1" dirty="0">
                <a:solidFill>
                  <a:srgbClr val="FFFFFF"/>
                </a:solidFill>
                <a:latin typeface="Garet Bold"/>
                <a:ea typeface="Garet Bold"/>
              </a:rPr>
              <a:t> =</a:t>
            </a:r>
            <a:r>
              <a:rPr lang="ko-KR" sz="3200" b="1" dirty="0">
                <a:solidFill>
                  <a:srgbClr val="FFFFFF"/>
                </a:solidFill>
                <a:latin typeface="Garet Bold"/>
                <a:ea typeface="Garet Bold"/>
              </a:rPr>
              <a:t> 1.8× 일반기</a:t>
            </a:r>
          </a:p>
          <a:p>
            <a:pPr>
              <a:lnSpc>
                <a:spcPts val="600"/>
              </a:lnSpc>
            </a:pPr>
            <a:endParaRPr sz="2400" dirty="0"/>
          </a:p>
          <a:p>
            <a:pPr algn="l">
              <a:lnSpc>
                <a:spcPts val="1800"/>
              </a:lnSpc>
            </a:pPr>
            <a:endParaRPr lang="en-US" altLang="ko-KR" sz="2400" dirty="0">
              <a:solidFill>
                <a:srgbClr val="CCCCCC"/>
              </a:solidFill>
              <a:latin typeface="Garet"/>
              <a:ea typeface="Garet"/>
            </a:endParaRPr>
          </a:p>
          <a:p>
            <a:pPr>
              <a:lnSpc>
                <a:spcPct val="150000"/>
              </a:lnSpc>
            </a:pPr>
            <a:r>
              <a:rPr lang="ko-KR" altLang="en-US" sz="2400" dirty="0">
                <a:solidFill>
                  <a:schemeClr val="bg1">
                    <a:lumMod val="85000"/>
                  </a:schemeClr>
                </a:solidFill>
              </a:rPr>
              <a:t>미국 시장의 계절성과 연휴 시즌 효과를 반영한 범주형 피처</a:t>
            </a:r>
            <a:br>
              <a:rPr lang="ko-KR" altLang="en-US" sz="32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ko-KR" altLang="en-US" sz="2400" dirty="0">
                <a:solidFill>
                  <a:schemeClr val="bg1">
                    <a:lumMod val="85000"/>
                  </a:schemeClr>
                </a:solidFill>
              </a:rPr>
              <a:t>배급 시점에 따른 흥행 차이를 설명하는 데 의미 있는 변수</a:t>
            </a:r>
            <a:endParaRPr lang="ko-KR" sz="3200" dirty="0">
              <a:solidFill>
                <a:schemeClr val="bg1">
                  <a:lumMod val="85000"/>
                </a:schemeClr>
              </a:solidFill>
              <a:latin typeface="Garet"/>
              <a:ea typeface="Garet"/>
            </a:endParaRPr>
          </a:p>
        </p:txBody>
      </p:sp>
    </p:spTree>
    <p:extLst>
      <p:ext uri="{BB962C8B-B14F-4D97-AF65-F5344CB8AC3E}">
        <p14:creationId xmlns:p14="http://schemas.microsoft.com/office/powerpoint/2010/main" val="22145309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g"/>
          <p:cNvSpPr>
            <a:spLocks noGrp="1"/>
          </p:cNvSpPr>
          <p:nvPr/>
        </p:nvSpPr>
        <p:spPr>
          <a:xfrm>
            <a:off x="10391" y="-13855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4300" tIns="91440" rIns="114300" bIns="91440"/>
          <a:lstStyle/>
          <a:p>
            <a:endParaRPr/>
          </a:p>
        </p:txBody>
      </p:sp>
      <p:sp>
        <p:nvSpPr>
          <p:cNvPr id="11" name="titlebar"/>
          <p:cNvSpPr>
            <a:spLocks noGrp="1"/>
          </p:cNvSpPr>
          <p:nvPr/>
        </p:nvSpPr>
        <p:spPr>
          <a:xfrm>
            <a:off x="0" y="0"/>
            <a:ext cx="18288000" cy="1117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wrap="square" lIns="762000" tIns="91440" rIns="114300" bIns="91440" anchor="ctr"/>
          <a:lstStyle/>
          <a:p>
            <a:pPr algn="l">
              <a:lnSpc>
                <a:spcPts val="3400"/>
              </a:lnSpc>
            </a:pPr>
            <a:r>
              <a:rPr lang="ko-KR" sz="4000" b="1" dirty="0">
                <a:solidFill>
                  <a:srgbClr val="FFFFFF"/>
                </a:solidFill>
                <a:latin typeface="Garet Bold"/>
                <a:ea typeface="Garet Bold"/>
              </a:rPr>
              <a:t>분석 한계 및 유의사항</a:t>
            </a:r>
          </a:p>
        </p:txBody>
      </p:sp>
      <p:sp>
        <p:nvSpPr>
          <p:cNvPr id="20" name="lim_0"/>
          <p:cNvSpPr>
            <a:spLocks noGrp="1"/>
          </p:cNvSpPr>
          <p:nvPr/>
        </p:nvSpPr>
        <p:spPr>
          <a:xfrm>
            <a:off x="755072" y="1700645"/>
            <a:ext cx="8388927" cy="23622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114300" tIns="91440" rIns="114300" bIns="91440"/>
          <a:lstStyle/>
          <a:p>
            <a:pPr algn="l">
              <a:lnSpc>
                <a:spcPts val="2000"/>
              </a:lnSpc>
            </a:pPr>
            <a:endParaRPr lang="en-US" altLang="ko-KR" sz="2800" b="1" dirty="0">
              <a:solidFill>
                <a:srgbClr val="111111"/>
              </a:solidFill>
              <a:latin typeface="Garet Bold"/>
              <a:ea typeface="Garet Bold"/>
            </a:endParaRPr>
          </a:p>
          <a:p>
            <a:pPr algn="l">
              <a:lnSpc>
                <a:spcPts val="2000"/>
              </a:lnSpc>
            </a:pPr>
            <a:r>
              <a:rPr lang="en-US" altLang="ko-KR" sz="2800" b="1" dirty="0">
                <a:solidFill>
                  <a:srgbClr val="111111"/>
                </a:solidFill>
                <a:latin typeface="Garet Bold"/>
                <a:ea typeface="Garet Bold"/>
              </a:rPr>
              <a:t>01 </a:t>
            </a:r>
            <a:r>
              <a:rPr lang="ko-KR" sz="2800" b="1" dirty="0">
                <a:solidFill>
                  <a:srgbClr val="111111"/>
                </a:solidFill>
                <a:latin typeface="Garet Bold"/>
                <a:ea typeface="Garet Bold"/>
              </a:rPr>
              <a:t>관객 수 · 상영 횟수 </a:t>
            </a:r>
            <a:r>
              <a:rPr lang="ko-KR" sz="2800" b="1" dirty="0" err="1">
                <a:solidFill>
                  <a:srgbClr val="111111"/>
                </a:solidFill>
                <a:latin typeface="Garet Bold"/>
                <a:ea typeface="Garet Bold"/>
              </a:rPr>
              <a:t>미제공</a:t>
            </a:r>
            <a:endParaRPr lang="en-US" altLang="ko-KR" sz="2800" b="1" dirty="0">
              <a:solidFill>
                <a:srgbClr val="111111"/>
              </a:solidFill>
              <a:latin typeface="Garet Bold"/>
              <a:ea typeface="Garet Bold"/>
            </a:endParaRPr>
          </a:p>
          <a:p>
            <a:pPr marL="514350" indent="-514350" algn="l">
              <a:lnSpc>
                <a:spcPts val="2000"/>
              </a:lnSpc>
              <a:buAutoNum type="arabicPlain"/>
            </a:pPr>
            <a:endParaRPr lang="ko-KR" sz="3600" b="1" dirty="0">
              <a:solidFill>
                <a:srgbClr val="111111"/>
              </a:solidFill>
              <a:latin typeface="Garet Bold"/>
              <a:ea typeface="Garet Bold"/>
            </a:endParaRPr>
          </a:p>
          <a:p>
            <a:r>
              <a:rPr lang="ko-KR" altLang="en-US" sz="2000" dirty="0"/>
              <a:t>본 데이터는 미국 흥행 자료를 기준으로 정리되어 있어</a:t>
            </a:r>
            <a:endParaRPr lang="en-US" altLang="ko-KR" sz="2000" dirty="0"/>
          </a:p>
          <a:p>
            <a:r>
              <a:rPr lang="en-US" altLang="ko-KR" sz="2000" dirty="0"/>
              <a:t>KOBIS</a:t>
            </a:r>
            <a:r>
              <a:rPr lang="ko-KR" altLang="en-US" sz="2000" dirty="0"/>
              <a:t>처럼 관객 수와 총 상영 횟수 정보는 포함하지 않음</a:t>
            </a:r>
            <a:r>
              <a:rPr lang="en-US" altLang="ko-KR" sz="2000" dirty="0"/>
              <a:t>.</a:t>
            </a:r>
            <a:endParaRPr lang="en-US" altLang="ko-KR" sz="3200" dirty="0"/>
          </a:p>
          <a:p>
            <a:endParaRPr lang="en-US" altLang="ko-KR" sz="2000" dirty="0"/>
          </a:p>
          <a:p>
            <a:r>
              <a:rPr lang="ko-KR" altLang="en-US" sz="2000" dirty="0"/>
              <a:t>흥행 규모를 설명할 때 수익과 극장 수 중심으로 해석할 필요가 있음</a:t>
            </a:r>
            <a:r>
              <a:rPr lang="en-US" altLang="ko-KR" sz="1600" dirty="0"/>
              <a:t>.</a:t>
            </a:r>
            <a:endParaRPr lang="ko-KR" sz="1600" dirty="0">
              <a:solidFill>
                <a:srgbClr val="555555"/>
              </a:solidFill>
              <a:latin typeface="Garet"/>
              <a:ea typeface="Garet"/>
            </a:endParaRPr>
          </a:p>
        </p:txBody>
      </p:sp>
      <p:sp>
        <p:nvSpPr>
          <p:cNvPr id="21" name="lim_1"/>
          <p:cNvSpPr>
            <a:spLocks noGrp="1"/>
          </p:cNvSpPr>
          <p:nvPr/>
        </p:nvSpPr>
        <p:spPr>
          <a:xfrm>
            <a:off x="9448800" y="1700644"/>
            <a:ext cx="8317344" cy="2362199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114300" tIns="91440" rIns="114300" bIns="91440"/>
          <a:lstStyle/>
          <a:p>
            <a:pPr algn="l">
              <a:lnSpc>
                <a:spcPts val="2000"/>
              </a:lnSpc>
            </a:pPr>
            <a:endParaRPr lang="en-US" altLang="ko-KR" sz="2800" b="1" dirty="0">
              <a:solidFill>
                <a:srgbClr val="111111"/>
              </a:solidFill>
              <a:latin typeface="Garet Bold"/>
              <a:ea typeface="Garet Bold"/>
            </a:endParaRPr>
          </a:p>
          <a:p>
            <a:pPr algn="l">
              <a:lnSpc>
                <a:spcPts val="2000"/>
              </a:lnSpc>
            </a:pPr>
            <a:r>
              <a:rPr lang="en-US" altLang="ko-KR" sz="2800" b="1" dirty="0">
                <a:solidFill>
                  <a:srgbClr val="111111"/>
                </a:solidFill>
                <a:latin typeface="Garet Bold"/>
                <a:ea typeface="Garet Bold"/>
              </a:rPr>
              <a:t>02 </a:t>
            </a:r>
            <a:r>
              <a:rPr lang="ko-KR" sz="2800" b="1" dirty="0">
                <a:solidFill>
                  <a:srgbClr val="111111"/>
                </a:solidFill>
                <a:latin typeface="Garet Bold"/>
                <a:ea typeface="Garet Bold"/>
              </a:rPr>
              <a:t>장르 중복 미반영</a:t>
            </a:r>
            <a:endParaRPr lang="en-US" altLang="ko-KR" sz="2800" b="1" dirty="0">
              <a:solidFill>
                <a:srgbClr val="111111"/>
              </a:solidFill>
              <a:latin typeface="Garet Bold"/>
              <a:ea typeface="Garet Bold"/>
            </a:endParaRPr>
          </a:p>
          <a:p>
            <a:pPr marL="514350" indent="-514350" algn="l">
              <a:lnSpc>
                <a:spcPts val="2000"/>
              </a:lnSpc>
              <a:buAutoNum type="arabicPlain"/>
            </a:pPr>
            <a:endParaRPr lang="ko-KR" sz="3600" b="1" dirty="0">
              <a:solidFill>
                <a:srgbClr val="111111"/>
              </a:solidFill>
              <a:latin typeface="Garet Bold"/>
              <a:ea typeface="Garet Bold"/>
            </a:endParaRPr>
          </a:p>
          <a:p>
            <a:r>
              <a:rPr lang="ko-KR" altLang="en-US" sz="2000" dirty="0"/>
              <a:t>영화는 여러 장르를 동시에 가질 수 있지만</a:t>
            </a:r>
            <a:r>
              <a:rPr lang="en-US" altLang="ko-KR" sz="2000" dirty="0"/>
              <a:t> </a:t>
            </a:r>
            <a:r>
              <a:rPr lang="ko-KR" altLang="en-US" sz="2000" dirty="0"/>
              <a:t>대표장르 1개만 사용함</a:t>
            </a:r>
            <a:r>
              <a:rPr lang="en-US" altLang="ko-KR" sz="2000" dirty="0"/>
              <a:t>.</a:t>
            </a:r>
          </a:p>
          <a:p>
            <a:endParaRPr lang="en-US" altLang="ko-KR" sz="2000" dirty="0"/>
          </a:p>
          <a:p>
            <a:r>
              <a:rPr lang="ko-KR" altLang="en-US" sz="1900" dirty="0"/>
              <a:t>해석을 단순화할</a:t>
            </a:r>
            <a:r>
              <a:rPr lang="en-US" altLang="ko-KR" sz="1900" dirty="0"/>
              <a:t> </a:t>
            </a:r>
            <a:r>
              <a:rPr lang="ko-KR" altLang="en-US" sz="1900" dirty="0"/>
              <a:t>수</a:t>
            </a:r>
            <a:r>
              <a:rPr lang="en-US" altLang="ko-KR" sz="1900" dirty="0"/>
              <a:t> </a:t>
            </a:r>
            <a:r>
              <a:rPr lang="ko-KR" altLang="en-US" sz="1900" dirty="0"/>
              <a:t>있지만</a:t>
            </a:r>
            <a:r>
              <a:rPr lang="en-US" altLang="ko-KR" sz="1900" dirty="0"/>
              <a:t> </a:t>
            </a:r>
            <a:r>
              <a:rPr lang="ko-KR" altLang="en-US" sz="1900" dirty="0"/>
              <a:t>복합장르의 특성은 일부 반영되지 않을 수 있음</a:t>
            </a:r>
            <a:r>
              <a:rPr lang="en-US" altLang="ko-KR" sz="1900" dirty="0"/>
              <a:t>.</a:t>
            </a:r>
            <a:endParaRPr lang="ko-KR" sz="1900" dirty="0">
              <a:solidFill>
                <a:srgbClr val="555555"/>
              </a:solidFill>
              <a:latin typeface="Garet"/>
              <a:ea typeface="Garet"/>
            </a:endParaRPr>
          </a:p>
        </p:txBody>
      </p:sp>
      <p:sp>
        <p:nvSpPr>
          <p:cNvPr id="22" name="lim_2"/>
          <p:cNvSpPr>
            <a:spLocks noGrp="1"/>
          </p:cNvSpPr>
          <p:nvPr/>
        </p:nvSpPr>
        <p:spPr>
          <a:xfrm>
            <a:off x="761999" y="4291445"/>
            <a:ext cx="8381999" cy="2376055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114300" tIns="91440" rIns="114300" bIns="91440"/>
          <a:lstStyle/>
          <a:p>
            <a:pPr algn="l">
              <a:lnSpc>
                <a:spcPts val="2000"/>
              </a:lnSpc>
            </a:pPr>
            <a:endParaRPr lang="en-US" altLang="ko-KR" sz="2800" b="1" dirty="0">
              <a:solidFill>
                <a:srgbClr val="111111"/>
              </a:solidFill>
              <a:latin typeface="Garet Bold"/>
              <a:ea typeface="Garet Bold"/>
            </a:endParaRPr>
          </a:p>
          <a:p>
            <a:pPr algn="l">
              <a:lnSpc>
                <a:spcPts val="2000"/>
              </a:lnSpc>
            </a:pPr>
            <a:r>
              <a:rPr lang="en-US" altLang="ko-KR" sz="2800" b="1" dirty="0">
                <a:solidFill>
                  <a:srgbClr val="111111"/>
                </a:solidFill>
                <a:latin typeface="Garet Bold"/>
                <a:ea typeface="Garet Bold"/>
              </a:rPr>
              <a:t>03 </a:t>
            </a:r>
            <a:r>
              <a:rPr lang="ko-KR" sz="2800" b="1" dirty="0">
                <a:solidFill>
                  <a:srgbClr val="111111"/>
                </a:solidFill>
                <a:latin typeface="Garet Bold"/>
                <a:ea typeface="Garet Bold"/>
              </a:rPr>
              <a:t>상관 ≠ 인과</a:t>
            </a:r>
            <a:endParaRPr lang="en-US" altLang="ko-KR" sz="2800" b="1" dirty="0">
              <a:solidFill>
                <a:srgbClr val="111111"/>
              </a:solidFill>
              <a:latin typeface="Garet Bold"/>
              <a:ea typeface="Garet Bold"/>
            </a:endParaRPr>
          </a:p>
          <a:p>
            <a:pPr marL="514350" indent="-514350" algn="l">
              <a:lnSpc>
                <a:spcPts val="2000"/>
              </a:lnSpc>
              <a:buAutoNum type="arabicPlain"/>
            </a:pPr>
            <a:endParaRPr lang="ko-KR" sz="3600" b="1" dirty="0">
              <a:solidFill>
                <a:srgbClr val="111111"/>
              </a:solidFill>
              <a:latin typeface="Garet Bold"/>
              <a:ea typeface="Garet Bold"/>
            </a:endParaRPr>
          </a:p>
          <a:p>
            <a:r>
              <a:rPr lang="ko-KR" altLang="en-US" sz="2000" dirty="0"/>
              <a:t>이번 분석은 피처와 흥행수익 사이의 관계를 탐색하는 데 초점을 둠</a:t>
            </a:r>
            <a:r>
              <a:rPr lang="en-US" altLang="ko-KR" sz="2000" dirty="0"/>
              <a:t>.</a:t>
            </a:r>
          </a:p>
          <a:p>
            <a:endParaRPr lang="en-US" altLang="ko-KR" sz="2000" dirty="0"/>
          </a:p>
          <a:p>
            <a:r>
              <a:rPr lang="ko-KR" altLang="en-US" sz="2000" dirty="0"/>
              <a:t>상관관계는 확인할 수 있지만</a:t>
            </a:r>
            <a:r>
              <a:rPr lang="en-US" altLang="ko-KR" sz="2000" dirty="0"/>
              <a:t> </a:t>
            </a:r>
            <a:r>
              <a:rPr lang="ko-KR" altLang="en-US" sz="2000" dirty="0"/>
              <a:t>인과관계까지 설명하는 데에는 한계가 있음</a:t>
            </a:r>
            <a:r>
              <a:rPr lang="en-US" altLang="ko-KR" sz="2000" dirty="0"/>
              <a:t>.</a:t>
            </a:r>
            <a:endParaRPr lang="ko-KR" sz="1600" dirty="0">
              <a:solidFill>
                <a:srgbClr val="555555"/>
              </a:solidFill>
              <a:latin typeface="Garet"/>
              <a:ea typeface="Garet"/>
            </a:endParaRPr>
          </a:p>
        </p:txBody>
      </p:sp>
      <p:sp>
        <p:nvSpPr>
          <p:cNvPr id="23" name="lim_3"/>
          <p:cNvSpPr>
            <a:spLocks noGrp="1"/>
          </p:cNvSpPr>
          <p:nvPr/>
        </p:nvSpPr>
        <p:spPr>
          <a:xfrm>
            <a:off x="9448800" y="4305300"/>
            <a:ext cx="8331200" cy="2376054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114300" tIns="91440" rIns="114300" bIns="91440"/>
          <a:lstStyle/>
          <a:p>
            <a:pPr algn="l">
              <a:lnSpc>
                <a:spcPts val="2000"/>
              </a:lnSpc>
            </a:pPr>
            <a:endParaRPr lang="en-US" altLang="ko-KR" sz="2800" b="1" dirty="0">
              <a:solidFill>
                <a:srgbClr val="111111"/>
              </a:solidFill>
              <a:latin typeface="Garet Bold"/>
              <a:ea typeface="Garet Bold"/>
            </a:endParaRPr>
          </a:p>
          <a:p>
            <a:pPr algn="l">
              <a:lnSpc>
                <a:spcPts val="2000"/>
              </a:lnSpc>
            </a:pPr>
            <a:r>
              <a:rPr lang="en-US" altLang="ko-KR" sz="2800" b="1" dirty="0">
                <a:solidFill>
                  <a:srgbClr val="111111"/>
                </a:solidFill>
                <a:latin typeface="Garet Bold"/>
                <a:ea typeface="Garet Bold"/>
              </a:rPr>
              <a:t>04 </a:t>
            </a:r>
            <a:r>
              <a:rPr lang="ko-KR" sz="2800" b="1" dirty="0">
                <a:solidFill>
                  <a:srgbClr val="111111"/>
                </a:solidFill>
                <a:latin typeface="Garet Bold"/>
                <a:ea typeface="Garet Bold"/>
              </a:rPr>
              <a:t>외부 요인 미통제</a:t>
            </a:r>
            <a:endParaRPr lang="en-US" altLang="ko-KR" sz="2800" b="1" dirty="0">
              <a:solidFill>
                <a:srgbClr val="111111"/>
              </a:solidFill>
              <a:latin typeface="Garet Bold"/>
              <a:ea typeface="Garet Bold"/>
            </a:endParaRPr>
          </a:p>
          <a:p>
            <a:pPr marL="514350" indent="-514350" algn="l">
              <a:lnSpc>
                <a:spcPts val="2000"/>
              </a:lnSpc>
              <a:buAutoNum type="arabicPlain"/>
            </a:pPr>
            <a:endParaRPr lang="ko-KR" sz="3600" b="1" dirty="0">
              <a:solidFill>
                <a:srgbClr val="111111"/>
              </a:solidFill>
              <a:latin typeface="Garet Bold"/>
              <a:ea typeface="Garet Bold"/>
            </a:endParaRPr>
          </a:p>
          <a:p>
            <a:r>
              <a:rPr lang="ko-KR" altLang="en-US" sz="2000" spc="-150" dirty="0"/>
              <a:t>제작비</a:t>
            </a:r>
            <a:r>
              <a:rPr lang="en-US" altLang="ko-KR" sz="2000" spc="-150" dirty="0"/>
              <a:t>, </a:t>
            </a:r>
            <a:r>
              <a:rPr lang="ko-KR" altLang="en-US" sz="2000" spc="-150" dirty="0"/>
              <a:t>마케팅 규모</a:t>
            </a:r>
            <a:r>
              <a:rPr lang="en-US" altLang="ko-KR" sz="2000" spc="-150" dirty="0"/>
              <a:t>, </a:t>
            </a:r>
            <a:r>
              <a:rPr lang="ko-KR" altLang="en-US" sz="2000" spc="-150" dirty="0"/>
              <a:t>배우</a:t>
            </a:r>
            <a:r>
              <a:rPr lang="en-US" altLang="ko-KR" sz="2000" spc="-150" dirty="0"/>
              <a:t>/</a:t>
            </a:r>
            <a:r>
              <a:rPr lang="ko-KR" altLang="en-US" sz="2000" spc="-150" dirty="0"/>
              <a:t>감독의 인지도</a:t>
            </a:r>
            <a:r>
              <a:rPr lang="en-US" altLang="ko-KR" sz="2000" spc="-150" dirty="0"/>
              <a:t> </a:t>
            </a:r>
            <a:r>
              <a:rPr lang="ko-KR" altLang="en-US" sz="2000" spc="-150" dirty="0"/>
              <a:t>등은 이번 분석에 포함하지 않음</a:t>
            </a:r>
            <a:r>
              <a:rPr lang="en-US" altLang="ko-KR" sz="2000" spc="-150" dirty="0"/>
              <a:t>.</a:t>
            </a:r>
          </a:p>
          <a:p>
            <a:endParaRPr lang="en-US" altLang="ko-KR" sz="2000" dirty="0"/>
          </a:p>
          <a:p>
            <a:r>
              <a:rPr lang="ko-KR" altLang="en-US" sz="2000" dirty="0"/>
              <a:t>위 변수들은 실제 흥행에 영향을 줄 수 있으므로</a:t>
            </a:r>
            <a:r>
              <a:rPr lang="en-US" altLang="ko-KR" sz="2000" dirty="0"/>
              <a:t> </a:t>
            </a:r>
            <a:r>
              <a:rPr lang="ko-KR" altLang="en-US" sz="2000" dirty="0"/>
              <a:t>후속 분석에서</a:t>
            </a:r>
            <a:endParaRPr lang="en-US" altLang="ko-KR" sz="2000" dirty="0"/>
          </a:p>
          <a:p>
            <a:r>
              <a:rPr lang="ko-KR" altLang="en-US" sz="2000" dirty="0"/>
              <a:t>함께 고려할 필요가 있음</a:t>
            </a:r>
            <a:r>
              <a:rPr lang="en-US" altLang="ko-KR" sz="2000" dirty="0"/>
              <a:t>.</a:t>
            </a:r>
            <a:endParaRPr lang="ko-KR" sz="1600" dirty="0">
              <a:solidFill>
                <a:srgbClr val="555555"/>
              </a:solidFill>
              <a:latin typeface="Garet"/>
              <a:ea typeface="Garet"/>
            </a:endParaRPr>
          </a:p>
        </p:txBody>
      </p:sp>
      <p:sp>
        <p:nvSpPr>
          <p:cNvPr id="24" name="lim_4"/>
          <p:cNvSpPr>
            <a:spLocks noGrp="1"/>
          </p:cNvSpPr>
          <p:nvPr/>
        </p:nvSpPr>
        <p:spPr>
          <a:xfrm>
            <a:off x="762000" y="6896100"/>
            <a:ext cx="17018000" cy="2518062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114300" tIns="91440" rIns="114300" bIns="91440"/>
          <a:lstStyle/>
          <a:p>
            <a:pPr algn="l">
              <a:lnSpc>
                <a:spcPts val="2000"/>
              </a:lnSpc>
            </a:pPr>
            <a:endParaRPr lang="en-US" altLang="ko-KR" sz="2800" b="1" dirty="0">
              <a:solidFill>
                <a:srgbClr val="111111"/>
              </a:solidFill>
              <a:latin typeface="Garet Bold"/>
              <a:ea typeface="Garet Bold"/>
            </a:endParaRPr>
          </a:p>
          <a:p>
            <a:pPr algn="l">
              <a:lnSpc>
                <a:spcPts val="2000"/>
              </a:lnSpc>
            </a:pPr>
            <a:r>
              <a:rPr lang="en-US" altLang="ko-KR" sz="2800" b="1" dirty="0">
                <a:solidFill>
                  <a:srgbClr val="111111"/>
                </a:solidFill>
                <a:latin typeface="Garet Bold"/>
                <a:ea typeface="Garet Bold"/>
              </a:rPr>
              <a:t>05 </a:t>
            </a:r>
            <a:r>
              <a:rPr lang="ko-KR" altLang="en-US" sz="2800" b="1" dirty="0">
                <a:solidFill>
                  <a:srgbClr val="111111"/>
                </a:solidFill>
                <a:latin typeface="Garet Bold"/>
                <a:ea typeface="Garet Bold"/>
              </a:rPr>
              <a:t>연도별 시장 변화 </a:t>
            </a:r>
            <a:r>
              <a:rPr lang="ko-KR" altLang="en-US" sz="2800" b="1" dirty="0" err="1">
                <a:solidFill>
                  <a:srgbClr val="111111"/>
                </a:solidFill>
                <a:latin typeface="Garet Bold"/>
                <a:ea typeface="Garet Bold"/>
              </a:rPr>
              <a:t>미반영</a:t>
            </a:r>
            <a:endParaRPr lang="en-US" altLang="ko-KR" sz="2800" b="1" dirty="0">
              <a:solidFill>
                <a:srgbClr val="111111"/>
              </a:solidFill>
              <a:latin typeface="Garet Bold"/>
              <a:ea typeface="Garet Bold"/>
            </a:endParaRPr>
          </a:p>
          <a:p>
            <a:pPr marL="514350" indent="-514350" algn="l">
              <a:lnSpc>
                <a:spcPts val="2000"/>
              </a:lnSpc>
              <a:buAutoNum type="arabicPlain"/>
            </a:pPr>
            <a:endParaRPr lang="ko-KR" sz="3600" b="1" dirty="0">
              <a:solidFill>
                <a:srgbClr val="111111"/>
              </a:solidFill>
              <a:latin typeface="Garet Bold"/>
              <a:ea typeface="Garet Bold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/>
              <a:t>이번 분석은 </a:t>
            </a:r>
            <a:r>
              <a:rPr lang="en-US" altLang="ko-KR" sz="2000" dirty="0"/>
              <a:t>2016~2025</a:t>
            </a:r>
            <a:r>
              <a:rPr lang="ko-KR" altLang="en-US" sz="2000" dirty="0"/>
              <a:t>년 미국 극장 개봉 영화 데이터를 하나로 통합하여 전체적인 경향을 중심으로 살펴본 결과임</a:t>
            </a:r>
            <a:r>
              <a:rPr lang="en-US" altLang="ko-KR" sz="2000" dirty="0"/>
              <a:t>.</a:t>
            </a:r>
            <a:br>
              <a:rPr lang="ko-KR" altLang="en-US" sz="2000" dirty="0"/>
            </a:br>
            <a:r>
              <a:rPr lang="ko-KR" altLang="en-US" sz="2000" dirty="0"/>
              <a:t>따라서 연도별 시장 환경 변화</a:t>
            </a:r>
            <a:r>
              <a:rPr lang="en-US" altLang="ko-KR" sz="2000" dirty="0"/>
              <a:t>, </a:t>
            </a:r>
            <a:r>
              <a:rPr lang="ko-KR" altLang="en-US" sz="2000" dirty="0"/>
              <a:t>특히 코로나</a:t>
            </a:r>
            <a:r>
              <a:rPr lang="en-US" altLang="ko-KR" sz="2000" dirty="0"/>
              <a:t>19 </a:t>
            </a:r>
            <a:r>
              <a:rPr lang="ko-KR" altLang="en-US" sz="2000" dirty="0"/>
              <a:t>전후의 극장 산업 변화나 개봉 전략 차이는 충분히 반영하지 못함</a:t>
            </a:r>
            <a:r>
              <a:rPr lang="en-US" altLang="ko-KR" sz="2000" dirty="0"/>
              <a:t>.</a:t>
            </a:r>
            <a:br>
              <a:rPr lang="ko-KR" altLang="en-US" sz="2000" dirty="0"/>
            </a:br>
            <a:r>
              <a:rPr lang="ko-KR" altLang="en-US" sz="2000" dirty="0"/>
              <a:t>다음 과제 </a:t>
            </a:r>
            <a:r>
              <a:rPr lang="ko-KR" altLang="en-US" sz="2000" dirty="0" err="1"/>
              <a:t>수행시</a:t>
            </a:r>
            <a:r>
              <a:rPr lang="ko-KR" altLang="en-US" sz="2000" dirty="0"/>
              <a:t> 연도를 구분하거나 코로나 이전</a:t>
            </a:r>
            <a:r>
              <a:rPr lang="en-US" altLang="ko-KR" sz="2000" dirty="0"/>
              <a:t>/</a:t>
            </a:r>
            <a:r>
              <a:rPr lang="ko-KR" altLang="en-US" sz="2000" dirty="0"/>
              <a:t>이후로 나누어 분석하면 흥행수익과 피처의 관계를 더 정교하게 해석할 수 있음</a:t>
            </a:r>
            <a:r>
              <a:rPr lang="en-US" altLang="ko-KR" sz="2000" dirty="0"/>
              <a:t>.</a:t>
            </a:r>
            <a:endParaRPr lang="ko-KR" sz="2000" dirty="0">
              <a:solidFill>
                <a:srgbClr val="555555"/>
              </a:solidFill>
              <a:latin typeface="Garet"/>
              <a:ea typeface="Garet"/>
            </a:endParaRPr>
          </a:p>
        </p:txBody>
      </p:sp>
    </p:spTree>
    <p:extLst>
      <p:ext uri="{BB962C8B-B14F-4D97-AF65-F5344CB8AC3E}">
        <p14:creationId xmlns:p14="http://schemas.microsoft.com/office/powerpoint/2010/main" val="30722004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g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txBody>
          <a:bodyPr wrap="square" lIns="114300" tIns="91440" rIns="114300" bIns="91440"/>
          <a:lstStyle/>
          <a:p>
            <a:endParaRPr/>
          </a:p>
        </p:txBody>
      </p:sp>
      <p:sp>
        <p:nvSpPr>
          <p:cNvPr id="11" name="title_area"/>
          <p:cNvSpPr>
            <a:spLocks noGrp="1"/>
          </p:cNvSpPr>
          <p:nvPr/>
        </p:nvSpPr>
        <p:spPr>
          <a:xfrm>
            <a:off x="1270000" y="1016000"/>
            <a:ext cx="15748000" cy="12700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/>
          <a:lstStyle/>
          <a:p>
            <a:pPr algn="l">
              <a:lnSpc>
                <a:spcPts val="5000"/>
              </a:lnSpc>
            </a:pPr>
            <a:r>
              <a:rPr lang="ko-KR" sz="4200" b="1" dirty="0">
                <a:solidFill>
                  <a:srgbClr val="FFFFFF"/>
                </a:solidFill>
                <a:latin typeface="Garet Bold"/>
                <a:ea typeface="Garet Bold"/>
              </a:rPr>
              <a:t>결론</a:t>
            </a:r>
          </a:p>
        </p:txBody>
      </p:sp>
      <p:sp>
        <p:nvSpPr>
          <p:cNvPr id="12" name="accent_line"/>
          <p:cNvSpPr>
            <a:spLocks noGrp="1"/>
          </p:cNvSpPr>
          <p:nvPr/>
        </p:nvSpPr>
        <p:spPr>
          <a:xfrm>
            <a:off x="1270000" y="2413000"/>
            <a:ext cx="1016000" cy="508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wrap="square" lIns="114300" tIns="91440" rIns="114300" bIns="91440"/>
          <a:lstStyle/>
          <a:p>
            <a:endParaRPr/>
          </a:p>
        </p:txBody>
      </p:sp>
      <p:sp>
        <p:nvSpPr>
          <p:cNvPr id="13" name="main_stmt"/>
          <p:cNvSpPr>
            <a:spLocks noGrp="1"/>
          </p:cNvSpPr>
          <p:nvPr/>
        </p:nvSpPr>
        <p:spPr>
          <a:xfrm>
            <a:off x="1270000" y="2667000"/>
            <a:ext cx="15748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/>
          <a:lstStyle/>
          <a:p>
            <a:pPr algn="l">
              <a:lnSpc>
                <a:spcPts val="2600"/>
              </a:lnSpc>
            </a:pPr>
            <a:r>
              <a:rPr lang="ko-KR" sz="2800" dirty="0">
                <a:solidFill>
                  <a:srgbClr val="DDDDDD"/>
                </a:solidFill>
                <a:latin typeface="Garet"/>
                <a:ea typeface="Garet"/>
              </a:rPr>
              <a:t>2차 분석을 통해 전세계 흥행수익 </a:t>
            </a:r>
            <a:r>
              <a:rPr lang="ko-KR" altLang="en-US" sz="2800" dirty="0">
                <a:solidFill>
                  <a:srgbClr val="DDDDDD"/>
                </a:solidFill>
                <a:latin typeface="Garet"/>
                <a:ea typeface="Garet"/>
              </a:rPr>
              <a:t>분석</a:t>
            </a:r>
            <a:r>
              <a:rPr lang="ko-KR" sz="2800" dirty="0">
                <a:solidFill>
                  <a:srgbClr val="DDDDDD"/>
                </a:solidFill>
                <a:latin typeface="Garet"/>
                <a:ea typeface="Garet"/>
              </a:rPr>
              <a:t>을 위한 4개 피처를 선정하였다.</a:t>
            </a:r>
          </a:p>
        </p:txBody>
      </p:sp>
      <p:sp>
        <p:nvSpPr>
          <p:cNvPr id="20" name="conc_0"/>
          <p:cNvSpPr>
            <a:spLocks noGrp="1"/>
          </p:cNvSpPr>
          <p:nvPr/>
        </p:nvSpPr>
        <p:spPr>
          <a:xfrm>
            <a:off x="1270000" y="4000500"/>
            <a:ext cx="15748000" cy="8636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txBody>
          <a:bodyPr wrap="square" lIns="114300" tIns="91440" rIns="114300" bIns="91440"/>
          <a:lstStyle/>
          <a:p>
            <a:pPr marL="457200" indent="-457200" algn="l">
              <a:lnSpc>
                <a:spcPts val="2000"/>
              </a:lnSpc>
              <a:buAutoNum type="arabicPeriod"/>
            </a:pPr>
            <a:r>
              <a:rPr lang="ko-KR" altLang="en-US" sz="1900" dirty="0">
                <a:solidFill>
                  <a:srgbClr val="E8E8E8"/>
                </a:solidFill>
                <a:latin typeface="Garet"/>
                <a:ea typeface="Garet"/>
              </a:rPr>
              <a:t>선택한 피처</a:t>
            </a:r>
            <a:endParaRPr lang="en-US" altLang="ko-KR" sz="1900" dirty="0">
              <a:solidFill>
                <a:srgbClr val="E8E8E8"/>
              </a:solidFill>
              <a:latin typeface="Garet"/>
              <a:ea typeface="Garet"/>
            </a:endParaRPr>
          </a:p>
          <a:p>
            <a:pPr marL="457200" indent="-457200" algn="l">
              <a:lnSpc>
                <a:spcPts val="2000"/>
              </a:lnSpc>
              <a:buAutoNum type="arabicPeriod"/>
            </a:pPr>
            <a:endParaRPr lang="en-US" altLang="ko-KR" sz="1900" dirty="0">
              <a:solidFill>
                <a:srgbClr val="E8E8E8"/>
              </a:solidFill>
              <a:latin typeface="Garet"/>
              <a:ea typeface="Garet"/>
            </a:endParaRPr>
          </a:p>
          <a:p>
            <a:pPr algn="l">
              <a:lnSpc>
                <a:spcPts val="2000"/>
              </a:lnSpc>
            </a:pPr>
            <a:r>
              <a:rPr lang="ko-KR" altLang="en-US" sz="1900" dirty="0">
                <a:solidFill>
                  <a:srgbClr val="E8E8E8"/>
                </a:solidFill>
                <a:latin typeface="Garet"/>
                <a:ea typeface="Garet"/>
              </a:rPr>
              <a:t>최대 상영 </a:t>
            </a:r>
            <a:r>
              <a:rPr lang="ko-KR" altLang="en-US" sz="1900" dirty="0" err="1">
                <a:solidFill>
                  <a:srgbClr val="E8E8E8"/>
                </a:solidFill>
                <a:latin typeface="Garet"/>
                <a:ea typeface="Garet"/>
              </a:rPr>
              <a:t>극장수</a:t>
            </a:r>
            <a:r>
              <a:rPr lang="en-US" altLang="ko-KR" sz="1900" dirty="0">
                <a:solidFill>
                  <a:srgbClr val="E8E8E8"/>
                </a:solidFill>
                <a:latin typeface="Garet"/>
                <a:ea typeface="Garet"/>
              </a:rPr>
              <a:t>, </a:t>
            </a:r>
            <a:r>
              <a:rPr lang="ko-KR" altLang="en-US" sz="1900" dirty="0">
                <a:solidFill>
                  <a:srgbClr val="E8E8E8"/>
                </a:solidFill>
                <a:latin typeface="Garet"/>
                <a:ea typeface="Garet"/>
              </a:rPr>
              <a:t>오픈 </a:t>
            </a:r>
            <a:r>
              <a:rPr lang="ko-KR" altLang="en-US" sz="1900" dirty="0" err="1">
                <a:solidFill>
                  <a:srgbClr val="E8E8E8"/>
                </a:solidFill>
                <a:latin typeface="Garet"/>
                <a:ea typeface="Garet"/>
              </a:rPr>
              <a:t>극장수</a:t>
            </a:r>
            <a:r>
              <a:rPr lang="en-US" altLang="ko-KR" sz="1900" dirty="0">
                <a:solidFill>
                  <a:srgbClr val="E8E8E8"/>
                </a:solidFill>
                <a:latin typeface="Garet"/>
                <a:ea typeface="Garet"/>
              </a:rPr>
              <a:t>, </a:t>
            </a:r>
            <a:r>
              <a:rPr lang="ko-KR" altLang="en-US" sz="1900" dirty="0">
                <a:solidFill>
                  <a:srgbClr val="E8E8E8"/>
                </a:solidFill>
                <a:latin typeface="Garet"/>
                <a:ea typeface="Garet"/>
              </a:rPr>
              <a:t>대표 장르</a:t>
            </a:r>
            <a:r>
              <a:rPr lang="en-US" altLang="ko-KR" sz="1900" dirty="0">
                <a:solidFill>
                  <a:srgbClr val="E8E8E8"/>
                </a:solidFill>
                <a:latin typeface="Garet"/>
                <a:ea typeface="Garet"/>
              </a:rPr>
              <a:t>, </a:t>
            </a:r>
            <a:r>
              <a:rPr lang="ko-KR" altLang="en-US" sz="1900" dirty="0">
                <a:solidFill>
                  <a:srgbClr val="E8E8E8"/>
                </a:solidFill>
                <a:latin typeface="Garet"/>
                <a:ea typeface="Garet"/>
              </a:rPr>
              <a:t>개봉 시기</a:t>
            </a:r>
            <a:endParaRPr lang="ko-KR" sz="1900" dirty="0">
              <a:solidFill>
                <a:srgbClr val="E8E8E8"/>
              </a:solidFill>
              <a:latin typeface="Garet"/>
              <a:ea typeface="Garet"/>
            </a:endParaRPr>
          </a:p>
        </p:txBody>
      </p:sp>
      <p:sp>
        <p:nvSpPr>
          <p:cNvPr id="21" name="conc_1"/>
          <p:cNvSpPr>
            <a:spLocks noGrp="1"/>
          </p:cNvSpPr>
          <p:nvPr/>
        </p:nvSpPr>
        <p:spPr>
          <a:xfrm>
            <a:off x="1270000" y="5016500"/>
            <a:ext cx="15748000" cy="8636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txBody>
          <a:bodyPr wrap="square" lIns="114300" tIns="91440" rIns="114300" bIns="91440"/>
          <a:lstStyle/>
          <a:p>
            <a:pPr marL="457200" indent="-457200" algn="l">
              <a:lnSpc>
                <a:spcPts val="2000"/>
              </a:lnSpc>
              <a:buAutoNum type="arabicPeriod" startAt="2"/>
            </a:pPr>
            <a:r>
              <a:rPr lang="ko-KR" altLang="en-US" sz="1900" dirty="0">
                <a:solidFill>
                  <a:srgbClr val="E8E8E8"/>
                </a:solidFill>
                <a:latin typeface="Garet"/>
                <a:ea typeface="Garet"/>
              </a:rPr>
              <a:t>분석을 통해 알게 된 점</a:t>
            </a:r>
            <a:endParaRPr lang="en-US" altLang="ko-KR" sz="1900" dirty="0">
              <a:solidFill>
                <a:srgbClr val="E8E8E8"/>
              </a:solidFill>
              <a:latin typeface="Garet"/>
              <a:ea typeface="Garet"/>
            </a:endParaRPr>
          </a:p>
          <a:p>
            <a:pPr marL="457200" indent="-457200" algn="l">
              <a:lnSpc>
                <a:spcPts val="2000"/>
              </a:lnSpc>
              <a:buAutoNum type="arabicPeriod" startAt="2"/>
            </a:pPr>
            <a:endParaRPr lang="en-US" altLang="ko-KR" sz="1900" dirty="0">
              <a:solidFill>
                <a:srgbClr val="E8E8E8"/>
              </a:solidFill>
              <a:latin typeface="Garet"/>
              <a:ea typeface="Garet"/>
            </a:endParaRPr>
          </a:p>
          <a:p>
            <a:pPr algn="l">
              <a:lnSpc>
                <a:spcPts val="2000"/>
              </a:lnSpc>
            </a:pPr>
            <a:r>
              <a:rPr lang="ko-KR" altLang="en-US" sz="1900" dirty="0">
                <a:solidFill>
                  <a:srgbClr val="E8E8E8"/>
                </a:solidFill>
                <a:latin typeface="Garet"/>
                <a:ea typeface="Garet"/>
              </a:rPr>
              <a:t>미국 영화 흥행은 단일 변수보다 여러 변수가 종합적으로 작용함</a:t>
            </a:r>
            <a:r>
              <a:rPr lang="en-US" altLang="ko-KR" sz="1900" dirty="0">
                <a:solidFill>
                  <a:srgbClr val="E8E8E8"/>
                </a:solidFill>
                <a:latin typeface="Garet"/>
                <a:ea typeface="Garet"/>
              </a:rPr>
              <a:t>, </a:t>
            </a:r>
            <a:r>
              <a:rPr lang="ko-KR" altLang="en-US" sz="1900" dirty="0">
                <a:solidFill>
                  <a:srgbClr val="E8E8E8"/>
                </a:solidFill>
                <a:latin typeface="Garet"/>
                <a:ea typeface="Garet"/>
              </a:rPr>
              <a:t>시즌별 특성이 흥행 분포에 크게 작용함</a:t>
            </a:r>
            <a:endParaRPr lang="ko-KR" sz="1900" dirty="0">
              <a:solidFill>
                <a:srgbClr val="E8E8E8"/>
              </a:solidFill>
              <a:latin typeface="Garet"/>
              <a:ea typeface="Garet"/>
            </a:endParaRPr>
          </a:p>
        </p:txBody>
      </p:sp>
      <p:sp>
        <p:nvSpPr>
          <p:cNvPr id="22" name="conc_2"/>
          <p:cNvSpPr>
            <a:spLocks noGrp="1"/>
          </p:cNvSpPr>
          <p:nvPr/>
        </p:nvSpPr>
        <p:spPr>
          <a:xfrm>
            <a:off x="1270000" y="6032500"/>
            <a:ext cx="15748000" cy="8636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txBody>
          <a:bodyPr wrap="square" lIns="114300" tIns="91440" rIns="114300" bIns="91440"/>
          <a:lstStyle/>
          <a:p>
            <a:pPr marL="457200" indent="-457200" algn="l">
              <a:lnSpc>
                <a:spcPts val="2000"/>
              </a:lnSpc>
              <a:buAutoNum type="arabicPeriod" startAt="3"/>
            </a:pPr>
            <a:r>
              <a:rPr lang="ko-KR" altLang="en-US" sz="1900" dirty="0">
                <a:solidFill>
                  <a:srgbClr val="E8E8E8"/>
                </a:solidFill>
                <a:latin typeface="Garet"/>
                <a:ea typeface="Garet"/>
              </a:rPr>
              <a:t>후속 과제</a:t>
            </a:r>
            <a:endParaRPr lang="en-US" altLang="ko-KR" sz="1900" dirty="0">
              <a:solidFill>
                <a:srgbClr val="E8E8E8"/>
              </a:solidFill>
              <a:latin typeface="Garet"/>
              <a:ea typeface="Garet"/>
            </a:endParaRPr>
          </a:p>
          <a:p>
            <a:pPr marL="457200" indent="-457200" algn="l">
              <a:lnSpc>
                <a:spcPts val="2000"/>
              </a:lnSpc>
              <a:buAutoNum type="arabicPeriod" startAt="3"/>
            </a:pPr>
            <a:endParaRPr lang="en-US" altLang="ko-KR" sz="1900" dirty="0">
              <a:solidFill>
                <a:srgbClr val="E8E8E8"/>
              </a:solidFill>
              <a:latin typeface="Garet"/>
              <a:ea typeface="Garet"/>
            </a:endParaRPr>
          </a:p>
          <a:p>
            <a:pPr algn="l">
              <a:lnSpc>
                <a:spcPts val="2000"/>
              </a:lnSpc>
            </a:pPr>
            <a:r>
              <a:rPr lang="ko-KR" altLang="en-US" sz="1900" dirty="0">
                <a:solidFill>
                  <a:srgbClr val="E8E8E8"/>
                </a:solidFill>
                <a:latin typeface="Garet"/>
                <a:ea typeface="Garet"/>
              </a:rPr>
              <a:t>제작비</a:t>
            </a:r>
            <a:r>
              <a:rPr lang="en-US" altLang="ko-KR" sz="1900" dirty="0">
                <a:solidFill>
                  <a:srgbClr val="E8E8E8"/>
                </a:solidFill>
                <a:latin typeface="Garet"/>
                <a:ea typeface="Garet"/>
              </a:rPr>
              <a:t>, </a:t>
            </a:r>
            <a:r>
              <a:rPr lang="ko-KR" altLang="en-US" sz="1900" dirty="0" err="1">
                <a:solidFill>
                  <a:srgbClr val="E8E8E8"/>
                </a:solidFill>
                <a:latin typeface="Garet"/>
                <a:ea typeface="Garet"/>
              </a:rPr>
              <a:t>스타성</a:t>
            </a:r>
            <a:r>
              <a:rPr lang="en-US" altLang="ko-KR" sz="1900" dirty="0">
                <a:solidFill>
                  <a:srgbClr val="E8E8E8"/>
                </a:solidFill>
                <a:latin typeface="Garet"/>
                <a:ea typeface="Garet"/>
              </a:rPr>
              <a:t>, </a:t>
            </a:r>
            <a:r>
              <a:rPr lang="ko-KR" altLang="en-US" sz="1900" dirty="0" err="1">
                <a:solidFill>
                  <a:srgbClr val="E8E8E8"/>
                </a:solidFill>
                <a:latin typeface="Garet"/>
                <a:ea typeface="Garet"/>
              </a:rPr>
              <a:t>경쟁작</a:t>
            </a:r>
            <a:r>
              <a:rPr lang="ko-KR" altLang="en-US" sz="1900" dirty="0">
                <a:solidFill>
                  <a:srgbClr val="E8E8E8"/>
                </a:solidFill>
                <a:latin typeface="Garet"/>
                <a:ea typeface="Garet"/>
              </a:rPr>
              <a:t> 등의 추가 </a:t>
            </a:r>
            <a:r>
              <a:rPr lang="ko-KR" altLang="en-US" sz="1900">
                <a:solidFill>
                  <a:srgbClr val="E8E8E8"/>
                </a:solidFill>
                <a:latin typeface="Garet"/>
                <a:ea typeface="Garet"/>
              </a:rPr>
              <a:t>변수를 수집해 </a:t>
            </a:r>
            <a:r>
              <a:rPr lang="ko-KR" altLang="en-US" sz="1900" dirty="0">
                <a:solidFill>
                  <a:srgbClr val="E8E8E8"/>
                </a:solidFill>
                <a:latin typeface="Garet"/>
                <a:ea typeface="Garet"/>
              </a:rPr>
              <a:t>분석하면 더 정교한 해석이 가능함</a:t>
            </a:r>
            <a:endParaRPr lang="ko-KR" sz="1900" dirty="0">
              <a:solidFill>
                <a:srgbClr val="E8E8E8"/>
              </a:solidFill>
              <a:latin typeface="Garet"/>
              <a:ea typeface="Garet"/>
            </a:endParaRPr>
          </a:p>
        </p:txBody>
      </p:sp>
      <p:sp>
        <p:nvSpPr>
          <p:cNvPr id="30" name="final"/>
          <p:cNvSpPr>
            <a:spLocks noGrp="1"/>
          </p:cNvSpPr>
          <p:nvPr/>
        </p:nvSpPr>
        <p:spPr>
          <a:xfrm>
            <a:off x="1270000" y="7048500"/>
            <a:ext cx="15748000" cy="26289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wrap="square" lIns="114300" tIns="91440" rIns="114300" bIns="91440"/>
          <a:lstStyle/>
          <a:p>
            <a:pPr algn="l">
              <a:lnSpc>
                <a:spcPts val="1900"/>
              </a:lnSpc>
            </a:pPr>
            <a:endParaRPr lang="en-US" altLang="ko-KR" sz="2800" dirty="0">
              <a:solidFill>
                <a:schemeClr val="bg1">
                  <a:lumMod val="85000"/>
                </a:schemeClr>
              </a:solidFill>
              <a:latin typeface="Garet"/>
              <a:ea typeface="Garet"/>
            </a:endParaRPr>
          </a:p>
          <a:p>
            <a:pPr algn="l">
              <a:lnSpc>
                <a:spcPts val="1900"/>
              </a:lnSpc>
            </a:pPr>
            <a:r>
              <a:rPr lang="ko-KR" altLang="en-US" sz="2800" dirty="0">
                <a:solidFill>
                  <a:schemeClr val="bg1">
                    <a:lumMod val="85000"/>
                  </a:schemeClr>
                </a:solidFill>
                <a:latin typeface="Garet"/>
                <a:ea typeface="Garet"/>
              </a:rPr>
              <a:t>핵심 결론</a:t>
            </a:r>
            <a:endParaRPr lang="en-US" altLang="ko-KR" sz="2800" dirty="0">
              <a:solidFill>
                <a:schemeClr val="bg1">
                  <a:lumMod val="85000"/>
                </a:schemeClr>
              </a:solidFill>
              <a:latin typeface="Garet"/>
              <a:ea typeface="Garet"/>
            </a:endParaRPr>
          </a:p>
          <a:p>
            <a:pPr algn="l">
              <a:lnSpc>
                <a:spcPts val="1900"/>
              </a:lnSpc>
            </a:pPr>
            <a:endParaRPr lang="en-US" altLang="ko-KR" dirty="0">
              <a:solidFill>
                <a:schemeClr val="bg1">
                  <a:lumMod val="85000"/>
                </a:schemeClr>
              </a:solidFill>
              <a:latin typeface="Garet"/>
              <a:ea typeface="Garet"/>
            </a:endParaRPr>
          </a:p>
          <a:p>
            <a:pPr>
              <a:lnSpc>
                <a:spcPct val="150000"/>
              </a:lnSpc>
            </a:pPr>
            <a:r>
              <a:rPr lang="ko-KR" altLang="en-US" sz="2400" dirty="0">
                <a:solidFill>
                  <a:schemeClr val="bg1">
                    <a:lumMod val="85000"/>
                  </a:schemeClr>
                </a:solidFill>
              </a:rPr>
              <a:t>미국 극장 개봉 영화의 전세계 흥행수익은 배급 규모와 가장 밀접한 관련을 보였음</a:t>
            </a:r>
            <a:r>
              <a:rPr lang="en-US" altLang="ko-KR" sz="2400" dirty="0">
                <a:solidFill>
                  <a:schemeClr val="bg1">
                    <a:lumMod val="85000"/>
                  </a:schemeClr>
                </a:solidFill>
              </a:rPr>
              <a:t>.</a:t>
            </a:r>
            <a:br>
              <a:rPr lang="ko-KR" altLang="en-US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ko-KR" altLang="en-US" sz="2400" dirty="0">
                <a:solidFill>
                  <a:schemeClr val="bg1">
                    <a:lumMod val="85000"/>
                  </a:schemeClr>
                </a:solidFill>
              </a:rPr>
              <a:t>특히 최대 상영 극장수와 오픈 극장수는 모두 양의 상관을 보였고</a:t>
            </a:r>
            <a:r>
              <a:rPr lang="en-US" altLang="ko-KR" sz="2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ko-KR" altLang="en-US" sz="2400" dirty="0">
                <a:solidFill>
                  <a:schemeClr val="bg1">
                    <a:lumMod val="85000"/>
                  </a:schemeClr>
                </a:solidFill>
              </a:rPr>
              <a:t>최대 상영 극장수가 더 강한 관계를 나타냄</a:t>
            </a:r>
            <a:r>
              <a:rPr lang="en-US" altLang="ko-KR" sz="2400" dirty="0">
                <a:solidFill>
                  <a:schemeClr val="bg1">
                    <a:lumMod val="85000"/>
                  </a:schemeClr>
                </a:solidFill>
              </a:rPr>
              <a:t>.</a:t>
            </a:r>
            <a:br>
              <a:rPr lang="ko-KR" altLang="en-US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ko-KR" altLang="en-US" sz="2400" dirty="0">
                <a:solidFill>
                  <a:schemeClr val="bg1">
                    <a:lumMod val="85000"/>
                  </a:schemeClr>
                </a:solidFill>
              </a:rPr>
              <a:t>또한 장르와 개봉시기 역시 흥행수익 분포 차이를 설명하는 의미 있는 범주형 피처로 확인됨</a:t>
            </a:r>
            <a:r>
              <a:rPr lang="en-US" altLang="ko-KR" sz="2400" dirty="0">
                <a:solidFill>
                  <a:schemeClr val="bg1">
                    <a:lumMod val="85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4242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72A9AFB-14CE-4826-82BB-CFE1D0B20EFB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9c527def-6534-476c-b52b-f62c2d1cfab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394</TotalTime>
  <Words>2129</Words>
  <Application>Microsoft Office PowerPoint</Application>
  <PresentationFormat>사용자 지정</PresentationFormat>
  <Paragraphs>515</Paragraphs>
  <Slides>18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4" baseType="lpstr">
      <vt:lpstr>Garet Bold</vt:lpstr>
      <vt:lpstr>Garet</vt:lpstr>
      <vt:lpstr>Calibri</vt:lpstr>
      <vt:lpstr>Arial</vt:lpstr>
      <vt:lpstr>맑은 고딕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검정 회색 깔끔한 미니멀 디자이너 경력 프로젝트 포트폴리오 프레젠테이션</dc:title>
  <cp:lastModifiedBy>건하 황</cp:lastModifiedBy>
  <cp:revision>23</cp:revision>
  <dcterms:created xsi:type="dcterms:W3CDTF">2006-08-16T00:00:00Z</dcterms:created>
  <dcterms:modified xsi:type="dcterms:W3CDTF">2026-04-18T09:56:52Z</dcterms:modified>
  <dc:identifier>DAHHHh89k6c</dc:identifier>
</cp:coreProperties>
</file>